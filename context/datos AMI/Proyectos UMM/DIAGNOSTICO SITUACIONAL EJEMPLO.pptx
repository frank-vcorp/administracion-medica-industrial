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4"/>
  </p:notesMasterIdLst>
  <p:handoutMasterIdLst>
    <p:handoutMasterId r:id="rId55"/>
  </p:handoutMasterIdLst>
  <p:sldIdLst>
    <p:sldId id="266" r:id="rId5"/>
    <p:sldId id="261" r:id="rId6"/>
    <p:sldId id="259" r:id="rId7"/>
    <p:sldId id="263" r:id="rId8"/>
    <p:sldId id="264" r:id="rId9"/>
    <p:sldId id="265" r:id="rId10"/>
    <p:sldId id="383" r:id="rId11"/>
    <p:sldId id="267" r:id="rId12"/>
    <p:sldId id="268" r:id="rId13"/>
    <p:sldId id="362" r:id="rId14"/>
    <p:sldId id="270" r:id="rId15"/>
    <p:sldId id="271" r:id="rId16"/>
    <p:sldId id="272" r:id="rId17"/>
    <p:sldId id="333" r:id="rId18"/>
    <p:sldId id="274" r:id="rId19"/>
    <p:sldId id="275" r:id="rId20"/>
    <p:sldId id="345" r:id="rId21"/>
    <p:sldId id="363" r:id="rId22"/>
    <p:sldId id="335" r:id="rId23"/>
    <p:sldId id="376" r:id="rId24"/>
    <p:sldId id="377" r:id="rId25"/>
    <p:sldId id="337" r:id="rId26"/>
    <p:sldId id="292" r:id="rId27"/>
    <p:sldId id="338" r:id="rId28"/>
    <p:sldId id="339" r:id="rId29"/>
    <p:sldId id="387" r:id="rId30"/>
    <p:sldId id="340" r:id="rId31"/>
    <p:sldId id="341" r:id="rId32"/>
    <p:sldId id="342" r:id="rId33"/>
    <p:sldId id="343" r:id="rId34"/>
    <p:sldId id="344" r:id="rId35"/>
    <p:sldId id="371" r:id="rId36"/>
    <p:sldId id="347" r:id="rId37"/>
    <p:sldId id="296" r:id="rId38"/>
    <p:sldId id="322" r:id="rId39"/>
    <p:sldId id="353" r:id="rId40"/>
    <p:sldId id="354" r:id="rId41"/>
    <p:sldId id="366" r:id="rId42"/>
    <p:sldId id="365" r:id="rId43"/>
    <p:sldId id="348" r:id="rId44"/>
    <p:sldId id="349" r:id="rId45"/>
    <p:sldId id="346" r:id="rId46"/>
    <p:sldId id="381" r:id="rId47"/>
    <p:sldId id="386" r:id="rId48"/>
    <p:sldId id="385" r:id="rId49"/>
    <p:sldId id="384" r:id="rId50"/>
    <p:sldId id="279" r:id="rId51"/>
    <p:sldId id="288" r:id="rId52"/>
    <p:sldId id="289" r:id="rId53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DA3C"/>
    <a:srgbClr val="D5DAC3"/>
    <a:srgbClr val="BFBF00"/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274" autoAdjust="0"/>
  </p:normalViewPr>
  <p:slideViewPr>
    <p:cSldViewPr snapToGrid="0" showGuides="1">
      <p:cViewPr varScale="1">
        <p:scale>
          <a:sx n="52" d="100"/>
          <a:sy n="52" d="100"/>
        </p:scale>
        <p:origin x="78" y="18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405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EM%20MANUAL\2025\EXAMEN%20MEDICO%20MANUAL%20VALIAN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EM%20MANUAL\2025\EXAMEN%20MEDICO%20MANUAL%20VALIAN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EM%20MANUAL\2025\EXAMEN%20MEDICO%20MANUAL%20VALIAN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EM%20MANUAL\2025\EXAMEN%20MEDICO%20MANUAL%20VALIAN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EM%20MANUAL\2025\EXAMEN%20MEDICO%20MANUAL%20VALIAN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EM%20MANUAL\2025\EXAMEN%20MEDICO%20MANUAL%20VALIAN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EM%20MANUAL\2025\EXAMEN%20MEDICO%20MANUAL%20VALIAN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EM%20MANUAL\2025\EXAMEN%20MEDICO%20MANUAL%20VALIAN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EM%20MANUAL\2025\EXAMEN%20MEDICO%20MANUAL%20VALIAN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EM%20MANUAL\2025\EXAMEN%20MEDICO%20MANUAL%20VALIAN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EM%20MANUAL\2025\EXAMEN%20MEDICO%20MANUAL%20VALIANT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EM%20MANUAL\2025\EXAMEN%20MEDICO%20MANUAL%20VALIANT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OGISTICA\Documents\REPORTES\PROYECTOS\2025\VALIANT\CONCENTRADO%20GENERAL%20VALIANT.xlsx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EDAD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GRAFICAS!$A$4:$A$7</c:f>
              <c:strCache>
                <c:ptCount val="4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</c:strCache>
            </c:strRef>
          </c:cat>
          <c:val>
            <c:numRef>
              <c:f>GRAFICAS!$B$4:$B$7</c:f>
              <c:numCache>
                <c:formatCode>General</c:formatCode>
                <c:ptCount val="4"/>
                <c:pt idx="0">
                  <c:v>5</c:v>
                </c:pt>
                <c:pt idx="1">
                  <c:v>46</c:v>
                </c:pt>
                <c:pt idx="2">
                  <c:v>13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F6-4113-AD50-363A20DADB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7790944"/>
        <c:axId val="2050952800"/>
      </c:barChart>
      <c:catAx>
        <c:axId val="7779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050952800"/>
        <c:crosses val="autoZero"/>
        <c:auto val="1"/>
        <c:lblAlgn val="ctr"/>
        <c:lblOffset val="100"/>
        <c:noMultiLvlLbl val="0"/>
      </c:catAx>
      <c:valAx>
        <c:axId val="2050952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77790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SEXO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33C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662-440A-ABD9-CABA4EF7FE0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662-440A-ABD9-CABA4EF7F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GRAFICAS!$A$13:$A$14</c:f>
              <c:strCache>
                <c:ptCount val="2"/>
                <c:pt idx="0">
                  <c:v>FEMENINO</c:v>
                </c:pt>
                <c:pt idx="1">
                  <c:v>MASCULINO</c:v>
                </c:pt>
              </c:strCache>
            </c:strRef>
          </c:cat>
          <c:val>
            <c:numRef>
              <c:f>GRAFICAS!$B$13:$B$14</c:f>
              <c:numCache>
                <c:formatCode>General</c:formatCode>
                <c:ptCount val="2"/>
                <c:pt idx="0">
                  <c:v>17</c:v>
                </c:pt>
                <c:pt idx="1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662-440A-ABD9-CABA4EF7F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AHD DIABETES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BF0-4065-8A63-E6A30E75F6D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BF0-4065-8A63-E6A30E75F6D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BF0-4065-8A63-E6A30E75F6D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BF0-4065-8A63-E6A30E75F6D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BF0-4065-8A63-E6A30E75F6D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BF0-4065-8A63-E6A30E75F6D0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BF0-4065-8A63-E6A30E75F6D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GRAFICAS!$A$20:$A$26</c:f>
              <c:strCache>
                <c:ptCount val="7"/>
                <c:pt idx="0">
                  <c:v>AB MATERNO</c:v>
                </c:pt>
                <c:pt idx="1">
                  <c:v>AB PATERNO</c:v>
                </c:pt>
                <c:pt idx="2">
                  <c:v>AMBOS</c:v>
                </c:pt>
                <c:pt idx="3">
                  <c:v>HERMANOS</c:v>
                </c:pt>
                <c:pt idx="4">
                  <c:v>MADRE</c:v>
                </c:pt>
                <c:pt idx="5">
                  <c:v>NEGADOS</c:v>
                </c:pt>
                <c:pt idx="6">
                  <c:v>PADRE</c:v>
                </c:pt>
              </c:strCache>
            </c:strRef>
          </c:cat>
          <c:val>
            <c:numRef>
              <c:f>GRAFICAS!$B$20:$B$26</c:f>
              <c:numCache>
                <c:formatCode>General</c:formatCode>
                <c:ptCount val="7"/>
                <c:pt idx="0">
                  <c:v>17</c:v>
                </c:pt>
                <c:pt idx="1">
                  <c:v>7</c:v>
                </c:pt>
                <c:pt idx="2">
                  <c:v>2</c:v>
                </c:pt>
                <c:pt idx="3">
                  <c:v>1</c:v>
                </c:pt>
                <c:pt idx="4">
                  <c:v>8</c:v>
                </c:pt>
                <c:pt idx="5">
                  <c:v>20</c:v>
                </c:pt>
                <c:pt idx="6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BF0-4065-8A63-E6A30E75F6D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AHD HTA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F3A-47A1-B508-6E1D225B8D9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F3A-47A1-B508-6E1D225B8D9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F3A-47A1-B508-6E1D225B8D9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F3A-47A1-B508-6E1D225B8D9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F3A-47A1-B508-6E1D225B8D9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F3A-47A1-B508-6E1D225B8D93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F3A-47A1-B508-6E1D225B8D9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GRAFICAS!$A$31:$A$37</c:f>
              <c:strCache>
                <c:ptCount val="7"/>
                <c:pt idx="0">
                  <c:v>AB MATERNO</c:v>
                </c:pt>
                <c:pt idx="1">
                  <c:v>AB PATERNO</c:v>
                </c:pt>
                <c:pt idx="2">
                  <c:v>AMBOS</c:v>
                </c:pt>
                <c:pt idx="3">
                  <c:v>MADRE</c:v>
                </c:pt>
                <c:pt idx="4">
                  <c:v>NEGADOS</c:v>
                </c:pt>
                <c:pt idx="5">
                  <c:v>PADRE</c:v>
                </c:pt>
                <c:pt idx="6">
                  <c:v>HERMANOS</c:v>
                </c:pt>
              </c:strCache>
            </c:strRef>
          </c:cat>
          <c:val>
            <c:numRef>
              <c:f>GRAFICAS!$B$31:$B$37</c:f>
              <c:numCache>
                <c:formatCode>General</c:formatCode>
                <c:ptCount val="7"/>
                <c:pt idx="0">
                  <c:v>3</c:v>
                </c:pt>
                <c:pt idx="1">
                  <c:v>3</c:v>
                </c:pt>
                <c:pt idx="2">
                  <c:v>1</c:v>
                </c:pt>
                <c:pt idx="3">
                  <c:v>5</c:v>
                </c:pt>
                <c:pt idx="4">
                  <c:v>42</c:v>
                </c:pt>
                <c:pt idx="5">
                  <c:v>11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F3A-47A1-B508-6E1D225B8D9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EJERCICIO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17-421A-846E-69B726D311D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17-421A-846E-69B726D311D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GRAFICAS!$A$43:$A$44</c:f>
              <c:strCache>
                <c:ptCount val="2"/>
                <c:pt idx="0">
                  <c:v>NEGADO</c:v>
                </c:pt>
                <c:pt idx="1">
                  <c:v>SI</c:v>
                </c:pt>
              </c:strCache>
            </c:strRef>
          </c:cat>
          <c:val>
            <c:numRef>
              <c:f>GRAFICAS!$B$43:$B$44</c:f>
              <c:numCache>
                <c:formatCode>General</c:formatCode>
                <c:ptCount val="2"/>
                <c:pt idx="0">
                  <c:v>23</c:v>
                </c:pt>
                <c:pt idx="1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F17-421A-846E-69B726D311D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ALIMENTACIÓN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C3A-4E59-BC8B-F505AA0A4C1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C3A-4E59-BC8B-F505AA0A4C1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C3A-4E59-BC8B-F505AA0A4C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GRAFICAS!$A$51:$A$53</c:f>
              <c:strCache>
                <c:ptCount val="3"/>
                <c:pt idx="0">
                  <c:v>BUENA</c:v>
                </c:pt>
                <c:pt idx="1">
                  <c:v>MALA</c:v>
                </c:pt>
                <c:pt idx="2">
                  <c:v>REGULAR</c:v>
                </c:pt>
              </c:strCache>
            </c:strRef>
          </c:cat>
          <c:val>
            <c:numRef>
              <c:f>GRAFICAS!$B$51:$B$53</c:f>
              <c:numCache>
                <c:formatCode>General</c:formatCode>
                <c:ptCount val="3"/>
                <c:pt idx="0">
                  <c:v>23</c:v>
                </c:pt>
                <c:pt idx="1">
                  <c:v>3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C3A-4E59-BC8B-F505AA0A4C1F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MPF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AF1-4543-BEA0-98634ABCF61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AF1-4543-BEA0-98634ABCF61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AF1-4543-BEA0-98634ABCF61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AF1-4543-BEA0-98634ABCF61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GRAFICAS!$H$3:$H$6</c:f>
              <c:strCache>
                <c:ptCount val="4"/>
                <c:pt idx="0">
                  <c:v>NINGUNO</c:v>
                </c:pt>
                <c:pt idx="1">
                  <c:v>PRESERVATIVO</c:v>
                </c:pt>
                <c:pt idx="2">
                  <c:v>VASECTOMIA</c:v>
                </c:pt>
                <c:pt idx="3">
                  <c:v>HORMONAL</c:v>
                </c:pt>
              </c:strCache>
            </c:strRef>
          </c:cat>
          <c:val>
            <c:numRef>
              <c:f>GRAFICAS!$I$3:$I$6</c:f>
              <c:numCache>
                <c:formatCode>General</c:formatCode>
                <c:ptCount val="4"/>
                <c:pt idx="0">
                  <c:v>60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AF1-4543-BEA0-98634ABCF61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CIRCULACIÓN VENOSA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GRAFICAS!$H$12:$H$14</c:f>
              <c:strCache>
                <c:ptCount val="3"/>
                <c:pt idx="0">
                  <c:v>C0:SIN SIGNOS VISIBLES NI PALPABLES</c:v>
                </c:pt>
                <c:pt idx="1">
                  <c:v>C1:TELANGIECTASIAS O VENAS RETICULARES</c:v>
                </c:pt>
                <c:pt idx="2">
                  <c:v>C2:VARICES</c:v>
                </c:pt>
              </c:strCache>
            </c:strRef>
          </c:cat>
          <c:val>
            <c:numRef>
              <c:f>GRAFICAS!$I$12:$I$14</c:f>
              <c:numCache>
                <c:formatCode>General</c:formatCode>
                <c:ptCount val="3"/>
                <c:pt idx="0">
                  <c:v>62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A8-41FD-B874-A6F3F1C730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7768864"/>
        <c:axId val="224900000"/>
      </c:barChart>
      <c:catAx>
        <c:axId val="77768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24900000"/>
        <c:crosses val="autoZero"/>
        <c:auto val="1"/>
        <c:lblAlgn val="ctr"/>
        <c:lblOffset val="100"/>
        <c:noMultiLvlLbl val="0"/>
      </c:catAx>
      <c:valAx>
        <c:axId val="2249000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77768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COMPLEXION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7C2-4C58-88C3-5170A234B75A}"/>
              </c:ext>
            </c:extLst>
          </c:dPt>
          <c:dPt>
            <c:idx val="1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7C2-4C58-88C3-5170A234B75A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7C2-4C58-88C3-5170A234B75A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7C2-4C58-88C3-5170A234B7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GRAFICAS!$H$21:$H$25</c:f>
              <c:strCache>
                <c:ptCount val="5"/>
                <c:pt idx="0">
                  <c:v>SOBREPESO</c:v>
                </c:pt>
                <c:pt idx="1">
                  <c:v>NORMAL</c:v>
                </c:pt>
                <c:pt idx="2">
                  <c:v>OBESIDAD G1</c:v>
                </c:pt>
                <c:pt idx="3">
                  <c:v>OBESIDAD G2</c:v>
                </c:pt>
                <c:pt idx="4">
                  <c:v>OBESIDAD G4</c:v>
                </c:pt>
              </c:strCache>
            </c:strRef>
          </c:cat>
          <c:val>
            <c:numRef>
              <c:f>GRAFICAS!$I$21:$I$25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17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7C2-4C58-88C3-5170A234B7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38175504"/>
        <c:axId val="224919344"/>
      </c:barChart>
      <c:catAx>
        <c:axId val="238175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24919344"/>
        <c:crosses val="autoZero"/>
        <c:auto val="1"/>
        <c:lblAlgn val="ctr"/>
        <c:lblOffset val="100"/>
        <c:noMultiLvlLbl val="0"/>
      </c:catAx>
      <c:valAx>
        <c:axId val="224919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38175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AGUDEZA</a:t>
            </a:r>
            <a:r>
              <a:rPr lang="es-MX" baseline="0"/>
              <a:t> VISUAL</a:t>
            </a:r>
            <a:endParaRPr lang="es-MX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B3-4022-853A-CC701E2BE01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B3-4022-853A-CC701E2BE01A}"/>
              </c:ext>
            </c:extLst>
          </c:dPt>
          <c:dPt>
            <c:idx val="3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B3-4022-853A-CC701E2BE01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GRAFICAS!$H$33:$H$36</c:f>
              <c:strCache>
                <c:ptCount val="4"/>
                <c:pt idx="0">
                  <c:v>DISMINUIDA CORREGIDA</c:v>
                </c:pt>
                <c:pt idx="1">
                  <c:v>DISMINUIDA NO CORREGIDA</c:v>
                </c:pt>
                <c:pt idx="2">
                  <c:v>NORMAL</c:v>
                </c:pt>
                <c:pt idx="3">
                  <c:v>DISMINUIDA SIN USO DE LENTES</c:v>
                </c:pt>
              </c:strCache>
            </c:strRef>
          </c:cat>
          <c:val>
            <c:numRef>
              <c:f>GRAFICAS!$I$33:$I$36</c:f>
              <c:numCache>
                <c:formatCode>General</c:formatCode>
                <c:ptCount val="4"/>
                <c:pt idx="0">
                  <c:v>19</c:v>
                </c:pt>
                <c:pt idx="1">
                  <c:v>7</c:v>
                </c:pt>
                <c:pt idx="2">
                  <c:v>29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FB3-4022-853A-CC701E2BE01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38148624"/>
        <c:axId val="346230704"/>
      </c:barChart>
      <c:catAx>
        <c:axId val="238148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346230704"/>
        <c:crosses val="autoZero"/>
        <c:auto val="1"/>
        <c:lblAlgn val="ctr"/>
        <c:lblOffset val="100"/>
        <c:noMultiLvlLbl val="0"/>
      </c:catAx>
      <c:valAx>
        <c:axId val="346230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38148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SALUD BUCAL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C69-4212-B77F-B55F2B963527}"/>
              </c:ext>
            </c:extLst>
          </c:dPt>
          <c:dPt>
            <c:idx val="2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C69-4212-B77F-B55F2B963527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C69-4212-B77F-B55F2B96352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GRAFICAS!$H$42:$H$45</c:f>
              <c:strCache>
                <c:ptCount val="4"/>
                <c:pt idx="0">
                  <c:v>CARIES</c:v>
                </c:pt>
                <c:pt idx="1">
                  <c:v>CARIES Y SARRO</c:v>
                </c:pt>
                <c:pt idx="2">
                  <c:v>SARRO</c:v>
                </c:pt>
                <c:pt idx="3">
                  <c:v>SIN DATOS DE CARIES Y SARRO</c:v>
                </c:pt>
              </c:strCache>
            </c:strRef>
          </c:cat>
          <c:val>
            <c:numRef>
              <c:f>GRAFICAS!$I$42:$I$45</c:f>
              <c:numCache>
                <c:formatCode>General</c:formatCode>
                <c:ptCount val="4"/>
                <c:pt idx="0">
                  <c:v>20</c:v>
                </c:pt>
                <c:pt idx="1">
                  <c:v>17</c:v>
                </c:pt>
                <c:pt idx="2">
                  <c:v>8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C69-4212-B77F-B55F2B9635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44744592"/>
        <c:axId val="324835472"/>
      </c:barChart>
      <c:catAx>
        <c:axId val="344744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324835472"/>
        <c:crosses val="autoZero"/>
        <c:auto val="1"/>
        <c:lblAlgn val="ctr"/>
        <c:lblOffset val="100"/>
        <c:noMultiLvlLbl val="0"/>
      </c:catAx>
      <c:valAx>
        <c:axId val="324835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344744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PRESION</a:t>
            </a:r>
            <a:r>
              <a:rPr lang="es-MX" baseline="0"/>
              <a:t> ARTERIAL</a:t>
            </a:r>
            <a:endParaRPr lang="es-MX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3E-4EFF-B75F-9920681D8AE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3E-4EFF-B75F-9920681D8AE5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03E-4EFF-B75F-9920681D8AE5}"/>
              </c:ext>
            </c:extLst>
          </c:dPt>
          <c:dPt>
            <c:idx val="3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03E-4EFF-B75F-9920681D8AE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GRAFICAS!$H$49:$H$52</c:f>
              <c:strCache>
                <c:ptCount val="4"/>
                <c:pt idx="0">
                  <c:v>ALTA AL MOMENTO DE LA TOMA</c:v>
                </c:pt>
                <c:pt idx="1">
                  <c:v>BAJA AL MOMENTO DE LA TOMA</c:v>
                </c:pt>
                <c:pt idx="2">
                  <c:v>NORMAL AL MOMENTO DE LA TOMA</c:v>
                </c:pt>
                <c:pt idx="3">
                  <c:v>NORMAL ALTA AL MOMENTO DE LA TOMA</c:v>
                </c:pt>
              </c:strCache>
            </c:strRef>
          </c:cat>
          <c:val>
            <c:numRef>
              <c:f>GRAFICAS!$I$49:$I$52</c:f>
              <c:numCache>
                <c:formatCode>General</c:formatCode>
                <c:ptCount val="4"/>
                <c:pt idx="0">
                  <c:v>7</c:v>
                </c:pt>
                <c:pt idx="1">
                  <c:v>1</c:v>
                </c:pt>
                <c:pt idx="2">
                  <c:v>51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03E-4EFF-B75F-9920681D8A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44746992"/>
        <c:axId val="346219792"/>
      </c:barChart>
      <c:catAx>
        <c:axId val="344746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346219792"/>
        <c:crosses val="autoZero"/>
        <c:auto val="1"/>
        <c:lblAlgn val="ctr"/>
        <c:lblOffset val="100"/>
        <c:noMultiLvlLbl val="0"/>
      </c:catAx>
      <c:valAx>
        <c:axId val="346219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344746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D1C-4E83-9482-6E319227C68B}"/>
              </c:ext>
            </c:extLst>
          </c:dPt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D1C-4E83-9482-6E319227C68B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D1C-4E83-9482-6E319227C68B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D1C-4E83-9482-6E319227C68B}"/>
              </c:ext>
            </c:extLst>
          </c:dPt>
          <c:dPt>
            <c:idx val="4"/>
            <c:invertIfNegative val="0"/>
            <c:bubble3D val="0"/>
            <c:spPr>
              <a:solidFill>
                <a:srgbClr val="00AFA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D1C-4E83-9482-6E319227C6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GRAFICAS!$A$58:$A$63</c:f>
              <c:strCache>
                <c:ptCount val="5"/>
                <c:pt idx="0">
                  <c:v>Audición normal </c:v>
                </c:pt>
                <c:pt idx="1">
                  <c:v>Fatiga auditiva</c:v>
                </c:pt>
                <c:pt idx="2">
                  <c:v>Hipoacusia Leve por exposición a ruido </c:v>
                </c:pt>
                <c:pt idx="3">
                  <c:v>Hipoacuisa Moderada por exposición a ruido</c:v>
                </c:pt>
                <c:pt idx="4">
                  <c:v>Hipoacusia no relacionda con ruido laboral </c:v>
                </c:pt>
              </c:strCache>
            </c:strRef>
          </c:cat>
          <c:val>
            <c:numRef>
              <c:f>GRAFICAS!$B$58:$B$63</c:f>
              <c:numCache>
                <c:formatCode>General</c:formatCode>
                <c:ptCount val="5"/>
                <c:pt idx="0">
                  <c:v>23</c:v>
                </c:pt>
                <c:pt idx="1">
                  <c:v>24</c:v>
                </c:pt>
                <c:pt idx="2">
                  <c:v>13</c:v>
                </c:pt>
                <c:pt idx="3">
                  <c:v>1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D1C-4E83-9482-6E319227C6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05610511"/>
        <c:axId val="905606191"/>
      </c:barChart>
      <c:catAx>
        <c:axId val="905610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905606191"/>
        <c:crosses val="autoZero"/>
        <c:auto val="1"/>
        <c:lblAlgn val="ctr"/>
        <c:lblOffset val="100"/>
        <c:noMultiLvlLbl val="0"/>
      </c:catAx>
      <c:valAx>
        <c:axId val="905606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905610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%HBC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CDA-4304-91CE-1731F03C4193}"/>
              </c:ext>
            </c:extLst>
          </c:dPt>
          <c:dPt>
            <c:idx val="1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CDA-4304-91CE-1731F03C4193}"/>
              </c:ext>
            </c:extLst>
          </c:dPt>
          <c:dPt>
            <c:idx val="2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CDA-4304-91CE-1731F03C419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GRAFICAS!$M$7:$M$9</c:f>
              <c:strCache>
                <c:ptCount val="3"/>
                <c:pt idx="0">
                  <c:v>Alto 10-19.9%</c:v>
                </c:pt>
                <c:pt idx="1">
                  <c:v>Bajo 0-9.9%</c:v>
                </c:pt>
                <c:pt idx="2">
                  <c:v>Total</c:v>
                </c:pt>
              </c:strCache>
            </c:strRef>
          </c:cat>
          <c:val>
            <c:numRef>
              <c:f>GRAFICAS!$N$7:$N$9</c:f>
              <c:numCache>
                <c:formatCode>General</c:formatCode>
                <c:ptCount val="3"/>
                <c:pt idx="0">
                  <c:v>19</c:v>
                </c:pt>
                <c:pt idx="1">
                  <c:v>47</c:v>
                </c:pt>
                <c:pt idx="2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DA-4304-91CE-1731F03C419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37020160"/>
        <c:axId val="937008928"/>
      </c:barChart>
      <c:catAx>
        <c:axId val="937020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937008928"/>
        <c:crosses val="autoZero"/>
        <c:auto val="1"/>
        <c:lblAlgn val="ctr"/>
        <c:lblOffset val="100"/>
        <c:noMultiLvlLbl val="0"/>
      </c:catAx>
      <c:valAx>
        <c:axId val="937008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937020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TRAUMA ACUSTICO POR AREA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GRAFICAS!$B$3</c:f>
              <c:strCache>
                <c:ptCount val="1"/>
                <c:pt idx="0">
                  <c:v>LEVE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GRAFICAS!$A$4:$A$15</c:f>
              <c:strCache>
                <c:ptCount val="12"/>
                <c:pt idx="0">
                  <c:v>COMPRAS</c:v>
                </c:pt>
                <c:pt idx="1">
                  <c:v>FINANZAS</c:v>
                </c:pt>
                <c:pt idx="2">
                  <c:v>MAQUINADOS</c:v>
                </c:pt>
                <c:pt idx="3">
                  <c:v>CONTROLES</c:v>
                </c:pt>
                <c:pt idx="4">
                  <c:v>CALIDAD</c:v>
                </c:pt>
                <c:pt idx="5">
                  <c:v>ALMANCEN</c:v>
                </c:pt>
                <c:pt idx="6">
                  <c:v>PLANEACION</c:v>
                </c:pt>
                <c:pt idx="7">
                  <c:v>METROLOGIA Y CALIDAD</c:v>
                </c:pt>
                <c:pt idx="8">
                  <c:v>ESEMABRE</c:v>
                </c:pt>
                <c:pt idx="9">
                  <c:v>VENTAS</c:v>
                </c:pt>
                <c:pt idx="10">
                  <c:v>ESTIMACION</c:v>
                </c:pt>
                <c:pt idx="11">
                  <c:v>COMERCIO Y LOGISTICA</c:v>
                </c:pt>
              </c:strCache>
            </c:strRef>
          </c:cat>
          <c:val>
            <c:numRef>
              <c:f>GRAFICAS!$B$4:$B$15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C0-453A-BF77-FD2B73962AD5}"/>
            </c:ext>
          </c:extLst>
        </c:ser>
        <c:ser>
          <c:idx val="1"/>
          <c:order val="1"/>
          <c:tx>
            <c:strRef>
              <c:f>GRAFICAS!$C$3</c:f>
              <c:strCache>
                <c:ptCount val="1"/>
                <c:pt idx="0">
                  <c:v>MODERADO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GRAFICAS!$A$4:$A$15</c:f>
              <c:strCache>
                <c:ptCount val="12"/>
                <c:pt idx="0">
                  <c:v>COMPRAS</c:v>
                </c:pt>
                <c:pt idx="1">
                  <c:v>FINANZAS</c:v>
                </c:pt>
                <c:pt idx="2">
                  <c:v>MAQUINADOS</c:v>
                </c:pt>
                <c:pt idx="3">
                  <c:v>CONTROLES</c:v>
                </c:pt>
                <c:pt idx="4">
                  <c:v>CALIDAD</c:v>
                </c:pt>
                <c:pt idx="5">
                  <c:v>ALMANCEN</c:v>
                </c:pt>
                <c:pt idx="6">
                  <c:v>PLANEACION</c:v>
                </c:pt>
                <c:pt idx="7">
                  <c:v>METROLOGIA Y CALIDAD</c:v>
                </c:pt>
                <c:pt idx="8">
                  <c:v>ESEMABRE</c:v>
                </c:pt>
                <c:pt idx="9">
                  <c:v>VENTAS</c:v>
                </c:pt>
                <c:pt idx="10">
                  <c:v>ESTIMACION</c:v>
                </c:pt>
                <c:pt idx="11">
                  <c:v>COMERCIO Y LOGISTICA</c:v>
                </c:pt>
              </c:strCache>
            </c:strRef>
          </c:cat>
          <c:val>
            <c:numRef>
              <c:f>GRAFICAS!$C$4:$C$15</c:f>
              <c:numCache>
                <c:formatCode>General</c:formatCode>
                <c:ptCount val="12"/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C0-453A-BF77-FD2B73962AD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3475392"/>
        <c:axId val="543481216"/>
      </c:barChart>
      <c:catAx>
        <c:axId val="543475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543481216"/>
        <c:crosses val="autoZero"/>
        <c:auto val="1"/>
        <c:lblAlgn val="ctr"/>
        <c:lblOffset val="100"/>
        <c:noMultiLvlLbl val="0"/>
      </c:catAx>
      <c:valAx>
        <c:axId val="543481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543475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TRAUMA ACUSTICO POR ANTIGÜEDAD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GRAFICAS!$A$19:$A$21</c:f>
              <c:strCache>
                <c:ptCount val="3"/>
                <c:pt idx="0">
                  <c:v>&lt;1 AÑO</c:v>
                </c:pt>
                <c:pt idx="1">
                  <c:v>1-5 AÑOS</c:v>
                </c:pt>
                <c:pt idx="2">
                  <c:v>6 - 10 AÑOS</c:v>
                </c:pt>
              </c:strCache>
            </c:strRef>
          </c:cat>
          <c:val>
            <c:numRef>
              <c:f>GRAFICAS!$B$19:$B$21</c:f>
              <c:numCache>
                <c:formatCode>General</c:formatCode>
                <c:ptCount val="3"/>
                <c:pt idx="0">
                  <c:v>2</c:v>
                </c:pt>
                <c:pt idx="1">
                  <c:v>11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9C-4D60-8104-AB9ACF23659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67882480"/>
        <c:axId val="1267877904"/>
      </c:barChart>
      <c:catAx>
        <c:axId val="1267882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267877904"/>
        <c:crosses val="autoZero"/>
        <c:auto val="1"/>
        <c:lblAlgn val="ctr"/>
        <c:lblOffset val="100"/>
        <c:noMultiLvlLbl val="0"/>
      </c:catAx>
      <c:valAx>
        <c:axId val="1267877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267882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CASOS DE INCAPACIDAD PARCIAL PERMANENTE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8F9-4993-97BC-AF8BA1A834EA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F9-4993-97BC-AF8BA1A834EA}"/>
              </c:ext>
            </c:extLst>
          </c:dPt>
          <c:dPt>
            <c:idx val="2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8F9-4993-97BC-AF8BA1A834E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GRAFICAS!$A$44:$A$46</c:f>
              <c:strCache>
                <c:ptCount val="3"/>
                <c:pt idx="0">
                  <c:v>&lt;10%</c:v>
                </c:pt>
                <c:pt idx="1">
                  <c:v>11-19%</c:v>
                </c:pt>
                <c:pt idx="2">
                  <c:v>&gt;20%</c:v>
                </c:pt>
              </c:strCache>
            </c:strRef>
          </c:cat>
          <c:val>
            <c:numRef>
              <c:f>GRAFICAS!$B$44:$B$46</c:f>
              <c:numCache>
                <c:formatCode>General</c:formatCode>
                <c:ptCount val="3"/>
                <c:pt idx="0">
                  <c:v>5</c:v>
                </c:pt>
                <c:pt idx="1">
                  <c:v>9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F9-4993-97BC-AF8BA1A834E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es-MX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ESPIROMETRIAS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AFC-4DB5-A6FA-BA385187B8B8}"/>
              </c:ext>
            </c:extLst>
          </c:dPt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AFC-4DB5-A6FA-BA385187B8B8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AFC-4DB5-A6FA-BA385187B8B8}"/>
              </c:ext>
            </c:extLst>
          </c:dPt>
          <c:dPt>
            <c:idx val="3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AFC-4DB5-A6FA-BA385187B8B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GRAFICAS!$M$23:$M$26</c:f>
              <c:strCache>
                <c:ptCount val="4"/>
                <c:pt idx="0">
                  <c:v>PATRÓN ESPIROMÉTRICO RESTRICTIVO MODERADO</c:v>
                </c:pt>
                <c:pt idx="1">
                  <c:v>PATRÓN ESPIROMÉTRICO RESTRICTIVO LEVE</c:v>
                </c:pt>
                <c:pt idx="2">
                  <c:v>NORMAL</c:v>
                </c:pt>
                <c:pt idx="3">
                  <c:v>TOTAL</c:v>
                </c:pt>
              </c:strCache>
            </c:strRef>
          </c:cat>
          <c:val>
            <c:numRef>
              <c:f>GRAFICAS!$N$23:$N$26</c:f>
              <c:numCache>
                <c:formatCode>General</c:formatCode>
                <c:ptCount val="4"/>
                <c:pt idx="0">
                  <c:v>1</c:v>
                </c:pt>
                <c:pt idx="1">
                  <c:v>9</c:v>
                </c:pt>
                <c:pt idx="2">
                  <c:v>21</c:v>
                </c:pt>
                <c:pt idx="3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AFC-4DB5-A6FA-BA385187B8B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77985424"/>
        <c:axId val="1077995408"/>
      </c:barChart>
      <c:catAx>
        <c:axId val="1077985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077995408"/>
        <c:crosses val="autoZero"/>
        <c:auto val="1"/>
        <c:lblAlgn val="ctr"/>
        <c:lblOffset val="100"/>
        <c:noMultiLvlLbl val="0"/>
      </c:catAx>
      <c:valAx>
        <c:axId val="107799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077985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TABAQUISMO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77C-49BA-935A-A69B9574DFC8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77C-49BA-935A-A69B9574DFC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GRAFICAS!$A$39:$A$40</c:f>
              <c:strCache>
                <c:ptCount val="2"/>
                <c:pt idx="0">
                  <c:v>NEGADO</c:v>
                </c:pt>
                <c:pt idx="1">
                  <c:v>POSITIVO</c:v>
                </c:pt>
              </c:strCache>
            </c:strRef>
          </c:cat>
          <c:val>
            <c:numRef>
              <c:f>GRAFICAS!$B$39:$B$40</c:f>
              <c:numCache>
                <c:formatCode>General</c:formatCode>
                <c:ptCount val="2"/>
                <c:pt idx="0">
                  <c:v>25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7C-49BA-935A-A69B9574DF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19488256"/>
        <c:axId val="1319484928"/>
      </c:barChart>
      <c:catAx>
        <c:axId val="1319488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19484928"/>
        <c:crosses val="autoZero"/>
        <c:auto val="1"/>
        <c:lblAlgn val="ctr"/>
        <c:lblOffset val="100"/>
        <c:noMultiLvlLbl val="0"/>
      </c:catAx>
      <c:valAx>
        <c:axId val="1319484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19488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78B-4E7B-AAC1-91C57B482B82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78B-4E7B-AAC1-91C57B482B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GRAFICAS!$L$38:$L$39</c:f>
              <c:strCache>
                <c:ptCount val="2"/>
                <c:pt idx="0">
                  <c:v>SIN DATOS PATOLOGICOS APARENTES</c:v>
                </c:pt>
                <c:pt idx="1">
                  <c:v>CASOS DE SEGUIMIENTO</c:v>
                </c:pt>
              </c:strCache>
            </c:strRef>
          </c:cat>
          <c:val>
            <c:numRef>
              <c:f>GRAFICAS!$M$38:$M$39</c:f>
              <c:numCache>
                <c:formatCode>General</c:formatCode>
                <c:ptCount val="2"/>
                <c:pt idx="0">
                  <c:v>6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78B-4E7B-AAC1-91C57B482B8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s-MX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GRADO</a:t>
            </a:r>
            <a:r>
              <a:rPr lang="es-MX" baseline="0"/>
              <a:t> DE ESCOLIOSIS</a:t>
            </a:r>
            <a:endParaRPr lang="es-MX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660-4B6F-8D7A-17C37AF662EE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660-4B6F-8D7A-17C37AF662E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GRAFICAS!$Y$5:$Y$7</c:f>
              <c:strCache>
                <c:ptCount val="3"/>
                <c:pt idx="0">
                  <c:v>ESCOLIOSIS LEVE</c:v>
                </c:pt>
                <c:pt idx="1">
                  <c:v>ESCOLIOSIS MODERADA</c:v>
                </c:pt>
                <c:pt idx="2">
                  <c:v>ESCOLIOSIS GRAVE</c:v>
                </c:pt>
              </c:strCache>
            </c:strRef>
          </c:cat>
          <c:val>
            <c:numRef>
              <c:f>GRAFICAS!$Z$5:$Z$7</c:f>
              <c:numCache>
                <c:formatCode>General</c:formatCode>
                <c:ptCount val="3"/>
                <c:pt idx="0">
                  <c:v>48</c:v>
                </c:pt>
                <c:pt idx="1">
                  <c:v>13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660-4B6F-8D7A-17C37AF662E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57538288"/>
        <c:axId val="1857526288"/>
      </c:barChart>
      <c:catAx>
        <c:axId val="1857538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857526288"/>
        <c:crosses val="autoZero"/>
        <c:auto val="1"/>
        <c:lblAlgn val="ctr"/>
        <c:lblOffset val="100"/>
        <c:noMultiLvlLbl val="0"/>
      </c:catAx>
      <c:valAx>
        <c:axId val="1857526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85753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GRADO</a:t>
            </a:r>
            <a:r>
              <a:rPr lang="es-MX" baseline="0"/>
              <a:t> DE LORDOSIS</a:t>
            </a:r>
            <a:endParaRPr lang="es-MX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E92-488D-8296-18DC9E2F36E9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E92-488D-8296-18DC9E2F36E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GRAFICAS!$Y$23:$Y$25</c:f>
              <c:strCache>
                <c:ptCount val="3"/>
                <c:pt idx="0">
                  <c:v>NORMAL</c:v>
                </c:pt>
                <c:pt idx="1">
                  <c:v>AUMENTADA</c:v>
                </c:pt>
                <c:pt idx="2">
                  <c:v>HIPERLORDOSIS</c:v>
                </c:pt>
              </c:strCache>
            </c:strRef>
          </c:cat>
          <c:val>
            <c:numRef>
              <c:f>GRAFICAS!$Z$23:$Z$25</c:f>
              <c:numCache>
                <c:formatCode>General</c:formatCode>
                <c:ptCount val="3"/>
                <c:pt idx="0">
                  <c:v>24</c:v>
                </c:pt>
                <c:pt idx="1">
                  <c:v>37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E92-488D-8296-18DC9E2F36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57535408"/>
        <c:axId val="1857526768"/>
      </c:barChart>
      <c:catAx>
        <c:axId val="1857535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857526768"/>
        <c:crosses val="autoZero"/>
        <c:auto val="1"/>
        <c:lblAlgn val="ctr"/>
        <c:lblOffset val="100"/>
        <c:noMultiLvlLbl val="0"/>
      </c:catAx>
      <c:valAx>
        <c:axId val="1857526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857535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BASCULACIÓN PELVICA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1FA-481B-A053-3A2DD242DDBC}"/>
              </c:ext>
            </c:extLst>
          </c:dPt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1FA-481B-A053-3A2DD242DDB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GRAFICAS!$Y$33:$Y$34</c:f>
              <c:strCache>
                <c:ptCount val="2"/>
                <c:pt idx="0">
                  <c:v>NORMAL</c:v>
                </c:pt>
                <c:pt idx="1">
                  <c:v>LEVE</c:v>
                </c:pt>
              </c:strCache>
            </c:strRef>
          </c:cat>
          <c:val>
            <c:numRef>
              <c:f>GRAFICAS!$Z$33:$Z$34</c:f>
              <c:numCache>
                <c:formatCode>General</c:formatCode>
                <c:ptCount val="2"/>
                <c:pt idx="0">
                  <c:v>57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FA-481B-A053-3A2DD242DD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37258432"/>
        <c:axId val="537258912"/>
      </c:barChart>
      <c:catAx>
        <c:axId val="537258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537258912"/>
        <c:crosses val="autoZero"/>
        <c:auto val="1"/>
        <c:lblAlgn val="ctr"/>
        <c:lblOffset val="100"/>
        <c:noMultiLvlLbl val="0"/>
      </c:catAx>
      <c:valAx>
        <c:axId val="537258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537258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RADIOGRAFIA TORAX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E54-42DD-8FA2-FDFC830FBB94}"/>
              </c:ext>
            </c:extLst>
          </c:dPt>
          <c:dPt>
            <c:idx val="1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E54-42DD-8FA2-FDFC830FBB94}"/>
              </c:ext>
            </c:extLst>
          </c:dPt>
          <c:dPt>
            <c:idx val="2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E54-42DD-8FA2-FDFC830FBB9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GRAFICAS!$Y$46:$Y$48</c:f>
              <c:strCache>
                <c:ptCount val="3"/>
                <c:pt idx="0">
                  <c:v>Casos p/seguimiento</c:v>
                </c:pt>
                <c:pt idx="1">
                  <c:v>Normal</c:v>
                </c:pt>
                <c:pt idx="2">
                  <c:v>Total</c:v>
                </c:pt>
              </c:strCache>
            </c:strRef>
          </c:cat>
          <c:val>
            <c:numRef>
              <c:f>GRAFICAS!$Z$46:$Z$48</c:f>
              <c:numCache>
                <c:formatCode>General</c:formatCode>
                <c:ptCount val="3"/>
                <c:pt idx="0">
                  <c:v>2</c:v>
                </c:pt>
                <c:pt idx="1">
                  <c:v>18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E54-42DD-8FA2-FDFC830FBB9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527408"/>
        <c:axId val="55670864"/>
      </c:barChart>
      <c:catAx>
        <c:axId val="62527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55670864"/>
        <c:crosses val="autoZero"/>
        <c:auto val="1"/>
        <c:lblAlgn val="ctr"/>
        <c:lblOffset val="100"/>
        <c:noMultiLvlLbl val="0"/>
      </c:catAx>
      <c:valAx>
        <c:axId val="55670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62527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GLUCOSA</a:t>
            </a:r>
            <a:r>
              <a:rPr lang="es-MX" baseline="0"/>
              <a:t> - QS</a:t>
            </a:r>
            <a:endParaRPr lang="es-MX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3A6-46DA-A2E4-BE38D7F33972}"/>
              </c:ext>
            </c:extLst>
          </c:dPt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3A6-46DA-A2E4-BE38D7F33972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3A6-46DA-A2E4-BE38D7F339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GRAFICAS!$AU$5:$AU$7</c:f>
              <c:strCache>
                <c:ptCount val="3"/>
                <c:pt idx="0">
                  <c:v>Normal</c:v>
                </c:pt>
                <c:pt idx="1">
                  <c:v>Alterada</c:v>
                </c:pt>
                <c:pt idx="2">
                  <c:v>PB diabetes</c:v>
                </c:pt>
              </c:strCache>
            </c:strRef>
          </c:cat>
          <c:val>
            <c:numRef>
              <c:f>GRAFICAS!$AV$5:$AV$7</c:f>
              <c:numCache>
                <c:formatCode>General</c:formatCode>
                <c:ptCount val="3"/>
                <c:pt idx="0">
                  <c:v>64</c:v>
                </c:pt>
                <c:pt idx="1">
                  <c:v>0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3A6-46DA-A2E4-BE38D7F339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02295663"/>
        <c:axId val="2102277423"/>
      </c:barChart>
      <c:catAx>
        <c:axId val="21022956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77423"/>
        <c:crosses val="autoZero"/>
        <c:auto val="1"/>
        <c:lblAlgn val="ctr"/>
        <c:lblOffset val="100"/>
        <c:noMultiLvlLbl val="0"/>
      </c:catAx>
      <c:valAx>
        <c:axId val="210227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956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 baseline="0"/>
              <a:t>COLESTEROL - QS</a:t>
            </a:r>
            <a:endParaRPr lang="es-MX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>
        <c:manualLayout>
          <c:layoutTarget val="inner"/>
          <c:xMode val="edge"/>
          <c:yMode val="edge"/>
          <c:x val="0.12111801926530373"/>
          <c:y val="0.10507649761006328"/>
          <c:w val="0.83690668116032507"/>
          <c:h val="0.8221486620887119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69B-4152-BA0F-A2529A282031}"/>
              </c:ext>
            </c:extLst>
          </c:dPt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69B-4152-BA0F-A2529A282031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69B-4152-BA0F-A2529A28203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GRAFICAS!$AU$20:$AU$22</c:f>
              <c:strCache>
                <c:ptCount val="3"/>
                <c:pt idx="0">
                  <c:v>Normal</c:v>
                </c:pt>
                <c:pt idx="1">
                  <c:v>Moderado</c:v>
                </c:pt>
                <c:pt idx="2">
                  <c:v>Alto</c:v>
                </c:pt>
              </c:strCache>
            </c:strRef>
          </c:cat>
          <c:val>
            <c:numRef>
              <c:f>GRAFICAS!$AV$20:$AV$22</c:f>
              <c:numCache>
                <c:formatCode>General</c:formatCode>
                <c:ptCount val="3"/>
                <c:pt idx="0">
                  <c:v>51</c:v>
                </c:pt>
                <c:pt idx="1">
                  <c:v>13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69B-4152-BA0F-A2529A2820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02295663"/>
        <c:axId val="2102277423"/>
      </c:barChart>
      <c:catAx>
        <c:axId val="21022956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77423"/>
        <c:crosses val="autoZero"/>
        <c:auto val="1"/>
        <c:lblAlgn val="ctr"/>
        <c:lblOffset val="100"/>
        <c:noMultiLvlLbl val="0"/>
      </c:catAx>
      <c:valAx>
        <c:axId val="210227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956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 baseline="0"/>
              <a:t>TRIGLICERIDOS - QS</a:t>
            </a:r>
            <a:endParaRPr lang="es-MX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BB0-4EF8-AACF-9D28265E28FE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BB0-4EF8-AACF-9D28265E28FE}"/>
              </c:ext>
            </c:extLst>
          </c:dPt>
          <c:dPt>
            <c:idx val="3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BB0-4EF8-AACF-9D28265E28F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GRAFICAS!$AU$35:$AU$38</c:f>
              <c:strCache>
                <c:ptCount val="4"/>
                <c:pt idx="0">
                  <c:v>Normal</c:v>
                </c:pt>
                <c:pt idx="1">
                  <c:v>Limite Alto</c:v>
                </c:pt>
                <c:pt idx="2">
                  <c:v>Alto</c:v>
                </c:pt>
                <c:pt idx="3">
                  <c:v>Muy alto</c:v>
                </c:pt>
              </c:strCache>
            </c:strRef>
          </c:cat>
          <c:val>
            <c:numRef>
              <c:f>GRAFICAS!$AV$35:$AV$38</c:f>
              <c:numCache>
                <c:formatCode>General</c:formatCode>
                <c:ptCount val="4"/>
                <c:pt idx="0">
                  <c:v>44</c:v>
                </c:pt>
                <c:pt idx="1">
                  <c:v>6</c:v>
                </c:pt>
                <c:pt idx="2">
                  <c:v>15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B0-4EF8-AACF-9D28265E28F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02295663"/>
        <c:axId val="2102277423"/>
      </c:barChart>
      <c:catAx>
        <c:axId val="21022956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77423"/>
        <c:crosses val="autoZero"/>
        <c:auto val="1"/>
        <c:lblAlgn val="ctr"/>
        <c:lblOffset val="100"/>
        <c:noMultiLvlLbl val="0"/>
      </c:catAx>
      <c:valAx>
        <c:axId val="210227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956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 baseline="0"/>
              <a:t>ACIDO URICO - QS</a:t>
            </a:r>
            <a:endParaRPr lang="es-MX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6D3-4679-BF68-5CF9134C34C2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6D3-4679-BF68-5CF9134C34C2}"/>
              </c:ext>
            </c:extLst>
          </c:dPt>
          <c:dPt>
            <c:idx val="2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6D3-4679-BF68-5CF9134C34C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GRAFICAS!$AU$48:$AU$50</c:f>
              <c:strCache>
                <c:ptCount val="3"/>
                <c:pt idx="0">
                  <c:v>NORMAL</c:v>
                </c:pt>
                <c:pt idx="1">
                  <c:v>ALTO</c:v>
                </c:pt>
                <c:pt idx="2">
                  <c:v>BAJO</c:v>
                </c:pt>
              </c:strCache>
            </c:strRef>
          </c:cat>
          <c:val>
            <c:numRef>
              <c:f>GRAFICAS!$AV$48:$AV$50</c:f>
              <c:numCache>
                <c:formatCode>General</c:formatCode>
                <c:ptCount val="3"/>
                <c:pt idx="0">
                  <c:v>59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6D3-4679-BF68-5CF9134C34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02295663"/>
        <c:axId val="2102277423"/>
      </c:barChart>
      <c:catAx>
        <c:axId val="21022956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77423"/>
        <c:crosses val="autoZero"/>
        <c:auto val="1"/>
        <c:lblAlgn val="ctr"/>
        <c:lblOffset val="100"/>
        <c:noMultiLvlLbl val="0"/>
      </c:catAx>
      <c:valAx>
        <c:axId val="210227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956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HEMOGLOBINA - BH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6DA-4438-B5A4-4C5CA4BC9D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GRAFICAS!$AK$45</c:f>
              <c:strCache>
                <c:ptCount val="1"/>
                <c:pt idx="0">
                  <c:v>Normal</c:v>
                </c:pt>
              </c:strCache>
            </c:strRef>
          </c:cat>
          <c:val>
            <c:numRef>
              <c:f>GRAFICAS!$AL$45</c:f>
              <c:numCache>
                <c:formatCode>General</c:formatCode>
                <c:ptCount val="1"/>
                <c:pt idx="0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DA-4438-B5A4-4C5CA4BC9D4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02284623"/>
        <c:axId val="2102296623"/>
      </c:barChart>
      <c:catAx>
        <c:axId val="2102284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96623"/>
        <c:crosses val="autoZero"/>
        <c:auto val="1"/>
        <c:lblAlgn val="ctr"/>
        <c:lblOffset val="100"/>
        <c:noMultiLvlLbl val="0"/>
      </c:catAx>
      <c:valAx>
        <c:axId val="210229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84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LEUCOCITOS - BH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288-493A-83FE-53EF49BBABAF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88-493A-83FE-53EF49BBABA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GRAFICAS!$AK$51:$AK$52</c:f>
              <c:strCache>
                <c:ptCount val="2"/>
                <c:pt idx="0">
                  <c:v>NORMAL</c:v>
                </c:pt>
                <c:pt idx="1">
                  <c:v>ALTO</c:v>
                </c:pt>
              </c:strCache>
            </c:strRef>
          </c:cat>
          <c:val>
            <c:numRef>
              <c:f>GRAFICAS!$AL$51:$AL$52</c:f>
              <c:numCache>
                <c:formatCode>General</c:formatCode>
                <c:ptCount val="2"/>
                <c:pt idx="0">
                  <c:v>63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288-493A-83FE-53EF49BBAB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02284623"/>
        <c:axId val="2102296623"/>
      </c:barChart>
      <c:catAx>
        <c:axId val="2102284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96623"/>
        <c:crosses val="autoZero"/>
        <c:auto val="1"/>
        <c:lblAlgn val="ctr"/>
        <c:lblOffset val="100"/>
        <c:noMultiLvlLbl val="0"/>
      </c:catAx>
      <c:valAx>
        <c:axId val="210229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84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PLAQUETAS - BH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3CA-4171-A2C1-4EB8C8AF8E3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GRAFICAS!$AK$58:$AK$59</c:f>
              <c:strCache>
                <c:ptCount val="2"/>
                <c:pt idx="0">
                  <c:v>BAJO</c:v>
                </c:pt>
                <c:pt idx="1">
                  <c:v>NORMAL</c:v>
                </c:pt>
              </c:strCache>
            </c:strRef>
          </c:cat>
          <c:val>
            <c:numRef>
              <c:f>GRAFICAS!$AL$58:$AL$59</c:f>
              <c:numCache>
                <c:formatCode>General</c:formatCode>
                <c:ptCount val="2"/>
                <c:pt idx="0">
                  <c:v>1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CA-4171-A2C1-4EB8C8AF8E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02284623"/>
        <c:axId val="2102296623"/>
      </c:barChart>
      <c:catAx>
        <c:axId val="2102284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96623"/>
        <c:crosses val="autoZero"/>
        <c:auto val="1"/>
        <c:lblAlgn val="ctr"/>
        <c:lblOffset val="100"/>
        <c:noMultiLvlLbl val="0"/>
      </c:catAx>
      <c:valAx>
        <c:axId val="210229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84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GLUCOSA -EGO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B83-4C79-AFBC-8193CBB69EA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GRAFICAS!$AK$4</c:f>
              <c:strCache>
                <c:ptCount val="1"/>
                <c:pt idx="0">
                  <c:v>Normal</c:v>
                </c:pt>
              </c:strCache>
            </c:strRef>
          </c:cat>
          <c:val>
            <c:numRef>
              <c:f>GRAFICAS!$AL$4</c:f>
              <c:numCache>
                <c:formatCode>General</c:formatCode>
                <c:ptCount val="1"/>
                <c:pt idx="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83-4C79-AFBC-8193CBB69E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02284623"/>
        <c:axId val="2102296623"/>
      </c:barChart>
      <c:catAx>
        <c:axId val="2102284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96623"/>
        <c:crosses val="autoZero"/>
        <c:auto val="1"/>
        <c:lblAlgn val="ctr"/>
        <c:lblOffset val="100"/>
        <c:noMultiLvlLbl val="0"/>
      </c:catAx>
      <c:valAx>
        <c:axId val="210229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84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PROTEINA -EGO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310-4B1F-91BD-075671B1C07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GRAFICAS!$AK$15</c:f>
              <c:strCache>
                <c:ptCount val="1"/>
                <c:pt idx="0">
                  <c:v>Normal</c:v>
                </c:pt>
              </c:strCache>
            </c:strRef>
          </c:cat>
          <c:val>
            <c:numRef>
              <c:f>GRAFICAS!$AL$15</c:f>
              <c:numCache>
                <c:formatCode>General</c:formatCode>
                <c:ptCount val="1"/>
                <c:pt idx="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310-4B1F-91BD-075671B1C0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02284623"/>
        <c:axId val="2102296623"/>
      </c:barChart>
      <c:catAx>
        <c:axId val="2102284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96623"/>
        <c:crosses val="autoZero"/>
        <c:auto val="1"/>
        <c:lblAlgn val="ctr"/>
        <c:lblOffset val="100"/>
        <c:noMultiLvlLbl val="0"/>
      </c:catAx>
      <c:valAx>
        <c:axId val="210229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84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SANGRE -EGO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6A8-4A28-B56E-BCD05BA7514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GRAFICAS!$AK$22</c:f>
              <c:strCache>
                <c:ptCount val="1"/>
                <c:pt idx="0">
                  <c:v>Normal</c:v>
                </c:pt>
              </c:strCache>
            </c:strRef>
          </c:cat>
          <c:val>
            <c:numRef>
              <c:f>GRAFICAS!$AL$22</c:f>
              <c:numCache>
                <c:formatCode>General</c:formatCode>
                <c:ptCount val="1"/>
                <c:pt idx="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6A8-4A28-B56E-BCD05BA751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02284623"/>
        <c:axId val="2102296623"/>
      </c:barChart>
      <c:catAx>
        <c:axId val="2102284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96623"/>
        <c:crosses val="autoZero"/>
        <c:auto val="1"/>
        <c:lblAlgn val="ctr"/>
        <c:lblOffset val="100"/>
        <c:noMultiLvlLbl val="0"/>
      </c:catAx>
      <c:valAx>
        <c:axId val="210229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84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CRISTALES -EGO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8C3-4627-BB85-16CD272E3A76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8C3-4627-BB85-16CD272E3A76}"/>
              </c:ext>
            </c:extLst>
          </c:dPt>
          <c:dPt>
            <c:idx val="2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8C3-4627-BB85-16CD272E3A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GRAFICAS!$AK$29:$AK$31</c:f>
              <c:strCache>
                <c:ptCount val="3"/>
                <c:pt idx="0">
                  <c:v>AUSENTES</c:v>
                </c:pt>
                <c:pt idx="1">
                  <c:v>PRESENTES</c:v>
                </c:pt>
                <c:pt idx="2">
                  <c:v>Total</c:v>
                </c:pt>
              </c:strCache>
            </c:strRef>
          </c:cat>
          <c:val>
            <c:numRef>
              <c:f>GRAFICAS!$AL$29:$AL$31</c:f>
              <c:numCache>
                <c:formatCode>General</c:formatCode>
                <c:ptCount val="3"/>
                <c:pt idx="0">
                  <c:v>26</c:v>
                </c:pt>
                <c:pt idx="1">
                  <c:v>7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8C3-4627-BB85-16CD272E3A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02284623"/>
        <c:axId val="2102296623"/>
      </c:barChart>
      <c:catAx>
        <c:axId val="2102284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96623"/>
        <c:crosses val="autoZero"/>
        <c:auto val="1"/>
        <c:lblAlgn val="ctr"/>
        <c:lblOffset val="100"/>
        <c:noMultiLvlLbl val="0"/>
      </c:catAx>
      <c:valAx>
        <c:axId val="210229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84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BACTERIAS -EGO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0A3-42C0-BF93-BBE9933EA6AF}"/>
              </c:ext>
            </c:extLst>
          </c:dPt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0A3-42C0-BF93-BBE9933EA6A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GRAFICAS!$AK$36:$AK$37</c:f>
              <c:strCache>
                <c:ptCount val="2"/>
                <c:pt idx="0">
                  <c:v>ESCASAS</c:v>
                </c:pt>
                <c:pt idx="1">
                  <c:v>MODERADAS</c:v>
                </c:pt>
              </c:strCache>
            </c:strRef>
          </c:cat>
          <c:val>
            <c:numRef>
              <c:f>GRAFICAS!$AL$36:$AL$37</c:f>
              <c:numCache>
                <c:formatCode>General</c:formatCode>
                <c:ptCount val="2"/>
                <c:pt idx="0">
                  <c:v>31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A3-42C0-BF93-BBE9933EA6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102284623"/>
        <c:axId val="2102296623"/>
      </c:barChart>
      <c:catAx>
        <c:axId val="21022846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96623"/>
        <c:crosses val="autoZero"/>
        <c:auto val="1"/>
        <c:lblAlgn val="ctr"/>
        <c:lblOffset val="100"/>
        <c:noMultiLvlLbl val="0"/>
      </c:catAx>
      <c:valAx>
        <c:axId val="210229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02284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HEMOGLOBINA</a:t>
            </a:r>
            <a:r>
              <a:rPr lang="es-MX" baseline="0"/>
              <a:t> GLICOSILADA</a:t>
            </a:r>
            <a:endParaRPr lang="es-MX"/>
          </a:p>
        </c:rich>
      </c:tx>
      <c:layout>
        <c:manualLayout>
          <c:xMode val="edge"/>
          <c:yMode val="edge"/>
          <c:x val="0.2957296102587309"/>
          <c:y val="3.16774586197607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33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DBA-43C6-9892-C4CF50C3912B}"/>
              </c:ext>
            </c:extLst>
          </c:dPt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DBA-43C6-9892-C4CF50C3912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GRAFICAS!$AU$66:$AU$68</c:f>
              <c:strCache>
                <c:ptCount val="3"/>
                <c:pt idx="0">
                  <c:v>NO DIABETICO</c:v>
                </c:pt>
                <c:pt idx="1">
                  <c:v>DIABETICO EN CONTROL</c:v>
                </c:pt>
                <c:pt idx="2">
                  <c:v>RIESGO</c:v>
                </c:pt>
              </c:strCache>
            </c:strRef>
          </c:cat>
          <c:val>
            <c:numRef>
              <c:f>GRAFICAS!$AV$66:$AV$68</c:f>
              <c:numCache>
                <c:formatCode>General</c:formatCode>
                <c:ptCount val="3"/>
                <c:pt idx="0">
                  <c:v>60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BA-43C6-9892-C4CF50C3912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40596512"/>
        <c:axId val="1240599392"/>
      </c:barChart>
      <c:catAx>
        <c:axId val="1240596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240599392"/>
        <c:crosses val="autoZero"/>
        <c:auto val="1"/>
        <c:lblAlgn val="ctr"/>
        <c:lblOffset val="100"/>
        <c:noMultiLvlLbl val="0"/>
      </c:catAx>
      <c:valAx>
        <c:axId val="1240599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240596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5A9E02AD-574F-46B1-91CF-758ECD9272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CDBB3E-0962-4543-8203-0E0084580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3DB1ADC-AEA4-4DDF-829A-398AF555E617}" type="datetime1">
              <a:rPr lang="es-MX" smtClean="0"/>
              <a:t>29/12/2025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61A4A7-FC01-4444-9707-74E93BD634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28D65D7-8813-49CE-A8BE-42984C5CBD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022FEE5-93F6-4794-9247-D82E88608B7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484001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366E69-33E0-472E-ABA2-C6D0B048FF3F}" type="datetime1">
              <a:rPr lang="es-MX" smtClean="0"/>
              <a:pPr/>
              <a:t>29/12/2025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 dirty="0"/>
              <a:t>Editar estilos de texto del patrón</a:t>
            </a:r>
          </a:p>
          <a:p>
            <a:pPr lvl="1" rtl="0"/>
            <a:r>
              <a:rPr lang="es-MX" noProof="0" dirty="0"/>
              <a:t>Segundo nivel</a:t>
            </a:r>
          </a:p>
          <a:p>
            <a:pPr lvl="2" rtl="0"/>
            <a:r>
              <a:rPr lang="es-MX" noProof="0" dirty="0"/>
              <a:t>Tercer nivel</a:t>
            </a:r>
          </a:p>
          <a:p>
            <a:pPr lvl="3" rtl="0"/>
            <a:r>
              <a:rPr lang="es-MX" noProof="0" dirty="0"/>
              <a:t>Cuarto nivel</a:t>
            </a:r>
          </a:p>
          <a:p>
            <a:pPr lvl="4" rtl="0"/>
            <a:r>
              <a:rPr lang="es-MX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3D78A92-0141-4330-8F3E-FAADFAC23844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3D78A92-0141-4330-8F3E-FAADFAC23844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05939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9801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588" y="1436921"/>
            <a:ext cx="5690680" cy="1517356"/>
          </a:xfrm>
        </p:spPr>
        <p:txBody>
          <a:bodyPr rtlCol="0">
            <a:noAutofit/>
          </a:bodyPr>
          <a:lstStyle>
            <a:lvl1pPr>
              <a:defRPr sz="6000"/>
            </a:lvl1pPr>
          </a:lstStyle>
          <a:p>
            <a:pPr rtl="0"/>
            <a:r>
              <a:rPr lang="es-MX" noProof="0" dirty="0"/>
              <a:t>TÍTULO DE LA</a:t>
            </a:r>
            <a:br>
              <a:rPr lang="es-MX" noProof="0" dirty="0"/>
            </a:br>
            <a:r>
              <a:rPr lang="es-MX" noProof="0" dirty="0"/>
              <a:t>TÍTULO    </a:t>
            </a:r>
          </a:p>
        </p:txBody>
      </p:sp>
      <p:sp>
        <p:nvSpPr>
          <p:cNvPr id="23" name="Marcador de texto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259" y="5096662"/>
            <a:ext cx="4367531" cy="949829"/>
          </a:xfrm>
        </p:spPr>
        <p:txBody>
          <a:bodyPr rtlCol="0">
            <a:noAutofit/>
          </a:bodyPr>
          <a:lstStyle>
            <a:lvl1pPr marL="0" indent="0" algn="l">
              <a:buNone/>
              <a:defRPr sz="2800" b="0" i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es-MX" noProof="0" dirty="0"/>
              <a:t>Mes</a:t>
            </a:r>
            <a:br>
              <a:rPr lang="es-MX" noProof="0" dirty="0"/>
            </a:br>
            <a:r>
              <a:rPr lang="es-MX" noProof="0" dirty="0"/>
              <a:t>20XX</a:t>
            </a:r>
          </a:p>
        </p:txBody>
      </p:sp>
      <p:sp>
        <p:nvSpPr>
          <p:cNvPr id="28" name="Forma libre: Forma 27">
            <a:extLst>
              <a:ext uri="{FF2B5EF4-FFF2-40B4-BE49-F238E27FC236}">
                <a16:creationId xmlns:a16="http://schemas.microsoft.com/office/drawing/2014/main" id="{87A7AFAC-3F6D-48D1-A100-148792529BC6}"/>
              </a:ext>
            </a:extLst>
          </p:cNvPr>
          <p:cNvSpPr/>
          <p:nvPr/>
        </p:nvSpPr>
        <p:spPr>
          <a:xfrm>
            <a:off x="8069104" y="5422164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81A4F88F-4E35-4BB3-AD24-CAC580C12F96}"/>
              </a:ext>
            </a:extLst>
          </p:cNvPr>
          <p:cNvSpPr/>
          <p:nvPr/>
        </p:nvSpPr>
        <p:spPr>
          <a:xfrm>
            <a:off x="9029960" y="3463631"/>
            <a:ext cx="3175313" cy="2946690"/>
          </a:xfrm>
          <a:custGeom>
            <a:avLst/>
            <a:gdLst>
              <a:gd name="connsiteX0" fmla="*/ 3162808 w 3175312"/>
              <a:gd name="connsiteY0" fmla="*/ 12701 h 2946690"/>
              <a:gd name="connsiteX1" fmla="*/ 487925 w 3175312"/>
              <a:gd name="connsiteY1" fmla="*/ 1331091 h 2946690"/>
              <a:gd name="connsiteX2" fmla="*/ 113238 w 3175312"/>
              <a:gd name="connsiteY2" fmla="*/ 2433559 h 2946690"/>
              <a:gd name="connsiteX3" fmla="*/ 127209 w 3175312"/>
              <a:gd name="connsiteY3" fmla="*/ 2461502 h 2946690"/>
              <a:gd name="connsiteX4" fmla="*/ 1229677 w 3175312"/>
              <a:gd name="connsiteY4" fmla="*/ 2836189 h 2946690"/>
              <a:gd name="connsiteX5" fmla="*/ 3162808 w 3175312"/>
              <a:gd name="connsiteY5" fmla="*/ 1882325 h 2946690"/>
              <a:gd name="connsiteX6" fmla="*/ 3162808 w 3175312"/>
              <a:gd name="connsiteY6" fmla="*/ 12701 h 294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5312" h="2946690">
                <a:moveTo>
                  <a:pt x="3162808" y="12701"/>
                </a:moveTo>
                <a:lnTo>
                  <a:pt x="487925" y="1331091"/>
                </a:lnTo>
                <a:cubicBezTo>
                  <a:pt x="487925" y="1331091"/>
                  <a:pt x="-250018" y="1695617"/>
                  <a:pt x="113238" y="2433559"/>
                </a:cubicBezTo>
                <a:lnTo>
                  <a:pt x="127209" y="2461502"/>
                </a:lnTo>
                <a:cubicBezTo>
                  <a:pt x="127209" y="2461502"/>
                  <a:pt x="491735" y="3199445"/>
                  <a:pt x="1229677" y="2836189"/>
                </a:cubicBezTo>
                <a:lnTo>
                  <a:pt x="3162808" y="1882325"/>
                </a:lnTo>
                <a:lnTo>
                  <a:pt x="3162808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592CE00E-F2AB-4099-8BB8-F109C4F2EFDB}"/>
              </a:ext>
            </a:extLst>
          </p:cNvPr>
          <p:cNvSpPr/>
          <p:nvPr/>
        </p:nvSpPr>
        <p:spPr>
          <a:xfrm>
            <a:off x="11043829" y="4566099"/>
            <a:ext cx="1155814" cy="863685"/>
          </a:xfrm>
          <a:custGeom>
            <a:avLst/>
            <a:gdLst>
              <a:gd name="connsiteX0" fmla="*/ 1148938 w 1155813"/>
              <a:gd name="connsiteY0" fmla="*/ 12701 h 863685"/>
              <a:gd name="connsiteX1" fmla="*/ 173482 w 1155813"/>
              <a:gd name="connsiteY1" fmla="*/ 494079 h 863685"/>
              <a:gd name="connsiteX2" fmla="*/ 28688 w 1155813"/>
              <a:gd name="connsiteY2" fmla="*/ 759535 h 863685"/>
              <a:gd name="connsiteX3" fmla="*/ 31228 w 1155813"/>
              <a:gd name="connsiteY3" fmla="*/ 765885 h 863685"/>
              <a:gd name="connsiteX4" fmla="*/ 329707 w 1155813"/>
              <a:gd name="connsiteY4" fmla="*/ 812880 h 863685"/>
              <a:gd name="connsiteX5" fmla="*/ 1147668 w 1155813"/>
              <a:gd name="connsiteY5" fmla="*/ 408980 h 863685"/>
              <a:gd name="connsiteX6" fmla="*/ 1147668 w 1155813"/>
              <a:gd name="connsiteY6" fmla="*/ 12701 h 86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813" h="863685">
                <a:moveTo>
                  <a:pt x="1148938" y="12701"/>
                </a:moveTo>
                <a:lnTo>
                  <a:pt x="173482" y="494079"/>
                </a:lnTo>
                <a:cubicBezTo>
                  <a:pt x="173482" y="494079"/>
                  <a:pt x="-47520" y="603309"/>
                  <a:pt x="28688" y="759535"/>
                </a:cubicBezTo>
                <a:lnTo>
                  <a:pt x="31228" y="765885"/>
                </a:lnTo>
                <a:cubicBezTo>
                  <a:pt x="31228" y="765885"/>
                  <a:pt x="108705" y="922111"/>
                  <a:pt x="329707" y="812880"/>
                </a:cubicBezTo>
                <a:lnTo>
                  <a:pt x="1147668" y="408980"/>
                </a:lnTo>
                <a:lnTo>
                  <a:pt x="1147668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32" name="Forma libre: Forma 31">
            <a:extLst>
              <a:ext uri="{FF2B5EF4-FFF2-40B4-BE49-F238E27FC236}">
                <a16:creationId xmlns:a16="http://schemas.microsoft.com/office/drawing/2014/main" id="{B0920EEC-7CE3-4708-93D2-53699D17E5E3}"/>
              </a:ext>
            </a:extLst>
          </p:cNvPr>
          <p:cNvSpPr/>
          <p:nvPr/>
        </p:nvSpPr>
        <p:spPr>
          <a:xfrm>
            <a:off x="10743661" y="-1689"/>
            <a:ext cx="1447943" cy="1003399"/>
          </a:xfrm>
          <a:custGeom>
            <a:avLst/>
            <a:gdLst>
              <a:gd name="connsiteX0" fmla="*/ 1446147 w 1447942"/>
              <a:gd name="connsiteY0" fmla="*/ 12701 h 1003398"/>
              <a:gd name="connsiteX1" fmla="*/ 173482 w 1447942"/>
              <a:gd name="connsiteY1" fmla="*/ 640143 h 1003398"/>
              <a:gd name="connsiteX2" fmla="*/ 28688 w 1447942"/>
              <a:gd name="connsiteY2" fmla="*/ 905599 h 1003398"/>
              <a:gd name="connsiteX3" fmla="*/ 31227 w 1447942"/>
              <a:gd name="connsiteY3" fmla="*/ 911950 h 1003398"/>
              <a:gd name="connsiteX4" fmla="*/ 329707 w 1447942"/>
              <a:gd name="connsiteY4" fmla="*/ 958944 h 1003398"/>
              <a:gd name="connsiteX5" fmla="*/ 1446147 w 1447942"/>
              <a:gd name="connsiteY5" fmla="*/ 408980 h 1003398"/>
              <a:gd name="connsiteX6" fmla="*/ 1446147 w 1447942"/>
              <a:gd name="connsiteY6" fmla="*/ 12701 h 100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7942" h="1003398">
                <a:moveTo>
                  <a:pt x="1446147" y="12701"/>
                </a:moveTo>
                <a:lnTo>
                  <a:pt x="173482" y="640143"/>
                </a:lnTo>
                <a:cubicBezTo>
                  <a:pt x="173482" y="640143"/>
                  <a:pt x="-47520" y="749374"/>
                  <a:pt x="28688" y="905599"/>
                </a:cubicBezTo>
                <a:lnTo>
                  <a:pt x="31227" y="911950"/>
                </a:lnTo>
                <a:cubicBezTo>
                  <a:pt x="31227" y="911950"/>
                  <a:pt x="108705" y="1068175"/>
                  <a:pt x="329707" y="958944"/>
                </a:cubicBezTo>
                <a:lnTo>
                  <a:pt x="1446147" y="408980"/>
                </a:lnTo>
                <a:lnTo>
                  <a:pt x="1446147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33" name="Forma libre: Forma 32">
            <a:extLst>
              <a:ext uri="{FF2B5EF4-FFF2-40B4-BE49-F238E27FC236}">
                <a16:creationId xmlns:a16="http://schemas.microsoft.com/office/drawing/2014/main" id="{2DF8B751-9294-46D5-B390-5D322195540F}"/>
              </a:ext>
            </a:extLst>
          </p:cNvPr>
          <p:cNvSpPr/>
          <p:nvPr/>
        </p:nvSpPr>
        <p:spPr>
          <a:xfrm>
            <a:off x="6536780" y="-12701"/>
            <a:ext cx="4978890" cy="2133810"/>
          </a:xfrm>
          <a:custGeom>
            <a:avLst/>
            <a:gdLst>
              <a:gd name="connsiteX0" fmla="*/ 2515401 w 4978890"/>
              <a:gd name="connsiteY0" fmla="*/ 12701 h 2133810"/>
              <a:gd name="connsiteX1" fmla="*/ 371430 w 4978890"/>
              <a:gd name="connsiteY1" fmla="*/ 1069445 h 2133810"/>
              <a:gd name="connsiteX2" fmla="*/ 72951 w 4978890"/>
              <a:gd name="connsiteY2" fmla="*/ 1811198 h 2133810"/>
              <a:gd name="connsiteX3" fmla="*/ 81841 w 4978890"/>
              <a:gd name="connsiteY3" fmla="*/ 1828980 h 2133810"/>
              <a:gd name="connsiteX4" fmla="*/ 851538 w 4978890"/>
              <a:gd name="connsiteY4" fmla="*/ 2043631 h 2133810"/>
              <a:gd name="connsiteX5" fmla="*/ 4968013 w 4978890"/>
              <a:gd name="connsiteY5" fmla="*/ 12701 h 2133810"/>
              <a:gd name="connsiteX6" fmla="*/ 2515401 w 4978890"/>
              <a:gd name="connsiteY6" fmla="*/ 12701 h 213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890" h="2133810">
                <a:moveTo>
                  <a:pt x="2515401" y="12701"/>
                </a:moveTo>
                <a:lnTo>
                  <a:pt x="371430" y="1069445"/>
                </a:lnTo>
                <a:cubicBezTo>
                  <a:pt x="371430" y="1069445"/>
                  <a:pt x="-163293" y="1333631"/>
                  <a:pt x="72951" y="1811198"/>
                </a:cubicBezTo>
                <a:lnTo>
                  <a:pt x="81841" y="1828980"/>
                </a:lnTo>
                <a:cubicBezTo>
                  <a:pt x="81841" y="1828980"/>
                  <a:pt x="316814" y="2306547"/>
                  <a:pt x="851538" y="2043631"/>
                </a:cubicBezTo>
                <a:lnTo>
                  <a:pt x="4968013" y="12701"/>
                </a:lnTo>
                <a:lnTo>
                  <a:pt x="251540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E0F651C6-BE74-4133-ABA8-316072D4F5B5}"/>
              </a:ext>
            </a:extLst>
          </p:cNvPr>
          <p:cNvSpPr/>
          <p:nvPr/>
        </p:nvSpPr>
        <p:spPr>
          <a:xfrm>
            <a:off x="6518963" y="-12701"/>
            <a:ext cx="5029695" cy="2146511"/>
          </a:xfrm>
          <a:custGeom>
            <a:avLst/>
            <a:gdLst>
              <a:gd name="connsiteX0" fmla="*/ 4942646 w 5029695"/>
              <a:gd name="connsiteY0" fmla="*/ 12701 h 2146511"/>
              <a:gd name="connsiteX1" fmla="*/ 860464 w 5029695"/>
              <a:gd name="connsiteY1" fmla="*/ 2025849 h 2146511"/>
              <a:gd name="connsiteX2" fmla="*/ 295258 w 5029695"/>
              <a:gd name="connsiteY2" fmla="*/ 2019499 h 2146511"/>
              <a:gd name="connsiteX3" fmla="*/ 116171 w 5029695"/>
              <a:gd name="connsiteY3" fmla="*/ 1820089 h 2146511"/>
              <a:gd name="connsiteX4" fmla="*/ 107280 w 5029695"/>
              <a:gd name="connsiteY4" fmla="*/ 1802307 h 2146511"/>
              <a:gd name="connsiteX5" fmla="*/ 165705 w 5029695"/>
              <a:gd name="connsiteY5" fmla="*/ 1273935 h 2146511"/>
              <a:gd name="connsiteX6" fmla="*/ 398138 w 5029695"/>
              <a:gd name="connsiteY6" fmla="*/ 1085957 h 2146511"/>
              <a:gd name="connsiteX7" fmla="*/ 2576402 w 5029695"/>
              <a:gd name="connsiteY7" fmla="*/ 12701 h 2146511"/>
              <a:gd name="connsiteX8" fmla="*/ 2490034 w 5029695"/>
              <a:gd name="connsiteY8" fmla="*/ 12701 h 2146511"/>
              <a:gd name="connsiteX9" fmla="*/ 381626 w 5029695"/>
              <a:gd name="connsiteY9" fmla="*/ 1052934 h 2146511"/>
              <a:gd name="connsiteX10" fmla="*/ 137762 w 5029695"/>
              <a:gd name="connsiteY10" fmla="*/ 1249803 h 2146511"/>
              <a:gd name="connsiteX11" fmla="*/ 74256 w 5029695"/>
              <a:gd name="connsiteY11" fmla="*/ 1820089 h 2146511"/>
              <a:gd name="connsiteX12" fmla="*/ 83147 w 5029695"/>
              <a:gd name="connsiteY12" fmla="*/ 1837871 h 2146511"/>
              <a:gd name="connsiteX13" fmla="*/ 273666 w 5029695"/>
              <a:gd name="connsiteY13" fmla="*/ 2051252 h 2146511"/>
              <a:gd name="connsiteX14" fmla="*/ 564525 w 5029695"/>
              <a:gd name="connsiteY14" fmla="*/ 2141431 h 2146511"/>
              <a:gd name="connsiteX15" fmla="*/ 878246 w 5029695"/>
              <a:gd name="connsiteY15" fmla="*/ 2060143 h 2146511"/>
              <a:gd name="connsiteX16" fmla="*/ 5029014 w 5029695"/>
              <a:gd name="connsiteY16" fmla="*/ 12701 h 2146511"/>
              <a:gd name="connsiteX17" fmla="*/ 4942646 w 5029695"/>
              <a:gd name="connsiteY17" fmla="*/ 12701 h 214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29695" h="2146511">
                <a:moveTo>
                  <a:pt x="4942646" y="12701"/>
                </a:moveTo>
                <a:lnTo>
                  <a:pt x="860464" y="2025849"/>
                </a:lnTo>
                <a:cubicBezTo>
                  <a:pt x="645812" y="2131270"/>
                  <a:pt x="456564" y="2130000"/>
                  <a:pt x="295258" y="2019499"/>
                </a:cubicBezTo>
                <a:cubicBezTo>
                  <a:pt x="174596" y="1936941"/>
                  <a:pt x="116171" y="1821359"/>
                  <a:pt x="116171" y="1820089"/>
                </a:cubicBezTo>
                <a:lnTo>
                  <a:pt x="107280" y="1802307"/>
                </a:lnTo>
                <a:cubicBezTo>
                  <a:pt x="13290" y="1611789"/>
                  <a:pt x="32342" y="1433971"/>
                  <a:pt x="165705" y="1273935"/>
                </a:cubicBezTo>
                <a:cubicBezTo>
                  <a:pt x="266045" y="1153274"/>
                  <a:pt x="395598" y="1087227"/>
                  <a:pt x="398138" y="1085957"/>
                </a:cubicBezTo>
                <a:lnTo>
                  <a:pt x="2576402" y="12701"/>
                </a:lnTo>
                <a:lnTo>
                  <a:pt x="2490034" y="12701"/>
                </a:lnTo>
                <a:lnTo>
                  <a:pt x="381626" y="1052934"/>
                </a:lnTo>
                <a:cubicBezTo>
                  <a:pt x="376546" y="1055474"/>
                  <a:pt x="243183" y="1121520"/>
                  <a:pt x="137762" y="1249803"/>
                </a:cubicBezTo>
                <a:cubicBezTo>
                  <a:pt x="38693" y="1369195"/>
                  <a:pt x="-51486" y="1564794"/>
                  <a:pt x="74256" y="1820089"/>
                </a:cubicBezTo>
                <a:lnTo>
                  <a:pt x="83147" y="1837871"/>
                </a:lnTo>
                <a:cubicBezTo>
                  <a:pt x="85687" y="1842952"/>
                  <a:pt x="145383" y="1962343"/>
                  <a:pt x="273666" y="2051252"/>
                </a:cubicBezTo>
                <a:cubicBezTo>
                  <a:pt x="342253" y="2098247"/>
                  <a:pt x="440053" y="2141431"/>
                  <a:pt x="564525" y="2141431"/>
                </a:cubicBezTo>
                <a:cubicBezTo>
                  <a:pt x="654703" y="2141431"/>
                  <a:pt x="758854" y="2119839"/>
                  <a:pt x="878246" y="2060143"/>
                </a:cubicBezTo>
                <a:lnTo>
                  <a:pt x="5029014" y="12701"/>
                </a:lnTo>
                <a:lnTo>
                  <a:pt x="4942646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36" name="Marcador de texto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86259" y="3425363"/>
            <a:ext cx="3629300" cy="949829"/>
          </a:xfrm>
        </p:spPr>
        <p:txBody>
          <a:bodyPr rtlCol="0">
            <a:normAutofit/>
          </a:bodyPr>
          <a:lstStyle>
            <a:lvl1pPr marL="0" indent="0">
              <a:buNone/>
              <a:defRPr sz="2800" b="1" i="0"/>
            </a:lvl1pPr>
          </a:lstStyle>
          <a:p>
            <a:pPr lvl="0" rtl="0"/>
            <a:r>
              <a:rPr lang="es-MX" noProof="0" dirty="0"/>
              <a:t>Consigna de la</a:t>
            </a:r>
            <a:br>
              <a:rPr lang="es-MX" noProof="0" dirty="0"/>
            </a:br>
            <a:r>
              <a:rPr lang="es-MX" noProof="0" dirty="0"/>
              <a:t>Consigna</a:t>
            </a:r>
          </a:p>
        </p:txBody>
      </p:sp>
      <p:sp>
        <p:nvSpPr>
          <p:cNvPr id="40" name="Gráfico 37">
            <a:extLst>
              <a:ext uri="{FF2B5EF4-FFF2-40B4-BE49-F238E27FC236}">
                <a16:creationId xmlns:a16="http://schemas.microsoft.com/office/drawing/2014/main" id="{9F75ED2D-7077-4753-B623-4B9A718EB224}"/>
              </a:ext>
            </a:extLst>
          </p:cNvPr>
          <p:cNvSpPr/>
          <p:nvPr userDrawn="1"/>
        </p:nvSpPr>
        <p:spPr>
          <a:xfrm>
            <a:off x="895717" y="3124629"/>
            <a:ext cx="2412000" cy="151200"/>
          </a:xfrm>
          <a:custGeom>
            <a:avLst/>
            <a:gdLst>
              <a:gd name="connsiteX0" fmla="*/ 2087180 w 2158295"/>
              <a:gd name="connsiteY0" fmla="*/ 153601 h 165045"/>
              <a:gd name="connsiteX1" fmla="*/ 82504 w 2158295"/>
              <a:gd name="connsiteY1" fmla="*/ 153601 h 165045"/>
              <a:gd name="connsiteX2" fmla="*/ 12677 w 2158295"/>
              <a:gd name="connsiteY2" fmla="*/ 83774 h 165045"/>
              <a:gd name="connsiteX3" fmla="*/ 12677 w 2158295"/>
              <a:gd name="connsiteY3" fmla="*/ 83774 h 165045"/>
              <a:gd name="connsiteX4" fmla="*/ 82504 w 2158295"/>
              <a:gd name="connsiteY4" fmla="*/ 12677 h 165045"/>
              <a:gd name="connsiteX5" fmla="*/ 2087180 w 2158295"/>
              <a:gd name="connsiteY5" fmla="*/ 12677 h 165045"/>
              <a:gd name="connsiteX6" fmla="*/ 2157008 w 2158295"/>
              <a:gd name="connsiteY6" fmla="*/ 82504 h 165045"/>
              <a:gd name="connsiteX7" fmla="*/ 2157008 w 2158295"/>
              <a:gd name="connsiteY7" fmla="*/ 82504 h 165045"/>
              <a:gd name="connsiteX8" fmla="*/ 2087180 w 2158295"/>
              <a:gd name="connsiteY8" fmla="*/ 153601 h 16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295" h="165045">
                <a:moveTo>
                  <a:pt x="2087180" y="153601"/>
                </a:moveTo>
                <a:lnTo>
                  <a:pt x="82504" y="153601"/>
                </a:lnTo>
                <a:cubicBezTo>
                  <a:pt x="44417" y="153601"/>
                  <a:pt x="12677" y="121861"/>
                  <a:pt x="12677" y="83774"/>
                </a:cubicBezTo>
                <a:lnTo>
                  <a:pt x="12677" y="83774"/>
                </a:lnTo>
                <a:cubicBezTo>
                  <a:pt x="12677" y="44417"/>
                  <a:pt x="44417" y="12677"/>
                  <a:pt x="82504" y="12677"/>
                </a:cubicBezTo>
                <a:lnTo>
                  <a:pt x="2087180" y="12677"/>
                </a:lnTo>
                <a:cubicBezTo>
                  <a:pt x="2125268" y="12677"/>
                  <a:pt x="2157008" y="44417"/>
                  <a:pt x="2157008" y="82504"/>
                </a:cubicBezTo>
                <a:lnTo>
                  <a:pt x="2157008" y="82504"/>
                </a:lnTo>
                <a:cubicBezTo>
                  <a:pt x="2157008" y="121861"/>
                  <a:pt x="2126538" y="153601"/>
                  <a:pt x="2087180" y="15360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2" name="Gráfico 36">
            <a:extLst>
              <a:ext uri="{FF2B5EF4-FFF2-40B4-BE49-F238E27FC236}">
                <a16:creationId xmlns:a16="http://schemas.microsoft.com/office/drawing/2014/main" id="{21FF5BCF-BC53-4C3F-8B7F-7077B35ADCA8}"/>
              </a:ext>
            </a:extLst>
          </p:cNvPr>
          <p:cNvSpPr/>
          <p:nvPr userDrawn="1"/>
        </p:nvSpPr>
        <p:spPr>
          <a:xfrm>
            <a:off x="-7816" y="5057878"/>
            <a:ext cx="715108" cy="949829"/>
          </a:xfrm>
          <a:custGeom>
            <a:avLst/>
            <a:gdLst>
              <a:gd name="connsiteX0" fmla="*/ 217522 w 723600"/>
              <a:gd name="connsiteY0" fmla="*/ 9082 h 1015200"/>
              <a:gd name="connsiteX1" fmla="*/ 9082 w 723600"/>
              <a:gd name="connsiteY1" fmla="*/ 9082 h 1015200"/>
              <a:gd name="connsiteX2" fmla="*/ 9082 w 723600"/>
              <a:gd name="connsiteY2" fmla="*/ 1010242 h 1015200"/>
              <a:gd name="connsiteX3" fmla="*/ 217522 w 723600"/>
              <a:gd name="connsiteY3" fmla="*/ 1010242 h 1015200"/>
              <a:gd name="connsiteX4" fmla="*/ 716482 w 723600"/>
              <a:gd name="connsiteY4" fmla="*/ 518842 h 1015200"/>
              <a:gd name="connsiteX5" fmla="*/ 716482 w 723600"/>
              <a:gd name="connsiteY5" fmla="*/ 500482 h 1015200"/>
              <a:gd name="connsiteX6" fmla="*/ 217522 w 723600"/>
              <a:gd name="connsiteY6" fmla="*/ 9082 h 10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3600" h="1015200">
                <a:moveTo>
                  <a:pt x="217522" y="9082"/>
                </a:moveTo>
                <a:lnTo>
                  <a:pt x="9082" y="9082"/>
                </a:lnTo>
                <a:lnTo>
                  <a:pt x="9082" y="1010242"/>
                </a:lnTo>
                <a:lnTo>
                  <a:pt x="217522" y="1010242"/>
                </a:lnTo>
                <a:cubicBezTo>
                  <a:pt x="217522" y="1010242"/>
                  <a:pt x="716482" y="1010242"/>
                  <a:pt x="716482" y="518842"/>
                </a:cubicBezTo>
                <a:lnTo>
                  <a:pt x="716482" y="500482"/>
                </a:lnTo>
                <a:cubicBezTo>
                  <a:pt x="716482" y="500482"/>
                  <a:pt x="716482" y="9082"/>
                  <a:pt x="217522" y="9082"/>
                </a:cubicBezTo>
                <a:close/>
              </a:path>
            </a:pathLst>
          </a:custGeom>
          <a:solidFill>
            <a:schemeClr val="accent3"/>
          </a:solidFill>
          <a:ln w="1068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8C7B70A1-A813-470C-A829-7CC44559C94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14953" y="0"/>
            <a:ext cx="7585924" cy="5949573"/>
          </a:xfrm>
          <a:custGeom>
            <a:avLst/>
            <a:gdLst>
              <a:gd name="connsiteX0" fmla="*/ 6933229 w 7577047"/>
              <a:gd name="connsiteY0" fmla="*/ 0 h 5937736"/>
              <a:gd name="connsiteX1" fmla="*/ 7577047 w 7577047"/>
              <a:gd name="connsiteY1" fmla="*/ 0 h 5937736"/>
              <a:gd name="connsiteX2" fmla="*/ 6304235 w 7577047"/>
              <a:gd name="connsiteY2" fmla="*/ 626666 h 5937736"/>
              <a:gd name="connsiteX3" fmla="*/ 6159164 w 7577047"/>
              <a:gd name="connsiteY3" fmla="*/ 891545 h 5937736"/>
              <a:gd name="connsiteX4" fmla="*/ 6161282 w 7577047"/>
              <a:gd name="connsiteY4" fmla="*/ 898006 h 5937736"/>
              <a:gd name="connsiteX5" fmla="*/ 6459895 w 7577047"/>
              <a:gd name="connsiteY5" fmla="*/ 944306 h 5937736"/>
              <a:gd name="connsiteX6" fmla="*/ 7577047 w 7577047"/>
              <a:gd name="connsiteY6" fmla="*/ 395166 h 5937736"/>
              <a:gd name="connsiteX7" fmla="*/ 7577047 w 7577047"/>
              <a:gd name="connsiteY7" fmla="*/ 3249617 h 5937736"/>
              <a:gd name="connsiteX8" fmla="*/ 2564157 w 7577047"/>
              <a:gd name="connsiteY8" fmla="*/ 5723977 h 5937736"/>
              <a:gd name="connsiteX9" fmla="*/ 233491 w 7577047"/>
              <a:gd name="connsiteY9" fmla="*/ 4932570 h 5937736"/>
              <a:gd name="connsiteX10" fmla="*/ 213372 w 7577047"/>
              <a:gd name="connsiteY10" fmla="*/ 4891653 h 5937736"/>
              <a:gd name="connsiteX11" fmla="*/ 1004379 w 7577047"/>
              <a:gd name="connsiteY11" fmla="*/ 2559423 h 5937736"/>
              <a:gd name="connsiteX12" fmla="*/ 2132121 w 7577047"/>
              <a:gd name="connsiteY12" fmla="*/ 2002747 h 5937736"/>
              <a:gd name="connsiteX13" fmla="*/ 2176595 w 7577047"/>
              <a:gd name="connsiteY13" fmla="*/ 2037202 h 5937736"/>
              <a:gd name="connsiteX14" fmla="*/ 2467796 w 7577047"/>
              <a:gd name="connsiteY14" fmla="*/ 2127649 h 5937736"/>
              <a:gd name="connsiteX15" fmla="*/ 2781234 w 7577047"/>
              <a:gd name="connsiteY15" fmla="*/ 2046893 h 5937736"/>
              <a:gd name="connsiteX0" fmla="*/ 6948025 w 7577047"/>
              <a:gd name="connsiteY0" fmla="*/ 0 h 5949573"/>
              <a:gd name="connsiteX1" fmla="*/ 7577047 w 7577047"/>
              <a:gd name="connsiteY1" fmla="*/ 11837 h 5949573"/>
              <a:gd name="connsiteX2" fmla="*/ 6304235 w 7577047"/>
              <a:gd name="connsiteY2" fmla="*/ 638503 h 5949573"/>
              <a:gd name="connsiteX3" fmla="*/ 6159164 w 7577047"/>
              <a:gd name="connsiteY3" fmla="*/ 903382 h 5949573"/>
              <a:gd name="connsiteX4" fmla="*/ 6161282 w 7577047"/>
              <a:gd name="connsiteY4" fmla="*/ 909843 h 5949573"/>
              <a:gd name="connsiteX5" fmla="*/ 6459895 w 7577047"/>
              <a:gd name="connsiteY5" fmla="*/ 956143 h 5949573"/>
              <a:gd name="connsiteX6" fmla="*/ 7577047 w 7577047"/>
              <a:gd name="connsiteY6" fmla="*/ 407003 h 5949573"/>
              <a:gd name="connsiteX7" fmla="*/ 7577047 w 7577047"/>
              <a:gd name="connsiteY7" fmla="*/ 3261454 h 5949573"/>
              <a:gd name="connsiteX8" fmla="*/ 2564157 w 7577047"/>
              <a:gd name="connsiteY8" fmla="*/ 5735814 h 5949573"/>
              <a:gd name="connsiteX9" fmla="*/ 233491 w 7577047"/>
              <a:gd name="connsiteY9" fmla="*/ 4944407 h 5949573"/>
              <a:gd name="connsiteX10" fmla="*/ 213372 w 7577047"/>
              <a:gd name="connsiteY10" fmla="*/ 4903490 h 5949573"/>
              <a:gd name="connsiteX11" fmla="*/ 1004379 w 7577047"/>
              <a:gd name="connsiteY11" fmla="*/ 2571260 h 5949573"/>
              <a:gd name="connsiteX12" fmla="*/ 2132121 w 7577047"/>
              <a:gd name="connsiteY12" fmla="*/ 2014584 h 5949573"/>
              <a:gd name="connsiteX13" fmla="*/ 2176595 w 7577047"/>
              <a:gd name="connsiteY13" fmla="*/ 2049039 h 5949573"/>
              <a:gd name="connsiteX14" fmla="*/ 2467796 w 7577047"/>
              <a:gd name="connsiteY14" fmla="*/ 2139486 h 5949573"/>
              <a:gd name="connsiteX15" fmla="*/ 2781234 w 7577047"/>
              <a:gd name="connsiteY15" fmla="*/ 2058730 h 5949573"/>
              <a:gd name="connsiteX16" fmla="*/ 6948025 w 7577047"/>
              <a:gd name="connsiteY16" fmla="*/ 0 h 5949573"/>
              <a:gd name="connsiteX0" fmla="*/ 6948025 w 7580006"/>
              <a:gd name="connsiteY0" fmla="*/ 0 h 5949573"/>
              <a:gd name="connsiteX1" fmla="*/ 7580006 w 7580006"/>
              <a:gd name="connsiteY1" fmla="*/ 0 h 5949573"/>
              <a:gd name="connsiteX2" fmla="*/ 6304235 w 7580006"/>
              <a:gd name="connsiteY2" fmla="*/ 638503 h 5949573"/>
              <a:gd name="connsiteX3" fmla="*/ 6159164 w 7580006"/>
              <a:gd name="connsiteY3" fmla="*/ 903382 h 5949573"/>
              <a:gd name="connsiteX4" fmla="*/ 6161282 w 7580006"/>
              <a:gd name="connsiteY4" fmla="*/ 909843 h 5949573"/>
              <a:gd name="connsiteX5" fmla="*/ 6459895 w 7580006"/>
              <a:gd name="connsiteY5" fmla="*/ 956143 h 5949573"/>
              <a:gd name="connsiteX6" fmla="*/ 7577047 w 7580006"/>
              <a:gd name="connsiteY6" fmla="*/ 407003 h 5949573"/>
              <a:gd name="connsiteX7" fmla="*/ 7577047 w 7580006"/>
              <a:gd name="connsiteY7" fmla="*/ 3261454 h 5949573"/>
              <a:gd name="connsiteX8" fmla="*/ 2564157 w 7580006"/>
              <a:gd name="connsiteY8" fmla="*/ 5735814 h 5949573"/>
              <a:gd name="connsiteX9" fmla="*/ 233491 w 7580006"/>
              <a:gd name="connsiteY9" fmla="*/ 4944407 h 5949573"/>
              <a:gd name="connsiteX10" fmla="*/ 213372 w 7580006"/>
              <a:gd name="connsiteY10" fmla="*/ 4903490 h 5949573"/>
              <a:gd name="connsiteX11" fmla="*/ 1004379 w 7580006"/>
              <a:gd name="connsiteY11" fmla="*/ 2571260 h 5949573"/>
              <a:gd name="connsiteX12" fmla="*/ 2132121 w 7580006"/>
              <a:gd name="connsiteY12" fmla="*/ 2014584 h 5949573"/>
              <a:gd name="connsiteX13" fmla="*/ 2176595 w 7580006"/>
              <a:gd name="connsiteY13" fmla="*/ 2049039 h 5949573"/>
              <a:gd name="connsiteX14" fmla="*/ 2467796 w 7580006"/>
              <a:gd name="connsiteY14" fmla="*/ 2139486 h 5949573"/>
              <a:gd name="connsiteX15" fmla="*/ 2781234 w 7580006"/>
              <a:gd name="connsiteY15" fmla="*/ 2058730 h 5949573"/>
              <a:gd name="connsiteX16" fmla="*/ 6948025 w 7580006"/>
              <a:gd name="connsiteY16" fmla="*/ 0 h 5949573"/>
              <a:gd name="connsiteX0" fmla="*/ 6948025 w 7585924"/>
              <a:gd name="connsiteY0" fmla="*/ 0 h 5949573"/>
              <a:gd name="connsiteX1" fmla="*/ 7585924 w 7585924"/>
              <a:gd name="connsiteY1" fmla="*/ 0 h 5949573"/>
              <a:gd name="connsiteX2" fmla="*/ 6304235 w 7585924"/>
              <a:gd name="connsiteY2" fmla="*/ 638503 h 5949573"/>
              <a:gd name="connsiteX3" fmla="*/ 6159164 w 7585924"/>
              <a:gd name="connsiteY3" fmla="*/ 903382 h 5949573"/>
              <a:gd name="connsiteX4" fmla="*/ 6161282 w 7585924"/>
              <a:gd name="connsiteY4" fmla="*/ 909843 h 5949573"/>
              <a:gd name="connsiteX5" fmla="*/ 6459895 w 7585924"/>
              <a:gd name="connsiteY5" fmla="*/ 956143 h 5949573"/>
              <a:gd name="connsiteX6" fmla="*/ 7577047 w 7585924"/>
              <a:gd name="connsiteY6" fmla="*/ 407003 h 5949573"/>
              <a:gd name="connsiteX7" fmla="*/ 7577047 w 7585924"/>
              <a:gd name="connsiteY7" fmla="*/ 3261454 h 5949573"/>
              <a:gd name="connsiteX8" fmla="*/ 2564157 w 7585924"/>
              <a:gd name="connsiteY8" fmla="*/ 5735814 h 5949573"/>
              <a:gd name="connsiteX9" fmla="*/ 233491 w 7585924"/>
              <a:gd name="connsiteY9" fmla="*/ 4944407 h 5949573"/>
              <a:gd name="connsiteX10" fmla="*/ 213372 w 7585924"/>
              <a:gd name="connsiteY10" fmla="*/ 4903490 h 5949573"/>
              <a:gd name="connsiteX11" fmla="*/ 1004379 w 7585924"/>
              <a:gd name="connsiteY11" fmla="*/ 2571260 h 5949573"/>
              <a:gd name="connsiteX12" fmla="*/ 2132121 w 7585924"/>
              <a:gd name="connsiteY12" fmla="*/ 2014584 h 5949573"/>
              <a:gd name="connsiteX13" fmla="*/ 2176595 w 7585924"/>
              <a:gd name="connsiteY13" fmla="*/ 2049039 h 5949573"/>
              <a:gd name="connsiteX14" fmla="*/ 2467796 w 7585924"/>
              <a:gd name="connsiteY14" fmla="*/ 2139486 h 5949573"/>
              <a:gd name="connsiteX15" fmla="*/ 2781234 w 7585924"/>
              <a:gd name="connsiteY15" fmla="*/ 2058730 h 5949573"/>
              <a:gd name="connsiteX16" fmla="*/ 6948025 w 7585924"/>
              <a:gd name="connsiteY16" fmla="*/ 0 h 5949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585924" h="5949573">
                <a:moveTo>
                  <a:pt x="6948025" y="0"/>
                </a:moveTo>
                <a:lnTo>
                  <a:pt x="7585924" y="0"/>
                </a:lnTo>
                <a:lnTo>
                  <a:pt x="6304235" y="638503"/>
                </a:lnTo>
                <a:cubicBezTo>
                  <a:pt x="6304235" y="638503"/>
                  <a:pt x="6082923" y="747254"/>
                  <a:pt x="6159164" y="903382"/>
                </a:cubicBezTo>
                <a:lnTo>
                  <a:pt x="6161282" y="909843"/>
                </a:lnTo>
                <a:cubicBezTo>
                  <a:pt x="6161282" y="909843"/>
                  <a:pt x="6239641" y="1064894"/>
                  <a:pt x="6459895" y="956143"/>
                </a:cubicBezTo>
                <a:lnTo>
                  <a:pt x="7577047" y="407003"/>
                </a:lnTo>
                <a:lnTo>
                  <a:pt x="7577047" y="3261454"/>
                </a:lnTo>
                <a:lnTo>
                  <a:pt x="2564157" y="5735814"/>
                </a:lnTo>
                <a:cubicBezTo>
                  <a:pt x="1003320" y="6506764"/>
                  <a:pt x="233491" y="4944407"/>
                  <a:pt x="233491" y="4944407"/>
                </a:cubicBezTo>
                <a:lnTo>
                  <a:pt x="213372" y="4903490"/>
                </a:lnTo>
                <a:cubicBezTo>
                  <a:pt x="-556457" y="3341133"/>
                  <a:pt x="1004379" y="2571260"/>
                  <a:pt x="1004379" y="2571260"/>
                </a:cubicBezTo>
                <a:lnTo>
                  <a:pt x="2132121" y="2014584"/>
                </a:lnTo>
                <a:cubicBezTo>
                  <a:pt x="2145886" y="2026428"/>
                  <a:pt x="2160712" y="2038272"/>
                  <a:pt x="2176595" y="2049039"/>
                </a:cubicBezTo>
                <a:cubicBezTo>
                  <a:pt x="2245424" y="2096416"/>
                  <a:pt x="2342844" y="2139486"/>
                  <a:pt x="2467796" y="2139486"/>
                </a:cubicBezTo>
                <a:cubicBezTo>
                  <a:pt x="2557803" y="2139486"/>
                  <a:pt x="2661577" y="2117951"/>
                  <a:pt x="2781234" y="2058730"/>
                </a:cubicBezTo>
                <a:lnTo>
                  <a:pt x="6948025" y="0"/>
                </a:lnTo>
                <a:close/>
              </a:path>
            </a:pathLst>
          </a:custGeom>
          <a:noFill/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es-ES" noProof="0" dirty="0"/>
              <a:t>Haga clic en el icono para agregar una imagen</a:t>
            </a:r>
            <a:endParaRPr lang="es-MX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E901116-54B0-3E4A-8D8F-75D13BBA69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197" y="118220"/>
            <a:ext cx="1589279" cy="84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Marcador de posición de imagen 38">
            <a:extLst>
              <a:ext uri="{FF2B5EF4-FFF2-40B4-BE49-F238E27FC236}">
                <a16:creationId xmlns:a16="http://schemas.microsoft.com/office/drawing/2014/main" id="{12A714F2-A8EC-40F7-ACFF-A00E1DD10C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2412" y="2373273"/>
            <a:ext cx="11271651" cy="2549580"/>
          </a:xfrm>
          <a:custGeom>
            <a:avLst/>
            <a:gdLst>
              <a:gd name="connsiteX0" fmla="*/ 1257522 w 11271651"/>
              <a:gd name="connsiteY0" fmla="*/ 0 h 2549580"/>
              <a:gd name="connsiteX1" fmla="*/ 7117931 w 11271651"/>
              <a:gd name="connsiteY1" fmla="*/ 0 h 2549580"/>
              <a:gd name="connsiteX2" fmla="*/ 7133189 w 11271651"/>
              <a:gd name="connsiteY2" fmla="*/ 37934 h 2549580"/>
              <a:gd name="connsiteX3" fmla="*/ 7567673 w 11271651"/>
              <a:gd name="connsiteY3" fmla="*/ 284761 h 2549580"/>
              <a:gd name="connsiteX4" fmla="*/ 11271651 w 11271651"/>
              <a:gd name="connsiteY4" fmla="*/ 284761 h 2549580"/>
              <a:gd name="connsiteX5" fmla="*/ 11271651 w 11271651"/>
              <a:gd name="connsiteY5" fmla="*/ 2292367 h 2549580"/>
              <a:gd name="connsiteX6" fmla="*/ 3360838 w 11271651"/>
              <a:gd name="connsiteY6" fmla="*/ 2292367 h 2549580"/>
              <a:gd name="connsiteX7" fmla="*/ 3027059 w 11271651"/>
              <a:gd name="connsiteY7" fmla="*/ 2473692 h 2549580"/>
              <a:gd name="connsiteX8" fmla="*/ 2997435 w 11271651"/>
              <a:gd name="connsiteY8" fmla="*/ 2549580 h 2549580"/>
              <a:gd name="connsiteX9" fmla="*/ 1257522 w 11271651"/>
              <a:gd name="connsiteY9" fmla="*/ 2549580 h 2549580"/>
              <a:gd name="connsiteX10" fmla="*/ 0 w 11271651"/>
              <a:gd name="connsiteY10" fmla="*/ 1291940 h 2549580"/>
              <a:gd name="connsiteX11" fmla="*/ 0 w 11271651"/>
              <a:gd name="connsiteY11" fmla="*/ 1257641 h 2549580"/>
              <a:gd name="connsiteX12" fmla="*/ 1257522 w 11271651"/>
              <a:gd name="connsiteY12" fmla="*/ 0 h 254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271651" h="2549580">
                <a:moveTo>
                  <a:pt x="1257522" y="0"/>
                </a:moveTo>
                <a:lnTo>
                  <a:pt x="7117931" y="0"/>
                </a:lnTo>
                <a:lnTo>
                  <a:pt x="7133189" y="37934"/>
                </a:lnTo>
                <a:cubicBezTo>
                  <a:pt x="7196165" y="161665"/>
                  <a:pt x="7320847" y="284761"/>
                  <a:pt x="7567673" y="284761"/>
                </a:cubicBezTo>
                <a:lnTo>
                  <a:pt x="11271651" y="284761"/>
                </a:lnTo>
                <a:lnTo>
                  <a:pt x="11271651" y="2292367"/>
                </a:lnTo>
                <a:lnTo>
                  <a:pt x="3360838" y="2292367"/>
                </a:lnTo>
                <a:cubicBezTo>
                  <a:pt x="3357507" y="2292367"/>
                  <a:pt x="3127793" y="2295282"/>
                  <a:pt x="3027059" y="2473692"/>
                </a:cubicBezTo>
                <a:lnTo>
                  <a:pt x="2997435" y="2549580"/>
                </a:lnTo>
                <a:lnTo>
                  <a:pt x="1257522" y="2549580"/>
                </a:lnTo>
                <a:cubicBezTo>
                  <a:pt x="1257522" y="2549580"/>
                  <a:pt x="0" y="2549580"/>
                  <a:pt x="0" y="1291940"/>
                </a:cubicBezTo>
                <a:lnTo>
                  <a:pt x="0" y="1257641"/>
                </a:lnTo>
                <a:cubicBezTo>
                  <a:pt x="0" y="1257641"/>
                  <a:pt x="0" y="0"/>
                  <a:pt x="1257522" y="0"/>
                </a:cubicBezTo>
                <a:close/>
              </a:path>
            </a:pathLst>
          </a:custGeom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13074BE4-153F-46FE-B915-CD1AEF318A25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35" name="Gráfico 12">
            <a:extLst>
              <a:ext uri="{FF2B5EF4-FFF2-40B4-BE49-F238E27FC236}">
                <a16:creationId xmlns:a16="http://schemas.microsoft.com/office/drawing/2014/main" id="{0B7E91C4-F19E-46BE-B05F-139B5418924E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08A64499-0304-4070-BCB0-67E2BE20A3EA}"/>
              </a:ext>
            </a:extLst>
          </p:cNvPr>
          <p:cNvSpPr/>
          <p:nvPr userDrawn="1"/>
        </p:nvSpPr>
        <p:spPr>
          <a:xfrm>
            <a:off x="7998821" y="1645349"/>
            <a:ext cx="4196737" cy="1001638"/>
          </a:xfrm>
          <a:custGeom>
            <a:avLst/>
            <a:gdLst>
              <a:gd name="connsiteX0" fmla="*/ 3150394 w 3152775"/>
              <a:gd name="connsiteY0" fmla="*/ 7144 h 752475"/>
              <a:gd name="connsiteX1" fmla="*/ 371952 w 3152775"/>
              <a:gd name="connsiteY1" fmla="*/ 7144 h 752475"/>
              <a:gd name="connsiteX2" fmla="*/ 7144 w 3152775"/>
              <a:gd name="connsiteY2" fmla="*/ 370999 h 752475"/>
              <a:gd name="connsiteX3" fmla="*/ 7144 w 3152775"/>
              <a:gd name="connsiteY3" fmla="*/ 384334 h 752475"/>
              <a:gd name="connsiteX4" fmla="*/ 371952 w 3152775"/>
              <a:gd name="connsiteY4" fmla="*/ 748189 h 752475"/>
              <a:gd name="connsiteX5" fmla="*/ 3150394 w 3152775"/>
              <a:gd name="connsiteY5" fmla="*/ 748189 h 752475"/>
              <a:gd name="connsiteX6" fmla="*/ 3150394 w 3152775"/>
              <a:gd name="connsiteY6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52775" h="752475">
                <a:moveTo>
                  <a:pt x="3150394" y="7144"/>
                </a:moveTo>
                <a:lnTo>
                  <a:pt x="371952" y="7144"/>
                </a:lnTo>
                <a:cubicBezTo>
                  <a:pt x="371952" y="7144"/>
                  <a:pt x="7144" y="7144"/>
                  <a:pt x="7144" y="370999"/>
                </a:cubicBezTo>
                <a:lnTo>
                  <a:pt x="7144" y="384334"/>
                </a:lnTo>
                <a:cubicBezTo>
                  <a:pt x="7144" y="384334"/>
                  <a:pt x="7144" y="748189"/>
                  <a:pt x="371952" y="748189"/>
                </a:cubicBezTo>
                <a:lnTo>
                  <a:pt x="3150394" y="748189"/>
                </a:lnTo>
                <a:lnTo>
                  <a:pt x="3150394" y="7144"/>
                </a:lnTo>
                <a:close/>
              </a:path>
            </a:pathLst>
          </a:custGeom>
          <a:solidFill>
            <a:schemeClr val="accent1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ED1736B3-AE79-40C2-80FF-2FB0FEE27195}"/>
              </a:ext>
            </a:extLst>
          </p:cNvPr>
          <p:cNvSpPr/>
          <p:nvPr userDrawn="1"/>
        </p:nvSpPr>
        <p:spPr>
          <a:xfrm>
            <a:off x="12186920" y="2632655"/>
            <a:ext cx="5081" cy="25381"/>
          </a:xfrm>
          <a:custGeom>
            <a:avLst/>
            <a:gdLst>
              <a:gd name="connsiteX0" fmla="*/ 0 w 5081"/>
              <a:gd name="connsiteY0" fmla="*/ 0 h 25381"/>
              <a:gd name="connsiteX1" fmla="*/ 5081 w 5081"/>
              <a:gd name="connsiteY1" fmla="*/ 0 h 25381"/>
              <a:gd name="connsiteX2" fmla="*/ 5081 w 5081"/>
              <a:gd name="connsiteY2" fmla="*/ 25381 h 25381"/>
              <a:gd name="connsiteX3" fmla="*/ 0 w 5081"/>
              <a:gd name="connsiteY3" fmla="*/ 25381 h 25381"/>
              <a:gd name="connsiteX4" fmla="*/ 0 w 5081"/>
              <a:gd name="connsiteY4" fmla="*/ 0 h 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1">
                <a:moveTo>
                  <a:pt x="0" y="0"/>
                </a:moveTo>
                <a:lnTo>
                  <a:pt x="5081" y="0"/>
                </a:lnTo>
                <a:lnTo>
                  <a:pt x="5081" y="25381"/>
                </a:lnTo>
                <a:lnTo>
                  <a:pt x="0" y="2538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2228EE-3546-4272-9C39-150FF23CE0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1987" y="793172"/>
            <a:ext cx="9144000" cy="655621"/>
          </a:xfrm>
        </p:spPr>
        <p:txBody>
          <a:bodyPr rtlCol="0" anchor="b">
            <a:normAutofit/>
          </a:bodyPr>
          <a:lstStyle>
            <a:lvl1pPr algn="l">
              <a:defRPr sz="4000" b="1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es-MX" noProof="0" dirty="0"/>
              <a:t>DIAPOSITIVA DIVISORIA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2EFCC6-4D5A-4B43-A534-1A868887B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72" y="1877051"/>
            <a:ext cx="6843278" cy="496223"/>
          </a:xfrm>
        </p:spPr>
        <p:txBody>
          <a:bodyPr rtlCol="0">
            <a:normAutofit/>
          </a:bodyPr>
          <a:lstStyle>
            <a:lvl1pPr marL="0" indent="0" algn="l">
              <a:buNone/>
              <a:defRPr sz="18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MX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D10BB4-D57E-4372-8E10-AC15DC09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DD.MM.20XX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020939-F172-405E-A418-A87CE5D9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808348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24" name="Gráfico 22">
            <a:extLst>
              <a:ext uri="{FF2B5EF4-FFF2-40B4-BE49-F238E27FC236}">
                <a16:creationId xmlns:a16="http://schemas.microsoft.com/office/drawing/2014/main" id="{4EE1436E-33B5-4388-87D8-2D0633CC3CE7}"/>
              </a:ext>
            </a:extLst>
          </p:cNvPr>
          <p:cNvSpPr/>
          <p:nvPr/>
        </p:nvSpPr>
        <p:spPr>
          <a:xfrm>
            <a:off x="903223" y="1550951"/>
            <a:ext cx="5760000" cy="151200"/>
          </a:xfrm>
          <a:custGeom>
            <a:avLst/>
            <a:gdLst>
              <a:gd name="connsiteX0" fmla="*/ 2392204 w 2447925"/>
              <a:gd name="connsiteY0" fmla="*/ 114776 h 114300"/>
              <a:gd name="connsiteX1" fmla="*/ 60484 w 2447925"/>
              <a:gd name="connsiteY1" fmla="*/ 114776 h 114300"/>
              <a:gd name="connsiteX2" fmla="*/ 7144 w 2447925"/>
              <a:gd name="connsiteY2" fmla="*/ 60484 h 114300"/>
              <a:gd name="connsiteX3" fmla="*/ 7144 w 2447925"/>
              <a:gd name="connsiteY3" fmla="*/ 60484 h 114300"/>
              <a:gd name="connsiteX4" fmla="*/ 60484 w 2447925"/>
              <a:gd name="connsiteY4" fmla="*/ 7144 h 114300"/>
              <a:gd name="connsiteX5" fmla="*/ 2392204 w 2447925"/>
              <a:gd name="connsiteY5" fmla="*/ 7144 h 114300"/>
              <a:gd name="connsiteX6" fmla="*/ 2445544 w 2447925"/>
              <a:gd name="connsiteY6" fmla="*/ 60484 h 114300"/>
              <a:gd name="connsiteX7" fmla="*/ 2445544 w 2447925"/>
              <a:gd name="connsiteY7" fmla="*/ 60484 h 114300"/>
              <a:gd name="connsiteX8" fmla="*/ 2392204 w 2447925"/>
              <a:gd name="connsiteY8" fmla="*/ 114776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47925" h="114300">
                <a:moveTo>
                  <a:pt x="2392204" y="114776"/>
                </a:moveTo>
                <a:lnTo>
                  <a:pt x="60484" y="114776"/>
                </a:lnTo>
                <a:cubicBezTo>
                  <a:pt x="30956" y="114776"/>
                  <a:pt x="7144" y="90011"/>
                  <a:pt x="7144" y="60484"/>
                </a:cubicBezTo>
                <a:lnTo>
                  <a:pt x="7144" y="60484"/>
                </a:lnTo>
                <a:cubicBezTo>
                  <a:pt x="7144" y="30956"/>
                  <a:pt x="30956" y="7144"/>
                  <a:pt x="60484" y="7144"/>
                </a:cubicBezTo>
                <a:lnTo>
                  <a:pt x="2392204" y="7144"/>
                </a:lnTo>
                <a:cubicBezTo>
                  <a:pt x="2421731" y="7144"/>
                  <a:pt x="2445544" y="30956"/>
                  <a:pt x="2445544" y="60484"/>
                </a:cubicBezTo>
                <a:lnTo>
                  <a:pt x="2445544" y="60484"/>
                </a:lnTo>
                <a:cubicBezTo>
                  <a:pt x="2445544" y="90011"/>
                  <a:pt x="2421731" y="114776"/>
                  <a:pt x="2392204" y="11477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A8FB11AB-3031-47CA-85DD-696856C3C62C}"/>
              </a:ext>
            </a:extLst>
          </p:cNvPr>
          <p:cNvSpPr/>
          <p:nvPr/>
        </p:nvSpPr>
        <p:spPr>
          <a:xfrm>
            <a:off x="3899957" y="4662943"/>
            <a:ext cx="8292043" cy="760738"/>
          </a:xfrm>
          <a:custGeom>
            <a:avLst/>
            <a:gdLst>
              <a:gd name="connsiteX0" fmla="*/ 6228874 w 6229350"/>
              <a:gd name="connsiteY0" fmla="*/ 7144 h 571500"/>
              <a:gd name="connsiteX1" fmla="*/ 284321 w 6229350"/>
              <a:gd name="connsiteY1" fmla="*/ 7144 h 571500"/>
              <a:gd name="connsiteX2" fmla="*/ 7144 w 6229350"/>
              <a:gd name="connsiteY2" fmla="*/ 282416 h 571500"/>
              <a:gd name="connsiteX3" fmla="*/ 7144 w 6229350"/>
              <a:gd name="connsiteY3" fmla="*/ 292894 h 571500"/>
              <a:gd name="connsiteX4" fmla="*/ 284321 w 6229350"/>
              <a:gd name="connsiteY4" fmla="*/ 568166 h 571500"/>
              <a:gd name="connsiteX5" fmla="*/ 6228874 w 6229350"/>
              <a:gd name="connsiteY5" fmla="*/ 568166 h 571500"/>
              <a:gd name="connsiteX6" fmla="*/ 6228874 w 6229350"/>
              <a:gd name="connsiteY6" fmla="*/ 71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9350" h="571500">
                <a:moveTo>
                  <a:pt x="6228874" y="7144"/>
                </a:moveTo>
                <a:lnTo>
                  <a:pt x="284321" y="7144"/>
                </a:lnTo>
                <a:cubicBezTo>
                  <a:pt x="284321" y="7144"/>
                  <a:pt x="7144" y="7144"/>
                  <a:pt x="7144" y="282416"/>
                </a:cubicBezTo>
                <a:lnTo>
                  <a:pt x="7144" y="292894"/>
                </a:lnTo>
                <a:cubicBezTo>
                  <a:pt x="7144" y="292894"/>
                  <a:pt x="7144" y="568166"/>
                  <a:pt x="284321" y="568166"/>
                </a:cubicBezTo>
                <a:lnTo>
                  <a:pt x="6228874" y="568166"/>
                </a:lnTo>
                <a:lnTo>
                  <a:pt x="6228874" y="7144"/>
                </a:lnTo>
                <a:close/>
              </a:path>
            </a:pathLst>
          </a:custGeom>
          <a:solidFill>
            <a:schemeClr val="accent3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210624-61F8-48B2-BD00-D3BC39DE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9CD6F167-FB82-4EFB-BAB9-1D0FEE07B85D}"/>
              </a:ext>
            </a:extLst>
          </p:cNvPr>
          <p:cNvSpPr/>
          <p:nvPr/>
        </p:nvSpPr>
        <p:spPr>
          <a:xfrm>
            <a:off x="3909848" y="4665641"/>
            <a:ext cx="8277071" cy="257213"/>
          </a:xfrm>
          <a:custGeom>
            <a:avLst/>
            <a:gdLst>
              <a:gd name="connsiteX0" fmla="*/ 363403 w 8277071"/>
              <a:gd name="connsiteY0" fmla="*/ 0 h 257213"/>
              <a:gd name="connsiteX1" fmla="*/ 8277071 w 8277071"/>
              <a:gd name="connsiteY1" fmla="*/ 0 h 257213"/>
              <a:gd name="connsiteX2" fmla="*/ 8277071 w 8277071"/>
              <a:gd name="connsiteY2" fmla="*/ 25380 h 257213"/>
              <a:gd name="connsiteX3" fmla="*/ 363403 w 8277071"/>
              <a:gd name="connsiteY3" fmla="*/ 25380 h 257213"/>
              <a:gd name="connsiteX4" fmla="*/ 61632 w 8277071"/>
              <a:gd name="connsiteY4" fmla="*/ 176355 h 257213"/>
              <a:gd name="connsiteX5" fmla="*/ 25441 w 8277071"/>
              <a:gd name="connsiteY5" fmla="*/ 257213 h 257213"/>
              <a:gd name="connsiteX6" fmla="*/ 0 w 8277071"/>
              <a:gd name="connsiteY6" fmla="*/ 257213 h 257213"/>
              <a:gd name="connsiteX7" fmla="*/ 29624 w 8277071"/>
              <a:gd name="connsiteY7" fmla="*/ 181325 h 257213"/>
              <a:gd name="connsiteX8" fmla="*/ 363403 w 8277071"/>
              <a:gd name="connsiteY8" fmla="*/ 0 h 257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77071" h="257213">
                <a:moveTo>
                  <a:pt x="363403" y="0"/>
                </a:moveTo>
                <a:lnTo>
                  <a:pt x="8277071" y="0"/>
                </a:lnTo>
                <a:lnTo>
                  <a:pt x="8277071" y="25380"/>
                </a:lnTo>
                <a:lnTo>
                  <a:pt x="363403" y="25380"/>
                </a:lnTo>
                <a:cubicBezTo>
                  <a:pt x="352934" y="25380"/>
                  <a:pt x="158297" y="28235"/>
                  <a:pt x="61632" y="176355"/>
                </a:cubicBezTo>
                <a:lnTo>
                  <a:pt x="25441" y="257213"/>
                </a:lnTo>
                <a:lnTo>
                  <a:pt x="0" y="257213"/>
                </a:lnTo>
                <a:lnTo>
                  <a:pt x="29624" y="181325"/>
                </a:lnTo>
                <a:cubicBezTo>
                  <a:pt x="130358" y="2915"/>
                  <a:pt x="360072" y="0"/>
                  <a:pt x="363403" y="0"/>
                </a:cubicBez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36" name="Forma libre: Forma 35">
            <a:extLst>
              <a:ext uri="{FF2B5EF4-FFF2-40B4-BE49-F238E27FC236}">
                <a16:creationId xmlns:a16="http://schemas.microsoft.com/office/drawing/2014/main" id="{3DD2082D-81A7-4E2D-8136-9D48016E7FE9}"/>
              </a:ext>
            </a:extLst>
          </p:cNvPr>
          <p:cNvSpPr/>
          <p:nvPr/>
        </p:nvSpPr>
        <p:spPr>
          <a:xfrm>
            <a:off x="12186919" y="4665641"/>
            <a:ext cx="5081" cy="25380"/>
          </a:xfrm>
          <a:custGeom>
            <a:avLst/>
            <a:gdLst>
              <a:gd name="connsiteX0" fmla="*/ 0 w 5081"/>
              <a:gd name="connsiteY0" fmla="*/ 0 h 25380"/>
              <a:gd name="connsiteX1" fmla="*/ 5081 w 5081"/>
              <a:gd name="connsiteY1" fmla="*/ 0 h 25380"/>
              <a:gd name="connsiteX2" fmla="*/ 5081 w 5081"/>
              <a:gd name="connsiteY2" fmla="*/ 25380 h 25380"/>
              <a:gd name="connsiteX3" fmla="*/ 0 w 5081"/>
              <a:gd name="connsiteY3" fmla="*/ 25380 h 25380"/>
              <a:gd name="connsiteX4" fmla="*/ 0 w 5081"/>
              <a:gd name="connsiteY4" fmla="*/ 0 h 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0">
                <a:moveTo>
                  <a:pt x="0" y="0"/>
                </a:moveTo>
                <a:lnTo>
                  <a:pt x="5081" y="0"/>
                </a:lnTo>
                <a:lnTo>
                  <a:pt x="5081" y="25380"/>
                </a:lnTo>
                <a:lnTo>
                  <a:pt x="0" y="2538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ECF16C35-4A81-4062-808C-7697AF0FD6F5}"/>
              </a:ext>
            </a:extLst>
          </p:cNvPr>
          <p:cNvSpPr/>
          <p:nvPr/>
        </p:nvSpPr>
        <p:spPr>
          <a:xfrm>
            <a:off x="3905233" y="4922854"/>
            <a:ext cx="8286767" cy="513089"/>
          </a:xfrm>
          <a:custGeom>
            <a:avLst/>
            <a:gdLst>
              <a:gd name="connsiteX0" fmla="*/ 4615 w 8286767"/>
              <a:gd name="connsiteY0" fmla="*/ 0 h 513089"/>
              <a:gd name="connsiteX1" fmla="*/ 30056 w 8286767"/>
              <a:gd name="connsiteY1" fmla="*/ 0 h 513089"/>
              <a:gd name="connsiteX2" fmla="*/ 27385 w 8286767"/>
              <a:gd name="connsiteY2" fmla="*/ 5967 h 513089"/>
              <a:gd name="connsiteX3" fmla="*/ 12690 w 8286767"/>
              <a:gd name="connsiteY3" fmla="*/ 120958 h 513089"/>
              <a:gd name="connsiteX4" fmla="*/ 12690 w 8286767"/>
              <a:gd name="connsiteY4" fmla="*/ 134918 h 513089"/>
              <a:gd name="connsiteX5" fmla="*/ 368018 w 8286767"/>
              <a:gd name="connsiteY5" fmla="*/ 488977 h 513089"/>
              <a:gd name="connsiteX6" fmla="*/ 8286767 w 8286767"/>
              <a:gd name="connsiteY6" fmla="*/ 488977 h 513089"/>
              <a:gd name="connsiteX7" fmla="*/ 8286767 w 8286767"/>
              <a:gd name="connsiteY7" fmla="*/ 513089 h 513089"/>
              <a:gd name="connsiteX8" fmla="*/ 368018 w 8286767"/>
              <a:gd name="connsiteY8" fmla="*/ 513089 h 513089"/>
              <a:gd name="connsiteX9" fmla="*/ 0 w 8286767"/>
              <a:gd name="connsiteY9" fmla="*/ 225019 h 513089"/>
              <a:gd name="connsiteX10" fmla="*/ 0 w 8286767"/>
              <a:gd name="connsiteY10" fmla="*/ 11822 h 513089"/>
              <a:gd name="connsiteX11" fmla="*/ 4615 w 8286767"/>
              <a:gd name="connsiteY11" fmla="*/ 0 h 51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86767" h="513089">
                <a:moveTo>
                  <a:pt x="4615" y="0"/>
                </a:moveTo>
                <a:lnTo>
                  <a:pt x="30056" y="0"/>
                </a:lnTo>
                <a:lnTo>
                  <a:pt x="27385" y="5967"/>
                </a:lnTo>
                <a:cubicBezTo>
                  <a:pt x="18024" y="39383"/>
                  <a:pt x="12690" y="77494"/>
                  <a:pt x="12690" y="120958"/>
                </a:cubicBezTo>
                <a:lnTo>
                  <a:pt x="12690" y="134918"/>
                </a:lnTo>
                <a:cubicBezTo>
                  <a:pt x="12690" y="150146"/>
                  <a:pt x="17766" y="488977"/>
                  <a:pt x="368018" y="488977"/>
                </a:cubicBezTo>
                <a:lnTo>
                  <a:pt x="8286767" y="488977"/>
                </a:lnTo>
                <a:lnTo>
                  <a:pt x="8286767" y="513089"/>
                </a:lnTo>
                <a:lnTo>
                  <a:pt x="368018" y="513089"/>
                </a:lnTo>
                <a:cubicBezTo>
                  <a:pt x="110405" y="513089"/>
                  <a:pt x="26649" y="336694"/>
                  <a:pt x="0" y="225019"/>
                </a:cubicBezTo>
                <a:lnTo>
                  <a:pt x="0" y="11822"/>
                </a:lnTo>
                <a:lnTo>
                  <a:pt x="4615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MX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82E6085-7691-85CA-81F7-3716299D95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7740" y="116996"/>
            <a:ext cx="1736560" cy="92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04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título, contenid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posición de imagen 25">
            <a:extLst>
              <a:ext uri="{FF2B5EF4-FFF2-40B4-BE49-F238E27FC236}">
                <a16:creationId xmlns:a16="http://schemas.microsoft.com/office/drawing/2014/main" id="{5A97CE06-9ECC-4438-8B22-B58B27F2B5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96781" y="0"/>
            <a:ext cx="3894833" cy="5656330"/>
          </a:xfrm>
          <a:custGeom>
            <a:avLst/>
            <a:gdLst>
              <a:gd name="connsiteX0" fmla="*/ 691654 w 3894833"/>
              <a:gd name="connsiteY0" fmla="*/ 0 h 5656330"/>
              <a:gd name="connsiteX1" fmla="*/ 925166 w 3894833"/>
              <a:gd name="connsiteY1" fmla="*/ 0 h 5656330"/>
              <a:gd name="connsiteX2" fmla="*/ 925166 w 3894833"/>
              <a:gd name="connsiteY2" fmla="*/ 1025424 h 5656330"/>
              <a:gd name="connsiteX3" fmla="*/ 1184060 w 3894833"/>
              <a:gd name="connsiteY3" fmla="*/ 1289394 h 5656330"/>
              <a:gd name="connsiteX4" fmla="*/ 1194212 w 3894833"/>
              <a:gd name="connsiteY4" fmla="*/ 1289394 h 5656330"/>
              <a:gd name="connsiteX5" fmla="*/ 1453107 w 3894833"/>
              <a:gd name="connsiteY5" fmla="*/ 1025424 h 5656330"/>
              <a:gd name="connsiteX6" fmla="*/ 1453107 w 3894833"/>
              <a:gd name="connsiteY6" fmla="*/ 0 h 5656330"/>
              <a:gd name="connsiteX7" fmla="*/ 3894833 w 3894833"/>
              <a:gd name="connsiteY7" fmla="*/ 0 h 5656330"/>
              <a:gd name="connsiteX8" fmla="*/ 3894833 w 3894833"/>
              <a:gd name="connsiteY8" fmla="*/ 3731122 h 5656330"/>
              <a:gd name="connsiteX9" fmla="*/ 2110494 w 3894833"/>
              <a:gd name="connsiteY9" fmla="*/ 5656330 h 5656330"/>
              <a:gd name="connsiteX10" fmla="*/ 1842717 w 3894833"/>
              <a:gd name="connsiteY10" fmla="*/ 5656330 h 5656330"/>
              <a:gd name="connsiteX11" fmla="*/ 0 w 3894833"/>
              <a:gd name="connsiteY11" fmla="*/ 3731122 h 5656330"/>
              <a:gd name="connsiteX12" fmla="*/ 0 w 3894833"/>
              <a:gd name="connsiteY12" fmla="*/ 2120572 h 5656330"/>
              <a:gd name="connsiteX13" fmla="*/ 7266 w 3894833"/>
              <a:gd name="connsiteY13" fmla="*/ 2123266 h 5656330"/>
              <a:gd name="connsiteX14" fmla="*/ 171328 w 3894833"/>
              <a:gd name="connsiteY14" fmla="*/ 2144761 h 5656330"/>
              <a:gd name="connsiteX15" fmla="*/ 189095 w 3894833"/>
              <a:gd name="connsiteY15" fmla="*/ 2144761 h 5656330"/>
              <a:gd name="connsiteX16" fmla="*/ 691654 w 3894833"/>
              <a:gd name="connsiteY16" fmla="*/ 1639663 h 5656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94833" h="5656330">
                <a:moveTo>
                  <a:pt x="691654" y="0"/>
                </a:moveTo>
                <a:lnTo>
                  <a:pt x="925166" y="0"/>
                </a:lnTo>
                <a:lnTo>
                  <a:pt x="925166" y="1025424"/>
                </a:lnTo>
                <a:cubicBezTo>
                  <a:pt x="925166" y="1025424"/>
                  <a:pt x="925166" y="1289394"/>
                  <a:pt x="1184060" y="1289394"/>
                </a:cubicBezTo>
                <a:lnTo>
                  <a:pt x="1194212" y="1289394"/>
                </a:lnTo>
                <a:cubicBezTo>
                  <a:pt x="1194212" y="1289394"/>
                  <a:pt x="1453107" y="1289394"/>
                  <a:pt x="1453107" y="1025424"/>
                </a:cubicBezTo>
                <a:lnTo>
                  <a:pt x="1453107" y="0"/>
                </a:lnTo>
                <a:lnTo>
                  <a:pt x="3894833" y="0"/>
                </a:lnTo>
                <a:lnTo>
                  <a:pt x="3894833" y="3731122"/>
                </a:lnTo>
                <a:cubicBezTo>
                  <a:pt x="3894833" y="3731122"/>
                  <a:pt x="3894833" y="5562417"/>
                  <a:pt x="2110494" y="5656330"/>
                </a:cubicBezTo>
                <a:lnTo>
                  <a:pt x="1842717" y="5656330"/>
                </a:lnTo>
                <a:cubicBezTo>
                  <a:pt x="1467066" y="5628410"/>
                  <a:pt x="0" y="5413934"/>
                  <a:pt x="0" y="3731122"/>
                </a:cubicBezTo>
                <a:lnTo>
                  <a:pt x="0" y="2120572"/>
                </a:lnTo>
                <a:lnTo>
                  <a:pt x="7266" y="2123266"/>
                </a:lnTo>
                <a:cubicBezTo>
                  <a:pt x="54929" y="2136948"/>
                  <a:pt x="109301" y="2144761"/>
                  <a:pt x="171328" y="2144761"/>
                </a:cubicBezTo>
                <a:lnTo>
                  <a:pt x="189095" y="2144761"/>
                </a:lnTo>
                <a:cubicBezTo>
                  <a:pt x="194172" y="2144761"/>
                  <a:pt x="691654" y="2138415"/>
                  <a:pt x="691654" y="1639663"/>
                </a:cubicBezTo>
                <a:close/>
              </a:path>
            </a:pathLst>
          </a:custGeom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E8B26E3-C9CA-4CFF-8221-19518F497FF4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25" name="Gráfico 12">
            <a:extLst>
              <a:ext uri="{FF2B5EF4-FFF2-40B4-BE49-F238E27FC236}">
                <a16:creationId xmlns:a16="http://schemas.microsoft.com/office/drawing/2014/main" id="{A9957602-C843-44E0-A93F-66AF5A6A0F0A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42568A-7F20-40F2-9490-E3BC7466D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0023" y="908050"/>
            <a:ext cx="4503295" cy="782638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MX" noProof="0" dirty="0"/>
              <a:t>DISEÑO DE TEXTO 02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DD.MM.20XX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7492975F-6F5D-4157-A751-54BACCCF1800}"/>
              </a:ext>
            </a:extLst>
          </p:cNvPr>
          <p:cNvSpPr/>
          <p:nvPr/>
        </p:nvSpPr>
        <p:spPr>
          <a:xfrm>
            <a:off x="5492146" y="-12675"/>
            <a:ext cx="545708" cy="3819957"/>
          </a:xfrm>
          <a:custGeom>
            <a:avLst/>
            <a:gdLst>
              <a:gd name="connsiteX0" fmla="*/ 12675 w 545708"/>
              <a:gd name="connsiteY0" fmla="*/ 12675 h 3819957"/>
              <a:gd name="connsiteX1" fmla="*/ 12675 w 545708"/>
              <a:gd name="connsiteY1" fmla="*/ 3550894 h 3819957"/>
              <a:gd name="connsiteX2" fmla="*/ 271569 w 545708"/>
              <a:gd name="connsiteY2" fmla="*/ 3814865 h 3819957"/>
              <a:gd name="connsiteX3" fmla="*/ 281722 w 545708"/>
              <a:gd name="connsiteY3" fmla="*/ 3814865 h 3819957"/>
              <a:gd name="connsiteX4" fmla="*/ 540616 w 545708"/>
              <a:gd name="connsiteY4" fmla="*/ 3550894 h 3819957"/>
              <a:gd name="connsiteX5" fmla="*/ 540616 w 545708"/>
              <a:gd name="connsiteY5" fmla="*/ 12675 h 3819957"/>
              <a:gd name="connsiteX6" fmla="*/ 12675 w 545708"/>
              <a:gd name="connsiteY6" fmla="*/ 12675 h 3819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708" h="3819957">
                <a:moveTo>
                  <a:pt x="12675" y="12675"/>
                </a:moveTo>
                <a:lnTo>
                  <a:pt x="12675" y="3550894"/>
                </a:lnTo>
                <a:cubicBezTo>
                  <a:pt x="12675" y="3550894"/>
                  <a:pt x="12675" y="3814865"/>
                  <a:pt x="271569" y="3814865"/>
                </a:cubicBezTo>
                <a:lnTo>
                  <a:pt x="281722" y="3814865"/>
                </a:lnTo>
                <a:cubicBezTo>
                  <a:pt x="281722" y="3814865"/>
                  <a:pt x="540616" y="3814865"/>
                  <a:pt x="540616" y="3550894"/>
                </a:cubicBezTo>
                <a:lnTo>
                  <a:pt x="540616" y="12675"/>
                </a:lnTo>
                <a:lnTo>
                  <a:pt x="12675" y="12675"/>
                </a:lnTo>
                <a:close/>
              </a:path>
            </a:pathLst>
          </a:custGeom>
          <a:solidFill>
            <a:schemeClr val="accent1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6C50EDEB-35C1-4DED-A608-A0EAA8DE5404}"/>
              </a:ext>
            </a:extLst>
          </p:cNvPr>
          <p:cNvSpPr/>
          <p:nvPr/>
        </p:nvSpPr>
        <p:spPr>
          <a:xfrm>
            <a:off x="5479455" y="-12675"/>
            <a:ext cx="571090" cy="3832648"/>
          </a:xfrm>
          <a:custGeom>
            <a:avLst/>
            <a:gdLst>
              <a:gd name="connsiteX0" fmla="*/ 540616 w 571089"/>
              <a:gd name="connsiteY0" fmla="*/ 12675 h 3832648"/>
              <a:gd name="connsiteX1" fmla="*/ 540616 w 571089"/>
              <a:gd name="connsiteY1" fmla="*/ 3550894 h 3832648"/>
              <a:gd name="connsiteX2" fmla="*/ 294413 w 571089"/>
              <a:gd name="connsiteY2" fmla="*/ 3802174 h 3832648"/>
              <a:gd name="connsiteX3" fmla="*/ 284260 w 571089"/>
              <a:gd name="connsiteY3" fmla="*/ 3802174 h 3832648"/>
              <a:gd name="connsiteX4" fmla="*/ 38056 w 571089"/>
              <a:gd name="connsiteY4" fmla="*/ 3550894 h 3832648"/>
              <a:gd name="connsiteX5" fmla="*/ 38056 w 571089"/>
              <a:gd name="connsiteY5" fmla="*/ 12675 h 3832648"/>
              <a:gd name="connsiteX6" fmla="*/ 12675 w 571089"/>
              <a:gd name="connsiteY6" fmla="*/ 12675 h 3832648"/>
              <a:gd name="connsiteX7" fmla="*/ 12675 w 571089"/>
              <a:gd name="connsiteY7" fmla="*/ 3550894 h 3832648"/>
              <a:gd name="connsiteX8" fmla="*/ 284260 w 571089"/>
              <a:gd name="connsiteY8" fmla="*/ 3827556 h 3832648"/>
              <a:gd name="connsiteX9" fmla="*/ 294413 w 571089"/>
              <a:gd name="connsiteY9" fmla="*/ 3827556 h 3832648"/>
              <a:gd name="connsiteX10" fmla="*/ 565998 w 571089"/>
              <a:gd name="connsiteY10" fmla="*/ 3550894 h 3832648"/>
              <a:gd name="connsiteX11" fmla="*/ 565998 w 571089"/>
              <a:gd name="connsiteY11" fmla="*/ 12675 h 3832648"/>
              <a:gd name="connsiteX12" fmla="*/ 540616 w 571089"/>
              <a:gd name="connsiteY12" fmla="*/ 12675 h 383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1089" h="3832648">
                <a:moveTo>
                  <a:pt x="540616" y="12675"/>
                </a:moveTo>
                <a:lnTo>
                  <a:pt x="540616" y="3550894"/>
                </a:lnTo>
                <a:cubicBezTo>
                  <a:pt x="540616" y="3798367"/>
                  <a:pt x="304565" y="3802174"/>
                  <a:pt x="294413" y="3802174"/>
                </a:cubicBezTo>
                <a:lnTo>
                  <a:pt x="284260" y="3802174"/>
                </a:lnTo>
                <a:cubicBezTo>
                  <a:pt x="41864" y="3802174"/>
                  <a:pt x="38056" y="3561047"/>
                  <a:pt x="38056" y="3550894"/>
                </a:cubicBezTo>
                <a:lnTo>
                  <a:pt x="38056" y="12675"/>
                </a:lnTo>
                <a:lnTo>
                  <a:pt x="12675" y="12675"/>
                </a:lnTo>
                <a:lnTo>
                  <a:pt x="12675" y="3550894"/>
                </a:lnTo>
                <a:cubicBezTo>
                  <a:pt x="12675" y="3553433"/>
                  <a:pt x="15213" y="3827556"/>
                  <a:pt x="284260" y="3827556"/>
                </a:cubicBezTo>
                <a:lnTo>
                  <a:pt x="294413" y="3827556"/>
                </a:lnTo>
                <a:cubicBezTo>
                  <a:pt x="296951" y="3827556"/>
                  <a:pt x="565998" y="3825017"/>
                  <a:pt x="565998" y="3550894"/>
                </a:cubicBezTo>
                <a:lnTo>
                  <a:pt x="565998" y="12675"/>
                </a:lnTo>
                <a:lnTo>
                  <a:pt x="540616" y="12675"/>
                </a:lnTo>
                <a:close/>
              </a:path>
            </a:pathLst>
          </a:custGeom>
          <a:solidFill>
            <a:schemeClr val="bg1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F469DEB5-CC79-4D71-8360-0B10B34244B7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910023" y="2050475"/>
            <a:ext cx="4548187" cy="639683"/>
          </a:xfrm>
        </p:spPr>
        <p:txBody>
          <a:bodyPr rtlCol="0">
            <a:normAutofit/>
          </a:bodyPr>
          <a:lstStyle>
            <a:lvl1pPr marL="0" indent="0">
              <a:buNone/>
              <a:defRPr sz="1800" b="1" i="0"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9EE0722D-F13C-4FFB-9E31-CC024B92E6CD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910023" y="2839714"/>
            <a:ext cx="4548187" cy="2916952"/>
          </a:xfrm>
        </p:spPr>
        <p:txBody>
          <a:bodyPr rtlCol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Gráfico 22">
            <a:extLst>
              <a:ext uri="{FF2B5EF4-FFF2-40B4-BE49-F238E27FC236}">
                <a16:creationId xmlns:a16="http://schemas.microsoft.com/office/drawing/2014/main" id="{827885C7-FA6F-4513-83BC-BEAD42F63D5B}"/>
              </a:ext>
            </a:extLst>
          </p:cNvPr>
          <p:cNvSpPr/>
          <p:nvPr userDrawn="1"/>
        </p:nvSpPr>
        <p:spPr>
          <a:xfrm>
            <a:off x="6981946" y="1726672"/>
            <a:ext cx="4392000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30961087-B677-45AC-8D02-FEE615D17609}"/>
              </a:ext>
            </a:extLst>
          </p:cNvPr>
          <p:cNvSpPr/>
          <p:nvPr userDrawn="1"/>
        </p:nvSpPr>
        <p:spPr>
          <a:xfrm>
            <a:off x="1069371" y="-12675"/>
            <a:ext cx="1002580" cy="2144760"/>
          </a:xfrm>
          <a:custGeom>
            <a:avLst/>
            <a:gdLst>
              <a:gd name="connsiteX0" fmla="*/ 12675 w 1002580"/>
              <a:gd name="connsiteY0" fmla="*/ 12675 h 2144760"/>
              <a:gd name="connsiteX1" fmla="*/ 12675 w 1002580"/>
              <a:gd name="connsiteY1" fmla="*/ 1652337 h 2144760"/>
              <a:gd name="connsiteX2" fmla="*/ 498736 w 1002580"/>
              <a:gd name="connsiteY2" fmla="*/ 2139668 h 2144760"/>
              <a:gd name="connsiteX3" fmla="*/ 516503 w 1002580"/>
              <a:gd name="connsiteY3" fmla="*/ 2139668 h 2144760"/>
              <a:gd name="connsiteX4" fmla="*/ 1002564 w 1002580"/>
              <a:gd name="connsiteY4" fmla="*/ 1652337 h 2144760"/>
              <a:gd name="connsiteX5" fmla="*/ 1002564 w 1002580"/>
              <a:gd name="connsiteY5" fmla="*/ 12675 h 2144760"/>
              <a:gd name="connsiteX6" fmla="*/ 12675 w 1002580"/>
              <a:gd name="connsiteY6" fmla="*/ 12675 h 214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80" h="2144760">
                <a:moveTo>
                  <a:pt x="12675" y="12675"/>
                </a:moveTo>
                <a:lnTo>
                  <a:pt x="12675" y="1652337"/>
                </a:lnTo>
                <a:cubicBezTo>
                  <a:pt x="12675" y="1652337"/>
                  <a:pt x="12675" y="2139668"/>
                  <a:pt x="498736" y="2139668"/>
                </a:cubicBezTo>
                <a:lnTo>
                  <a:pt x="516503" y="2139668"/>
                </a:lnTo>
                <a:cubicBezTo>
                  <a:pt x="516503" y="2139668"/>
                  <a:pt x="1002564" y="2139668"/>
                  <a:pt x="1002564" y="1652337"/>
                </a:cubicBezTo>
                <a:lnTo>
                  <a:pt x="1002564" y="12675"/>
                </a:lnTo>
                <a:lnTo>
                  <a:pt x="12675" y="12675"/>
                </a:lnTo>
                <a:close/>
              </a:path>
            </a:pathLst>
          </a:custGeom>
          <a:solidFill>
            <a:schemeClr val="accent3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800402C-7B2A-A0E6-32D5-3E3D29F788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564" y="5827862"/>
            <a:ext cx="1807999" cy="96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97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Marcador de posición de imagen 41">
            <a:extLst>
              <a:ext uri="{FF2B5EF4-FFF2-40B4-BE49-F238E27FC236}">
                <a16:creationId xmlns:a16="http://schemas.microsoft.com/office/drawing/2014/main" id="{D6E0F90B-941A-45B6-85DA-E0D4E7977CD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71770" y="1483675"/>
            <a:ext cx="6421408" cy="3438427"/>
          </a:xfrm>
          <a:custGeom>
            <a:avLst/>
            <a:gdLst>
              <a:gd name="connsiteX0" fmla="*/ 1709168 w 6421408"/>
              <a:gd name="connsiteY0" fmla="*/ 0 h 3438427"/>
              <a:gd name="connsiteX1" fmla="*/ 6421408 w 6421408"/>
              <a:gd name="connsiteY1" fmla="*/ 0 h 3438427"/>
              <a:gd name="connsiteX2" fmla="*/ 6421408 w 6421408"/>
              <a:gd name="connsiteY2" fmla="*/ 280430 h 3438427"/>
              <a:gd name="connsiteX3" fmla="*/ 5507320 w 6421408"/>
              <a:gd name="connsiteY3" fmla="*/ 280430 h 3438427"/>
              <a:gd name="connsiteX4" fmla="*/ 5322477 w 6421408"/>
              <a:gd name="connsiteY4" fmla="*/ 461067 h 3438427"/>
              <a:gd name="connsiteX5" fmla="*/ 5322477 w 6421408"/>
              <a:gd name="connsiteY5" fmla="*/ 467384 h 3438427"/>
              <a:gd name="connsiteX6" fmla="*/ 5507320 w 6421408"/>
              <a:gd name="connsiteY6" fmla="*/ 648021 h 3438427"/>
              <a:gd name="connsiteX7" fmla="*/ 6421408 w 6421408"/>
              <a:gd name="connsiteY7" fmla="*/ 648021 h 3438427"/>
              <a:gd name="connsiteX8" fmla="*/ 6421408 w 6421408"/>
              <a:gd name="connsiteY8" fmla="*/ 2672927 h 3438427"/>
              <a:gd name="connsiteX9" fmla="*/ 4918005 w 6421408"/>
              <a:gd name="connsiteY9" fmla="*/ 2672927 h 3438427"/>
              <a:gd name="connsiteX10" fmla="*/ 4642006 w 6421408"/>
              <a:gd name="connsiteY10" fmla="*/ 2943252 h 3438427"/>
              <a:gd name="connsiteX11" fmla="*/ 4642006 w 6421408"/>
              <a:gd name="connsiteY11" fmla="*/ 2949569 h 3438427"/>
              <a:gd name="connsiteX12" fmla="*/ 3297460 w 6421408"/>
              <a:gd name="connsiteY12" fmla="*/ 2949569 h 3438427"/>
              <a:gd name="connsiteX13" fmla="*/ 2831554 w 6421408"/>
              <a:gd name="connsiteY13" fmla="*/ 3411899 h 3438427"/>
              <a:gd name="connsiteX14" fmla="*/ 2831554 w 6421408"/>
              <a:gd name="connsiteY14" fmla="*/ 3428320 h 3438427"/>
              <a:gd name="connsiteX15" fmla="*/ 2831723 w 6421408"/>
              <a:gd name="connsiteY15" fmla="*/ 3434345 h 3438427"/>
              <a:gd name="connsiteX16" fmla="*/ 2831976 w 6421408"/>
              <a:gd name="connsiteY16" fmla="*/ 3438427 h 3438427"/>
              <a:gd name="connsiteX17" fmla="*/ 1709168 w 6421408"/>
              <a:gd name="connsiteY17" fmla="*/ 3438427 h 3438427"/>
              <a:gd name="connsiteX18" fmla="*/ 0 w 6421408"/>
              <a:gd name="connsiteY18" fmla="*/ 1733109 h 3438427"/>
              <a:gd name="connsiteX19" fmla="*/ 0 w 6421408"/>
              <a:gd name="connsiteY19" fmla="*/ 1705319 h 3438427"/>
              <a:gd name="connsiteX20" fmla="*/ 1709168 w 6421408"/>
              <a:gd name="connsiteY20" fmla="*/ 0 h 3438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421408" h="3438427">
                <a:moveTo>
                  <a:pt x="1709168" y="0"/>
                </a:moveTo>
                <a:lnTo>
                  <a:pt x="6421408" y="0"/>
                </a:lnTo>
                <a:lnTo>
                  <a:pt x="6421408" y="280430"/>
                </a:lnTo>
                <a:lnTo>
                  <a:pt x="5507320" y="280430"/>
                </a:lnTo>
                <a:cubicBezTo>
                  <a:pt x="5507320" y="280430"/>
                  <a:pt x="5322477" y="280430"/>
                  <a:pt x="5322477" y="461067"/>
                </a:cubicBezTo>
                <a:lnTo>
                  <a:pt x="5322477" y="467384"/>
                </a:lnTo>
                <a:cubicBezTo>
                  <a:pt x="5322477" y="467384"/>
                  <a:pt x="5322477" y="648021"/>
                  <a:pt x="5507320" y="648021"/>
                </a:cubicBezTo>
                <a:lnTo>
                  <a:pt x="6421408" y="648021"/>
                </a:lnTo>
                <a:lnTo>
                  <a:pt x="6421408" y="2672927"/>
                </a:lnTo>
                <a:lnTo>
                  <a:pt x="4918005" y="2672927"/>
                </a:lnTo>
                <a:cubicBezTo>
                  <a:pt x="4915473" y="2672927"/>
                  <a:pt x="4642006" y="2675454"/>
                  <a:pt x="4642006" y="2943252"/>
                </a:cubicBezTo>
                <a:lnTo>
                  <a:pt x="4642006" y="2949569"/>
                </a:lnTo>
                <a:lnTo>
                  <a:pt x="3297460" y="2949569"/>
                </a:lnTo>
                <a:cubicBezTo>
                  <a:pt x="3292396" y="2949569"/>
                  <a:pt x="2831554" y="2954621"/>
                  <a:pt x="2831554" y="3411899"/>
                </a:cubicBezTo>
                <a:lnTo>
                  <a:pt x="2831554" y="3428320"/>
                </a:lnTo>
                <a:cubicBezTo>
                  <a:pt x="2831554" y="3428636"/>
                  <a:pt x="2831574" y="3430718"/>
                  <a:pt x="2831723" y="3434345"/>
                </a:cubicBezTo>
                <a:lnTo>
                  <a:pt x="2831976" y="3438427"/>
                </a:lnTo>
                <a:lnTo>
                  <a:pt x="1709168" y="3438427"/>
                </a:lnTo>
                <a:cubicBezTo>
                  <a:pt x="1709168" y="3438427"/>
                  <a:pt x="0" y="3438427"/>
                  <a:pt x="0" y="1733109"/>
                </a:cubicBezTo>
                <a:lnTo>
                  <a:pt x="0" y="1705319"/>
                </a:lnTo>
                <a:cubicBezTo>
                  <a:pt x="0" y="1705319"/>
                  <a:pt x="0" y="0"/>
                  <a:pt x="1709168" y="0"/>
                </a:cubicBezTo>
                <a:close/>
              </a:path>
            </a:pathLst>
          </a:custGeom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7BC6DBB9-1B34-4374-A887-DC30F9E2F62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36" name="Gráfico 12">
            <a:extLst>
              <a:ext uri="{FF2B5EF4-FFF2-40B4-BE49-F238E27FC236}">
                <a16:creationId xmlns:a16="http://schemas.microsoft.com/office/drawing/2014/main" id="{00DE0AE3-F44D-4F2C-B7A3-C253AA498DEF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42568A-7F20-40F2-9490-E3BC7466D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853" y="1231900"/>
            <a:ext cx="4503295" cy="782638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MX" noProof="0" dirty="0"/>
              <a:t>DISEÑO DE TEXTO 02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DD.MM.20XX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18" name="Marcador de texto 14">
            <a:extLst>
              <a:ext uri="{FF2B5EF4-FFF2-40B4-BE49-F238E27FC236}">
                <a16:creationId xmlns:a16="http://schemas.microsoft.com/office/drawing/2014/main" id="{82903A57-2768-42F8-A5EA-4C19B90498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0067" y="3889184"/>
            <a:ext cx="4548187" cy="1708223"/>
          </a:xfrm>
        </p:spPr>
        <p:txBody>
          <a:bodyPr rtlCol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C6C05708-08C7-4EF1-B0D8-6A01C1B1AD85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E46691B2-7AF3-4CAC-A285-36444A9101D9}"/>
              </a:ext>
            </a:extLst>
          </p:cNvPr>
          <p:cNvSpPr/>
          <p:nvPr userDrawn="1"/>
        </p:nvSpPr>
        <p:spPr>
          <a:xfrm>
            <a:off x="12193179" y="4156602"/>
            <a:ext cx="3197" cy="25264"/>
          </a:xfrm>
          <a:custGeom>
            <a:avLst/>
            <a:gdLst>
              <a:gd name="connsiteX0" fmla="*/ 0 w 3197"/>
              <a:gd name="connsiteY0" fmla="*/ 0 h 25264"/>
              <a:gd name="connsiteX1" fmla="*/ 3197 w 3197"/>
              <a:gd name="connsiteY1" fmla="*/ 0 h 25264"/>
              <a:gd name="connsiteX2" fmla="*/ 3197 w 3197"/>
              <a:gd name="connsiteY2" fmla="*/ 25264 h 25264"/>
              <a:gd name="connsiteX3" fmla="*/ 0 w 3197"/>
              <a:gd name="connsiteY3" fmla="*/ 25264 h 25264"/>
              <a:gd name="connsiteX4" fmla="*/ 0 w 3197"/>
              <a:gd name="connsiteY4" fmla="*/ 0 h 25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7" h="25264">
                <a:moveTo>
                  <a:pt x="0" y="0"/>
                </a:moveTo>
                <a:lnTo>
                  <a:pt x="3197" y="0"/>
                </a:lnTo>
                <a:lnTo>
                  <a:pt x="3197" y="25264"/>
                </a:lnTo>
                <a:lnTo>
                  <a:pt x="0" y="25264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26" name="Forma libre: Forma 25">
            <a:extLst>
              <a:ext uri="{FF2B5EF4-FFF2-40B4-BE49-F238E27FC236}">
                <a16:creationId xmlns:a16="http://schemas.microsoft.com/office/drawing/2014/main" id="{FE8ACF66-A148-4D4F-A35C-837CDC6B154D}"/>
              </a:ext>
            </a:extLst>
          </p:cNvPr>
          <p:cNvSpPr/>
          <p:nvPr userDrawn="1"/>
        </p:nvSpPr>
        <p:spPr>
          <a:xfrm>
            <a:off x="12193179" y="4682093"/>
            <a:ext cx="3197" cy="25264"/>
          </a:xfrm>
          <a:custGeom>
            <a:avLst/>
            <a:gdLst>
              <a:gd name="connsiteX0" fmla="*/ 0 w 3197"/>
              <a:gd name="connsiteY0" fmla="*/ 0 h 25264"/>
              <a:gd name="connsiteX1" fmla="*/ 3197 w 3197"/>
              <a:gd name="connsiteY1" fmla="*/ 0 h 25264"/>
              <a:gd name="connsiteX2" fmla="*/ 3197 w 3197"/>
              <a:gd name="connsiteY2" fmla="*/ 25264 h 25264"/>
              <a:gd name="connsiteX3" fmla="*/ 0 w 3197"/>
              <a:gd name="connsiteY3" fmla="*/ 25264 h 25264"/>
              <a:gd name="connsiteX4" fmla="*/ 0 w 3197"/>
              <a:gd name="connsiteY4" fmla="*/ 0 h 25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7" h="25264">
                <a:moveTo>
                  <a:pt x="0" y="0"/>
                </a:moveTo>
                <a:lnTo>
                  <a:pt x="3197" y="0"/>
                </a:lnTo>
                <a:lnTo>
                  <a:pt x="3197" y="25264"/>
                </a:lnTo>
                <a:lnTo>
                  <a:pt x="0" y="25264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28" name="Marcador de texto 26">
            <a:extLst>
              <a:ext uri="{FF2B5EF4-FFF2-40B4-BE49-F238E27FC236}">
                <a16:creationId xmlns:a16="http://schemas.microsoft.com/office/drawing/2014/main" id="{5F10B1F7-5633-4C8B-A868-72D9C782CBA6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811115" y="2374900"/>
            <a:ext cx="4565650" cy="701675"/>
          </a:xfrm>
        </p:spPr>
        <p:txBody>
          <a:bodyPr rtlCol="0">
            <a:no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1" name="Marcador de texto 29">
            <a:extLst>
              <a:ext uri="{FF2B5EF4-FFF2-40B4-BE49-F238E27FC236}">
                <a16:creationId xmlns:a16="http://schemas.microsoft.com/office/drawing/2014/main" id="{CBA9BCD0-48BA-4D5B-8871-61204EACE422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811115" y="3165301"/>
            <a:ext cx="4583113" cy="689525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Gráfico 33">
            <a:extLst>
              <a:ext uri="{FF2B5EF4-FFF2-40B4-BE49-F238E27FC236}">
                <a16:creationId xmlns:a16="http://schemas.microsoft.com/office/drawing/2014/main" id="{38956B41-4EE0-4C7C-8436-027F5DE8B1BC}"/>
              </a:ext>
            </a:extLst>
          </p:cNvPr>
          <p:cNvSpPr/>
          <p:nvPr userDrawn="1"/>
        </p:nvSpPr>
        <p:spPr>
          <a:xfrm>
            <a:off x="887581" y="2045662"/>
            <a:ext cx="4464000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33" name="Forma libre: Forma 32">
            <a:extLst>
              <a:ext uri="{FF2B5EF4-FFF2-40B4-BE49-F238E27FC236}">
                <a16:creationId xmlns:a16="http://schemas.microsoft.com/office/drawing/2014/main" id="{E08687FC-7322-4F20-9769-1ECF4296A96E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0FCCDE26-7222-4C1B-884A-0FAE84FA57D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060FE1F-0BC9-1909-58F7-4B177A85A8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" y="5854652"/>
            <a:ext cx="1659368" cy="8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862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 con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Elipse 47">
            <a:extLst>
              <a:ext uri="{FF2B5EF4-FFF2-40B4-BE49-F238E27FC236}">
                <a16:creationId xmlns:a16="http://schemas.microsoft.com/office/drawing/2014/main" id="{6F44C9A9-0E74-4918-9B66-273196D2956C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49" name="Gráfico 12">
            <a:extLst>
              <a:ext uri="{FF2B5EF4-FFF2-40B4-BE49-F238E27FC236}">
                <a16:creationId xmlns:a16="http://schemas.microsoft.com/office/drawing/2014/main" id="{4FD74D9D-1BEE-4A13-ABAA-5FBA5C4D1BFA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781050"/>
            <a:ext cx="10515600" cy="676275"/>
          </a:xfrm>
        </p:spPr>
        <p:txBody>
          <a:bodyPr rtlCol="0" anchor="b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es-MX" noProof="0" dirty="0"/>
              <a:t>COMPARACIÓN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DFDBBD-D278-4F5A-BD28-172F5B157E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1311" y="2959593"/>
            <a:ext cx="4365625" cy="365125"/>
          </a:xfrm>
        </p:spPr>
        <p:txBody>
          <a:bodyPr rtlCol="0">
            <a:normAutofit/>
          </a:bodyPr>
          <a:lstStyle>
            <a:lvl1pPr marL="0" indent="0">
              <a:buNone/>
              <a:defRPr sz="25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MX" noProof="0" dirty="0"/>
              <a:t>TÍTULO DE LA SECCIÓN 1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DD.MM.20XX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17" name="Marcador de texto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0066" y="1898650"/>
            <a:ext cx="10515599" cy="70167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Gráfico 19">
            <a:extLst>
              <a:ext uri="{FF2B5EF4-FFF2-40B4-BE49-F238E27FC236}">
                <a16:creationId xmlns:a16="http://schemas.microsoft.com/office/drawing/2014/main" id="{258EB2BC-F42B-4177-83EB-F2D2BF76129C}"/>
              </a:ext>
            </a:extLst>
          </p:cNvPr>
          <p:cNvSpPr/>
          <p:nvPr userDrawn="1"/>
        </p:nvSpPr>
        <p:spPr>
          <a:xfrm>
            <a:off x="3019044" y="1583026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B971AAD9-2660-4922-9B41-C45976A31C4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973985" y="2959593"/>
            <a:ext cx="4365625" cy="365125"/>
          </a:xfrm>
        </p:spPr>
        <p:txBody>
          <a:bodyPr rtlCol="0">
            <a:normAutofit/>
          </a:bodyPr>
          <a:lstStyle>
            <a:lvl1pPr marL="0" indent="0">
              <a:buNone/>
              <a:defRPr sz="25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MX" noProof="0" dirty="0"/>
              <a:t>TÍTULO DE LA SECCIÓN 2</a:t>
            </a:r>
          </a:p>
        </p:txBody>
      </p:sp>
      <p:sp>
        <p:nvSpPr>
          <p:cNvPr id="28" name="Marcador de texto 26">
            <a:extLst>
              <a:ext uri="{FF2B5EF4-FFF2-40B4-BE49-F238E27FC236}">
                <a16:creationId xmlns:a16="http://schemas.microsoft.com/office/drawing/2014/main" id="{D0525F80-1CD7-406E-A2B0-ACB0CD78A3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1311" y="3294245"/>
            <a:ext cx="4365625" cy="2333625"/>
          </a:xfrm>
        </p:spPr>
        <p:txBody>
          <a:bodyPr rtlCol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0" name="Marcador de texto 26">
            <a:extLst>
              <a:ext uri="{FF2B5EF4-FFF2-40B4-BE49-F238E27FC236}">
                <a16:creationId xmlns:a16="http://schemas.microsoft.com/office/drawing/2014/main" id="{527B617A-AB11-44E9-B2E2-53B7F35CD9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73985" y="3294245"/>
            <a:ext cx="4365625" cy="2333625"/>
          </a:xfrm>
        </p:spPr>
        <p:txBody>
          <a:bodyPr rtlCol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41" name="Gráfico 39">
            <a:extLst>
              <a:ext uri="{FF2B5EF4-FFF2-40B4-BE49-F238E27FC236}">
                <a16:creationId xmlns:a16="http://schemas.microsoft.com/office/drawing/2014/main" id="{F4C9083C-573A-4951-8064-8A2074E45857}"/>
              </a:ext>
            </a:extLst>
          </p:cNvPr>
          <p:cNvGrpSpPr/>
          <p:nvPr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E24D028E-B0C2-46BA-B6A7-734B26FEA98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1FD2C3DF-070C-48BB-8EC1-3FE31FCD20DC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F503CC8C-61AD-4DAB-B26E-509EA44669D4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5" name="Forma libre: Forma 44">
              <a:extLst>
                <a:ext uri="{FF2B5EF4-FFF2-40B4-BE49-F238E27FC236}">
                  <a16:creationId xmlns:a16="http://schemas.microsoft.com/office/drawing/2014/main" id="{8BB58BBD-BF4B-44A6-A2C8-AF1BE81D516E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602EAB3F-89ED-4532-AC15-8D6D0DE40EEB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714D3737-C4D1-46DE-A197-29A638CA1F30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6D8E6F1F-8D07-B104-69F5-AB99CB4F14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" y="5854652"/>
            <a:ext cx="1659368" cy="8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3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Elipse 47">
            <a:extLst>
              <a:ext uri="{FF2B5EF4-FFF2-40B4-BE49-F238E27FC236}">
                <a16:creationId xmlns:a16="http://schemas.microsoft.com/office/drawing/2014/main" id="{6BE8D45D-1E08-4F59-96CC-EA53D7CA6AB0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49" name="Gráfico 12">
            <a:extLst>
              <a:ext uri="{FF2B5EF4-FFF2-40B4-BE49-F238E27FC236}">
                <a16:creationId xmlns:a16="http://schemas.microsoft.com/office/drawing/2014/main" id="{8E968353-82DA-42A2-88B6-AEFCF124AF4E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42753" y="1474969"/>
            <a:ext cx="4395258" cy="676275"/>
          </a:xfrm>
        </p:spPr>
        <p:txBody>
          <a:bodyPr rtlCol="0" anchor="b">
            <a:normAutofit/>
          </a:bodyPr>
          <a:lstStyle>
            <a:lvl1pPr algn="l">
              <a:defRPr sz="4000"/>
            </a:lvl1pPr>
          </a:lstStyle>
          <a:p>
            <a:pPr rtl="0"/>
            <a:r>
              <a:rPr lang="es-MX" noProof="0" dirty="0"/>
              <a:t>DIAPOSITIVA CON GRÁFICO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DD.MM.20XX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17" name="Marcador de texto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49889" y="2592569"/>
            <a:ext cx="5630885" cy="701675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B971AAD9-2660-4922-9B41-C45976A31C4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26385" y="3719427"/>
            <a:ext cx="1597889" cy="365125"/>
          </a:xfrm>
        </p:spPr>
        <p:txBody>
          <a:bodyPr rtlCol="0"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MX" noProof="0" dirty="0"/>
              <a:t>30%</a:t>
            </a:r>
          </a:p>
        </p:txBody>
      </p:sp>
      <p:sp>
        <p:nvSpPr>
          <p:cNvPr id="30" name="Marcador de texto 26">
            <a:extLst>
              <a:ext uri="{FF2B5EF4-FFF2-40B4-BE49-F238E27FC236}">
                <a16:creationId xmlns:a16="http://schemas.microsoft.com/office/drawing/2014/main" id="{527B617A-AB11-44E9-B2E2-53B7F35CD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6386" y="3990708"/>
            <a:ext cx="1597889" cy="365125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MX" noProof="0" dirty="0"/>
              <a:t>Título de la categoría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E9080FED-3BFC-4CCC-8B5A-A2942CA5CF36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126410" y="4451492"/>
            <a:ext cx="1597889" cy="365125"/>
          </a:xfrm>
        </p:spPr>
        <p:txBody>
          <a:bodyPr rtlCol="0"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MX" noProof="0" dirty="0"/>
              <a:t>10%</a:t>
            </a:r>
          </a:p>
        </p:txBody>
      </p:sp>
      <p:sp>
        <p:nvSpPr>
          <p:cNvPr id="25" name="Marcador de texto 26">
            <a:extLst>
              <a:ext uri="{FF2B5EF4-FFF2-40B4-BE49-F238E27FC236}">
                <a16:creationId xmlns:a16="http://schemas.microsoft.com/office/drawing/2014/main" id="{E7EC8229-D712-4FD1-990B-9212FC211A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26411" y="4722773"/>
            <a:ext cx="1597889" cy="365125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MX" noProof="0" dirty="0"/>
              <a:t>Título de la categoría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27341020-DCB7-4CC5-BE55-AAAF421822E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065899" y="3719427"/>
            <a:ext cx="1597889" cy="365125"/>
          </a:xfrm>
        </p:spPr>
        <p:txBody>
          <a:bodyPr rtlCol="0"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MX" noProof="0" dirty="0"/>
              <a:t>25%</a:t>
            </a:r>
          </a:p>
        </p:txBody>
      </p:sp>
      <p:sp>
        <p:nvSpPr>
          <p:cNvPr id="29" name="Marcador de texto 26">
            <a:extLst>
              <a:ext uri="{FF2B5EF4-FFF2-40B4-BE49-F238E27FC236}">
                <a16:creationId xmlns:a16="http://schemas.microsoft.com/office/drawing/2014/main" id="{B1896019-AE20-47E2-AA66-ED9D16B2DA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5900" y="3990708"/>
            <a:ext cx="1597889" cy="365125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MX" noProof="0" dirty="0"/>
              <a:t>Título de la categoría</a:t>
            </a:r>
          </a:p>
        </p:txBody>
      </p:sp>
      <p:sp>
        <p:nvSpPr>
          <p:cNvPr id="32" name="Marcador de texto 2">
            <a:extLst>
              <a:ext uri="{FF2B5EF4-FFF2-40B4-BE49-F238E27FC236}">
                <a16:creationId xmlns:a16="http://schemas.microsoft.com/office/drawing/2014/main" id="{212C49D2-92E0-4567-8BD4-9B8FC053670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065924" y="4451492"/>
            <a:ext cx="1597889" cy="365125"/>
          </a:xfrm>
        </p:spPr>
        <p:txBody>
          <a:bodyPr rtlCol="0"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MX" noProof="0" dirty="0"/>
              <a:t>10%</a:t>
            </a:r>
          </a:p>
        </p:txBody>
      </p:sp>
      <p:sp>
        <p:nvSpPr>
          <p:cNvPr id="33" name="Marcador de texto 26">
            <a:extLst>
              <a:ext uri="{FF2B5EF4-FFF2-40B4-BE49-F238E27FC236}">
                <a16:creationId xmlns:a16="http://schemas.microsoft.com/office/drawing/2014/main" id="{6B5DA211-72E1-4B00-AA61-980CE5A345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5925" y="4722773"/>
            <a:ext cx="1597889" cy="365125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MX" noProof="0" dirty="0"/>
              <a:t>Título de la categoría</a:t>
            </a:r>
          </a:p>
        </p:txBody>
      </p:sp>
      <p:sp>
        <p:nvSpPr>
          <p:cNvPr id="35" name="Marcador de texto 2">
            <a:extLst>
              <a:ext uri="{FF2B5EF4-FFF2-40B4-BE49-F238E27FC236}">
                <a16:creationId xmlns:a16="http://schemas.microsoft.com/office/drawing/2014/main" id="{A7CF7C63-619A-46EE-AF36-FCA26441A0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0005413" y="3719427"/>
            <a:ext cx="1597889" cy="365125"/>
          </a:xfrm>
        </p:spPr>
        <p:txBody>
          <a:bodyPr rtlCol="0"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MX" noProof="0" dirty="0"/>
              <a:t>20%</a:t>
            </a:r>
          </a:p>
        </p:txBody>
      </p:sp>
      <p:sp>
        <p:nvSpPr>
          <p:cNvPr id="36" name="Marcador de texto 26">
            <a:extLst>
              <a:ext uri="{FF2B5EF4-FFF2-40B4-BE49-F238E27FC236}">
                <a16:creationId xmlns:a16="http://schemas.microsoft.com/office/drawing/2014/main" id="{92E0EA61-C10D-4760-B03F-F27BCF1FC24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05414" y="3990708"/>
            <a:ext cx="1597889" cy="365125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MX" noProof="0" dirty="0"/>
              <a:t>Título de la categoría</a:t>
            </a:r>
          </a:p>
        </p:txBody>
      </p:sp>
      <p:sp>
        <p:nvSpPr>
          <p:cNvPr id="38" name="Marcador de texto 2">
            <a:extLst>
              <a:ext uri="{FF2B5EF4-FFF2-40B4-BE49-F238E27FC236}">
                <a16:creationId xmlns:a16="http://schemas.microsoft.com/office/drawing/2014/main" id="{1A3A14FA-D9E9-4000-B30C-14CADBFE48F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05438" y="4451492"/>
            <a:ext cx="1597889" cy="365125"/>
          </a:xfrm>
        </p:spPr>
        <p:txBody>
          <a:bodyPr rtlCol="0"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MX" noProof="0" dirty="0"/>
              <a:t>5%</a:t>
            </a:r>
          </a:p>
        </p:txBody>
      </p:sp>
      <p:sp>
        <p:nvSpPr>
          <p:cNvPr id="39" name="Marcador de texto 26">
            <a:extLst>
              <a:ext uri="{FF2B5EF4-FFF2-40B4-BE49-F238E27FC236}">
                <a16:creationId xmlns:a16="http://schemas.microsoft.com/office/drawing/2014/main" id="{0FBCB607-92E0-4206-871B-10CAEB3377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05439" y="4722773"/>
            <a:ext cx="1597889" cy="365125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es-MX" noProof="0" dirty="0"/>
              <a:t>Título de la categoría</a:t>
            </a:r>
          </a:p>
        </p:txBody>
      </p:sp>
      <p:sp>
        <p:nvSpPr>
          <p:cNvPr id="19" name="Marcador de posición de gráfico 18">
            <a:extLst>
              <a:ext uri="{FF2B5EF4-FFF2-40B4-BE49-F238E27FC236}">
                <a16:creationId xmlns:a16="http://schemas.microsoft.com/office/drawing/2014/main" id="{08CD548A-F4DA-41C7-BC55-620C696D5A6A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911225" y="908050"/>
            <a:ext cx="4284663" cy="4365625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  <a:endParaRPr lang="es-MX" noProof="0" dirty="0"/>
          </a:p>
        </p:txBody>
      </p:sp>
      <p:grpSp>
        <p:nvGrpSpPr>
          <p:cNvPr id="41" name="Gráfico 39">
            <a:extLst>
              <a:ext uri="{FF2B5EF4-FFF2-40B4-BE49-F238E27FC236}">
                <a16:creationId xmlns:a16="http://schemas.microsoft.com/office/drawing/2014/main" id="{D0A213E0-4DC9-4F6A-98B8-21DE9AE2D9B0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24312820-32BB-4DFC-B775-2031DE03F33E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F9B4581F-B122-40B8-BE37-64894A713B38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C7CF8C75-A610-43BA-923F-335A6051357D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5" name="Forma libre: Forma 44">
              <a:extLst>
                <a:ext uri="{FF2B5EF4-FFF2-40B4-BE49-F238E27FC236}">
                  <a16:creationId xmlns:a16="http://schemas.microsoft.com/office/drawing/2014/main" id="{56793F9B-5B71-414E-9CB2-2B76F8308871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9807DE94-0E8D-4E1B-A7D2-E0F91AF2E54C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7BC592BA-C191-49B5-8F41-8E14CFFDAC40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</p:grpSp>
      <p:sp>
        <p:nvSpPr>
          <p:cNvPr id="3" name="Gráfico 50">
            <a:extLst>
              <a:ext uri="{FF2B5EF4-FFF2-40B4-BE49-F238E27FC236}">
                <a16:creationId xmlns:a16="http://schemas.microsoft.com/office/drawing/2014/main" id="{33AA43FA-C2DC-406C-BFE6-A2A804112236}"/>
              </a:ext>
            </a:extLst>
          </p:cNvPr>
          <p:cNvSpPr/>
          <p:nvPr/>
        </p:nvSpPr>
        <p:spPr>
          <a:xfrm>
            <a:off x="5731818" y="2267879"/>
            <a:ext cx="3996000" cy="165305"/>
          </a:xfrm>
          <a:custGeom>
            <a:avLst/>
            <a:gdLst>
              <a:gd name="connsiteX0" fmla="*/ 2957222 w 3016875"/>
              <a:gd name="connsiteY0" fmla="*/ 159503 h 165304"/>
              <a:gd name="connsiteX1" fmla="*/ 71329 w 3016875"/>
              <a:gd name="connsiteY1" fmla="*/ 159503 h 165304"/>
              <a:gd name="connsiteX2" fmla="*/ 9059 w 3016875"/>
              <a:gd name="connsiteY2" fmla="*/ 84480 h 165304"/>
              <a:gd name="connsiteX3" fmla="*/ 9059 w 3016875"/>
              <a:gd name="connsiteY3" fmla="*/ 84480 h 165304"/>
              <a:gd name="connsiteX4" fmla="*/ 71329 w 3016875"/>
              <a:gd name="connsiteY4" fmla="*/ 10729 h 165304"/>
              <a:gd name="connsiteX5" fmla="*/ 2956149 w 3016875"/>
              <a:gd name="connsiteY5" fmla="*/ 10729 h 165304"/>
              <a:gd name="connsiteX6" fmla="*/ 3018419 w 3016875"/>
              <a:gd name="connsiteY6" fmla="*/ 84480 h 165304"/>
              <a:gd name="connsiteX7" fmla="*/ 3018419 w 3016875"/>
              <a:gd name="connsiteY7" fmla="*/ 84480 h 165304"/>
              <a:gd name="connsiteX8" fmla="*/ 2957222 w 3016875"/>
              <a:gd name="connsiteY8" fmla="*/ 159503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6875" h="165304">
                <a:moveTo>
                  <a:pt x="2957222" y="159503"/>
                </a:moveTo>
                <a:lnTo>
                  <a:pt x="71329" y="159503"/>
                </a:lnTo>
                <a:cubicBezTo>
                  <a:pt x="36973" y="159503"/>
                  <a:pt x="9059" y="125171"/>
                  <a:pt x="9059" y="84480"/>
                </a:cubicBezTo>
                <a:lnTo>
                  <a:pt x="9059" y="84480"/>
                </a:lnTo>
                <a:cubicBezTo>
                  <a:pt x="9059" y="43790"/>
                  <a:pt x="36973" y="10729"/>
                  <a:pt x="71329" y="10729"/>
                </a:cubicBezTo>
                <a:lnTo>
                  <a:pt x="2956149" y="10729"/>
                </a:lnTo>
                <a:cubicBezTo>
                  <a:pt x="2990505" y="10729"/>
                  <a:pt x="3018419" y="43790"/>
                  <a:pt x="3018419" y="84480"/>
                </a:cubicBezTo>
                <a:lnTo>
                  <a:pt x="3018419" y="84480"/>
                </a:lnTo>
                <a:cubicBezTo>
                  <a:pt x="3019492" y="125171"/>
                  <a:pt x="2991578" y="159503"/>
                  <a:pt x="2957222" y="159503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07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8F26D52-C19E-3B0C-801A-C69EE6A20E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" y="5854652"/>
            <a:ext cx="1659368" cy="8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55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Elipse 51">
            <a:extLst>
              <a:ext uri="{FF2B5EF4-FFF2-40B4-BE49-F238E27FC236}">
                <a16:creationId xmlns:a16="http://schemas.microsoft.com/office/drawing/2014/main" id="{F21AF1E2-466C-487E-86AF-CA6FFFCA2720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53" name="Gráfico 12">
            <a:extLst>
              <a:ext uri="{FF2B5EF4-FFF2-40B4-BE49-F238E27FC236}">
                <a16:creationId xmlns:a16="http://schemas.microsoft.com/office/drawing/2014/main" id="{531F1BC1-79BD-45BA-B27E-7A2C62A65EC9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744" y="2134675"/>
            <a:ext cx="3403308" cy="676275"/>
          </a:xfrm>
        </p:spPr>
        <p:txBody>
          <a:bodyPr rtlCol="0" anchor="b">
            <a:normAutofit/>
          </a:bodyPr>
          <a:lstStyle>
            <a:lvl1pPr algn="l">
              <a:defRPr sz="4000"/>
            </a:lvl1pPr>
          </a:lstStyle>
          <a:p>
            <a:pPr rtl="0"/>
            <a:r>
              <a:rPr lang="es-MX" noProof="0" dirty="0"/>
              <a:t>DIAPOSITIVA DE TABLA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DD.MM.20XX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17" name="Marcador de texto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9405" y="3252275"/>
            <a:ext cx="3396171" cy="1846732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posición de tabla 17">
            <a:extLst>
              <a:ext uri="{FF2B5EF4-FFF2-40B4-BE49-F238E27FC236}">
                <a16:creationId xmlns:a16="http://schemas.microsoft.com/office/drawing/2014/main" id="{3AF64257-E00C-4FE5-925B-A78911D1D2B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724400" y="1493214"/>
            <a:ext cx="6561138" cy="3847135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tabla</a:t>
            </a:r>
            <a:endParaRPr lang="es-MX" noProof="0" dirty="0"/>
          </a:p>
        </p:txBody>
      </p:sp>
      <p:grpSp>
        <p:nvGrpSpPr>
          <p:cNvPr id="45" name="Gráfico 39">
            <a:extLst>
              <a:ext uri="{FF2B5EF4-FFF2-40B4-BE49-F238E27FC236}">
                <a16:creationId xmlns:a16="http://schemas.microsoft.com/office/drawing/2014/main" id="{2B29CFAD-7DFA-43C8-BC78-F666303C4A65}"/>
              </a:ext>
            </a:extLst>
          </p:cNvPr>
          <p:cNvGrpSpPr/>
          <p:nvPr userDrawn="1"/>
        </p:nvGrpSpPr>
        <p:grpSpPr>
          <a:xfrm flipH="1">
            <a:off x="-3477" y="0"/>
            <a:ext cx="2188800" cy="1933794"/>
            <a:chOff x="10003200" y="0"/>
            <a:chExt cx="2188800" cy="1933794"/>
          </a:xfrm>
        </p:grpSpPr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7709766F-07C2-47E0-94AE-482595B63D17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29F02ED7-2803-4FC7-8D17-DB9AF81B2257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8" name="Forma libre: Forma 47">
              <a:extLst>
                <a:ext uri="{FF2B5EF4-FFF2-40B4-BE49-F238E27FC236}">
                  <a16:creationId xmlns:a16="http://schemas.microsoft.com/office/drawing/2014/main" id="{6715C276-3245-4E87-976F-10DC35AF0E89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9" name="Forma libre: Shape 48">
              <a:extLst>
                <a:ext uri="{FF2B5EF4-FFF2-40B4-BE49-F238E27FC236}">
                  <a16:creationId xmlns:a16="http://schemas.microsoft.com/office/drawing/2014/main" id="{4D4F9402-D548-4465-B31D-5C89E49D8F2D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64C16800-96DF-4B5C-B15B-EB27E1475EB3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51" name="Forma libre: Forma 50">
              <a:extLst>
                <a:ext uri="{FF2B5EF4-FFF2-40B4-BE49-F238E27FC236}">
                  <a16:creationId xmlns:a16="http://schemas.microsoft.com/office/drawing/2014/main" id="{AE9DBF7F-0A02-4C85-A28D-3C88C66B3486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</p:grpSp>
      <p:sp>
        <p:nvSpPr>
          <p:cNvPr id="3" name="Gráfico 54">
            <a:extLst>
              <a:ext uri="{FF2B5EF4-FFF2-40B4-BE49-F238E27FC236}">
                <a16:creationId xmlns:a16="http://schemas.microsoft.com/office/drawing/2014/main" id="{A1820133-6B1B-4297-8A79-2E89B2C7199B}"/>
              </a:ext>
            </a:extLst>
          </p:cNvPr>
          <p:cNvSpPr/>
          <p:nvPr/>
        </p:nvSpPr>
        <p:spPr>
          <a:xfrm>
            <a:off x="895660" y="2912161"/>
            <a:ext cx="2781900" cy="165305"/>
          </a:xfrm>
          <a:custGeom>
            <a:avLst/>
            <a:gdLst>
              <a:gd name="connsiteX0" fmla="*/ 2726257 w 2781900"/>
              <a:gd name="connsiteY0" fmla="*/ 158686 h 165304"/>
              <a:gd name="connsiteX1" fmla="*/ 65137 w 2781900"/>
              <a:gd name="connsiteY1" fmla="*/ 158686 h 165304"/>
              <a:gd name="connsiteX2" fmla="*/ 7717 w 2781900"/>
              <a:gd name="connsiteY2" fmla="*/ 83663 h 165304"/>
              <a:gd name="connsiteX3" fmla="*/ 7717 w 2781900"/>
              <a:gd name="connsiteY3" fmla="*/ 83663 h 165304"/>
              <a:gd name="connsiteX4" fmla="*/ 65137 w 2781900"/>
              <a:gd name="connsiteY4" fmla="*/ 9911 h 165304"/>
              <a:gd name="connsiteX5" fmla="*/ 2725267 w 2781900"/>
              <a:gd name="connsiteY5" fmla="*/ 9911 h 165304"/>
              <a:gd name="connsiteX6" fmla="*/ 2782687 w 2781900"/>
              <a:gd name="connsiteY6" fmla="*/ 83663 h 165304"/>
              <a:gd name="connsiteX7" fmla="*/ 2782687 w 2781900"/>
              <a:gd name="connsiteY7" fmla="*/ 83663 h 165304"/>
              <a:gd name="connsiteX8" fmla="*/ 2726257 w 2781900"/>
              <a:gd name="connsiteY8" fmla="*/ 158686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81900" h="165304">
                <a:moveTo>
                  <a:pt x="2726257" y="158686"/>
                </a:moveTo>
                <a:lnTo>
                  <a:pt x="65137" y="158686"/>
                </a:lnTo>
                <a:cubicBezTo>
                  <a:pt x="33457" y="158686"/>
                  <a:pt x="7717" y="124353"/>
                  <a:pt x="7717" y="83663"/>
                </a:cubicBezTo>
                <a:lnTo>
                  <a:pt x="7717" y="83663"/>
                </a:lnTo>
                <a:cubicBezTo>
                  <a:pt x="7717" y="42972"/>
                  <a:pt x="33457" y="9911"/>
                  <a:pt x="65137" y="9911"/>
                </a:cubicBezTo>
                <a:lnTo>
                  <a:pt x="2725267" y="9911"/>
                </a:lnTo>
                <a:cubicBezTo>
                  <a:pt x="2756947" y="9911"/>
                  <a:pt x="2782687" y="42972"/>
                  <a:pt x="2782687" y="83663"/>
                </a:cubicBezTo>
                <a:lnTo>
                  <a:pt x="2782687" y="83663"/>
                </a:lnTo>
                <a:cubicBezTo>
                  <a:pt x="2783677" y="124353"/>
                  <a:pt x="2757937" y="158686"/>
                  <a:pt x="2726257" y="1586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89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400D08B-1542-9CDE-2E95-6C187FB364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" y="5854652"/>
            <a:ext cx="1659368" cy="8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20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Marcador de posición de imagen 50">
            <a:extLst>
              <a:ext uri="{FF2B5EF4-FFF2-40B4-BE49-F238E27FC236}">
                <a16:creationId xmlns:a16="http://schemas.microsoft.com/office/drawing/2014/main" id="{3767FEE9-DC75-4465-BA6B-06E00CF6A27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0660" cy="5569499"/>
          </a:xfrm>
          <a:custGeom>
            <a:avLst/>
            <a:gdLst>
              <a:gd name="connsiteX0" fmla="*/ 0 w 12190660"/>
              <a:gd name="connsiteY0" fmla="*/ 0 h 5569499"/>
              <a:gd name="connsiteX1" fmla="*/ 10154649 w 12190660"/>
              <a:gd name="connsiteY1" fmla="*/ 0 h 5569499"/>
              <a:gd name="connsiteX2" fmla="*/ 7708389 w 12190660"/>
              <a:gd name="connsiteY2" fmla="*/ 1206619 h 5569499"/>
              <a:gd name="connsiteX3" fmla="*/ 7464525 w 12190660"/>
              <a:gd name="connsiteY3" fmla="*/ 1403488 h 5569499"/>
              <a:gd name="connsiteX4" fmla="*/ 7401019 w 12190660"/>
              <a:gd name="connsiteY4" fmla="*/ 1973774 h 5569499"/>
              <a:gd name="connsiteX5" fmla="*/ 7409910 w 12190660"/>
              <a:gd name="connsiteY5" fmla="*/ 1991556 h 5569499"/>
              <a:gd name="connsiteX6" fmla="*/ 7600428 w 12190660"/>
              <a:gd name="connsiteY6" fmla="*/ 2204937 h 5569499"/>
              <a:gd name="connsiteX7" fmla="*/ 7891287 w 12190660"/>
              <a:gd name="connsiteY7" fmla="*/ 2295116 h 5569499"/>
              <a:gd name="connsiteX8" fmla="*/ 8205008 w 12190660"/>
              <a:gd name="connsiteY8" fmla="*/ 2213828 h 5569499"/>
              <a:gd name="connsiteX9" fmla="*/ 12190660 w 12190660"/>
              <a:gd name="connsiteY9" fmla="*/ 248944 h 5569499"/>
              <a:gd name="connsiteX10" fmla="*/ 12190660 w 12190660"/>
              <a:gd name="connsiteY10" fmla="*/ 449624 h 5569499"/>
              <a:gd name="connsiteX11" fmla="*/ 10261340 w 12190660"/>
              <a:gd name="connsiteY11" fmla="*/ 1400948 h 5569499"/>
              <a:gd name="connsiteX12" fmla="*/ 9931108 w 12190660"/>
              <a:gd name="connsiteY12" fmla="*/ 1680375 h 5569499"/>
              <a:gd name="connsiteX13" fmla="*/ 9879032 w 12190660"/>
              <a:gd name="connsiteY13" fmla="*/ 2528819 h 5569499"/>
              <a:gd name="connsiteX14" fmla="*/ 9893004 w 12190660"/>
              <a:gd name="connsiteY14" fmla="*/ 2556762 h 5569499"/>
              <a:gd name="connsiteX15" fmla="*/ 10172431 w 12190660"/>
              <a:gd name="connsiteY15" fmla="*/ 2886994 h 5569499"/>
              <a:gd name="connsiteX16" fmla="*/ 10618245 w 12190660"/>
              <a:gd name="connsiteY16" fmla="*/ 3041950 h 5569499"/>
              <a:gd name="connsiteX17" fmla="*/ 11019604 w 12190660"/>
              <a:gd name="connsiteY17" fmla="*/ 2939069 h 5569499"/>
              <a:gd name="connsiteX18" fmla="*/ 12190660 w 12190660"/>
              <a:gd name="connsiteY18" fmla="*/ 2362433 h 5569499"/>
              <a:gd name="connsiteX19" fmla="*/ 12190660 w 12190660"/>
              <a:gd name="connsiteY19" fmla="*/ 5569499 h 5569499"/>
              <a:gd name="connsiteX20" fmla="*/ 0 w 12190660"/>
              <a:gd name="connsiteY20" fmla="*/ 5569499 h 5569499"/>
              <a:gd name="connsiteX21" fmla="*/ 0 w 12190660"/>
              <a:gd name="connsiteY21" fmla="*/ 4872200 h 5569499"/>
              <a:gd name="connsiteX22" fmla="*/ 1553363 w 12190660"/>
              <a:gd name="connsiteY22" fmla="*/ 4107584 h 5569499"/>
              <a:gd name="connsiteX23" fmla="*/ 1698157 w 12190660"/>
              <a:gd name="connsiteY23" fmla="*/ 3842128 h 5569499"/>
              <a:gd name="connsiteX24" fmla="*/ 1695617 w 12190660"/>
              <a:gd name="connsiteY24" fmla="*/ 3835778 h 5569499"/>
              <a:gd name="connsiteX25" fmla="*/ 1693077 w 12190660"/>
              <a:gd name="connsiteY25" fmla="*/ 3831968 h 5569499"/>
              <a:gd name="connsiteX26" fmla="*/ 2488175 w 12190660"/>
              <a:gd name="connsiteY26" fmla="*/ 3439499 h 5569499"/>
              <a:gd name="connsiteX27" fmla="*/ 2795545 w 12190660"/>
              <a:gd name="connsiteY27" fmla="*/ 2672343 h 5569499"/>
              <a:gd name="connsiteX28" fmla="*/ 2786654 w 12190660"/>
              <a:gd name="connsiteY28" fmla="*/ 2654561 h 5569499"/>
              <a:gd name="connsiteX29" fmla="*/ 1991556 w 12190660"/>
              <a:gd name="connsiteY29" fmla="*/ 2432290 h 5569499"/>
              <a:gd name="connsiteX30" fmla="*/ 0 w 12190660"/>
              <a:gd name="connsiteY30" fmla="*/ 3414096 h 5569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0660" h="5569499">
                <a:moveTo>
                  <a:pt x="0" y="0"/>
                </a:moveTo>
                <a:lnTo>
                  <a:pt x="10154649" y="0"/>
                </a:lnTo>
                <a:lnTo>
                  <a:pt x="7708389" y="1206619"/>
                </a:lnTo>
                <a:cubicBezTo>
                  <a:pt x="7703308" y="1210429"/>
                  <a:pt x="7569945" y="1276476"/>
                  <a:pt x="7464525" y="1403488"/>
                </a:cubicBezTo>
                <a:cubicBezTo>
                  <a:pt x="7365455" y="1522880"/>
                  <a:pt x="7275276" y="1718479"/>
                  <a:pt x="7401019" y="1973774"/>
                </a:cubicBezTo>
                <a:lnTo>
                  <a:pt x="7409910" y="1991556"/>
                </a:lnTo>
                <a:cubicBezTo>
                  <a:pt x="7412449" y="1996637"/>
                  <a:pt x="7472145" y="2117298"/>
                  <a:pt x="7600428" y="2204937"/>
                </a:cubicBezTo>
                <a:cubicBezTo>
                  <a:pt x="7669015" y="2251932"/>
                  <a:pt x="7766815" y="2295116"/>
                  <a:pt x="7891287" y="2295116"/>
                </a:cubicBezTo>
                <a:cubicBezTo>
                  <a:pt x="7981466" y="2295116"/>
                  <a:pt x="8085616" y="2272254"/>
                  <a:pt x="8205008" y="2213828"/>
                </a:cubicBezTo>
                <a:lnTo>
                  <a:pt x="12190660" y="248944"/>
                </a:lnTo>
                <a:lnTo>
                  <a:pt x="12190660" y="449624"/>
                </a:lnTo>
                <a:lnTo>
                  <a:pt x="10261340" y="1400948"/>
                </a:lnTo>
                <a:cubicBezTo>
                  <a:pt x="10253719" y="1404758"/>
                  <a:pt x="10070821" y="1496207"/>
                  <a:pt x="9931108" y="1680375"/>
                </a:cubicBezTo>
                <a:cubicBezTo>
                  <a:pt x="9801555" y="1853112"/>
                  <a:pt x="9687243" y="2138891"/>
                  <a:pt x="9879032" y="2528819"/>
                </a:cubicBezTo>
                <a:lnTo>
                  <a:pt x="9893004" y="2556762"/>
                </a:lnTo>
                <a:cubicBezTo>
                  <a:pt x="9896814" y="2564382"/>
                  <a:pt x="9988263" y="2747281"/>
                  <a:pt x="10172431" y="2886994"/>
                </a:cubicBezTo>
                <a:cubicBezTo>
                  <a:pt x="10277852" y="2967012"/>
                  <a:pt x="10427726" y="3041950"/>
                  <a:pt x="10618245" y="3041950"/>
                </a:cubicBezTo>
                <a:cubicBezTo>
                  <a:pt x="10736366" y="3041950"/>
                  <a:pt x="10869730" y="3012737"/>
                  <a:pt x="11019604" y="2939069"/>
                </a:cubicBezTo>
                <a:lnTo>
                  <a:pt x="12190660" y="2362433"/>
                </a:lnTo>
                <a:lnTo>
                  <a:pt x="12190660" y="5569499"/>
                </a:lnTo>
                <a:lnTo>
                  <a:pt x="0" y="5569499"/>
                </a:lnTo>
                <a:lnTo>
                  <a:pt x="0" y="4872200"/>
                </a:lnTo>
                <a:lnTo>
                  <a:pt x="1553363" y="4107584"/>
                </a:lnTo>
                <a:cubicBezTo>
                  <a:pt x="1553363" y="4107584"/>
                  <a:pt x="1775635" y="3998354"/>
                  <a:pt x="1698157" y="3842128"/>
                </a:cubicBezTo>
                <a:lnTo>
                  <a:pt x="1695617" y="3835778"/>
                </a:lnTo>
                <a:cubicBezTo>
                  <a:pt x="1695617" y="3835778"/>
                  <a:pt x="1694347" y="3834508"/>
                  <a:pt x="1693077" y="3831968"/>
                </a:cubicBezTo>
                <a:lnTo>
                  <a:pt x="2488175" y="3439499"/>
                </a:lnTo>
                <a:cubicBezTo>
                  <a:pt x="2493255" y="3435688"/>
                  <a:pt x="3036869" y="3161341"/>
                  <a:pt x="2795545" y="2672343"/>
                </a:cubicBezTo>
                <a:lnTo>
                  <a:pt x="2786654" y="2654561"/>
                </a:lnTo>
                <a:cubicBezTo>
                  <a:pt x="2784114" y="2649481"/>
                  <a:pt x="2536440" y="2163023"/>
                  <a:pt x="1991556" y="2432290"/>
                </a:cubicBezTo>
                <a:lnTo>
                  <a:pt x="0" y="3414096"/>
                </a:lnTo>
                <a:close/>
              </a:path>
            </a:pathLst>
          </a:custGeom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46" name="Forma libre: Forma 45">
            <a:extLst>
              <a:ext uri="{FF2B5EF4-FFF2-40B4-BE49-F238E27FC236}">
                <a16:creationId xmlns:a16="http://schemas.microsoft.com/office/drawing/2014/main" id="{3A0902BC-58E0-4395-9D80-6CF5CA0FAAB0}"/>
              </a:ext>
            </a:extLst>
          </p:cNvPr>
          <p:cNvSpPr/>
          <p:nvPr/>
        </p:nvSpPr>
        <p:spPr>
          <a:xfrm>
            <a:off x="7345849" y="-12701"/>
            <a:ext cx="4851878" cy="2298926"/>
          </a:xfrm>
          <a:custGeom>
            <a:avLst/>
            <a:gdLst>
              <a:gd name="connsiteX0" fmla="*/ 4844811 w 4851877"/>
              <a:gd name="connsiteY0" fmla="*/ 12701 h 2298926"/>
              <a:gd name="connsiteX1" fmla="*/ 2851985 w 4851877"/>
              <a:gd name="connsiteY1" fmla="*/ 12701 h 2298926"/>
              <a:gd name="connsiteX2" fmla="*/ 371430 w 4851877"/>
              <a:gd name="connsiteY2" fmla="*/ 1235832 h 2298926"/>
              <a:gd name="connsiteX3" fmla="*/ 72951 w 4851877"/>
              <a:gd name="connsiteY3" fmla="*/ 1977585 h 2298926"/>
              <a:gd name="connsiteX4" fmla="*/ 81842 w 4851877"/>
              <a:gd name="connsiteY4" fmla="*/ 1995367 h 2298926"/>
              <a:gd name="connsiteX5" fmla="*/ 851538 w 4851877"/>
              <a:gd name="connsiteY5" fmla="*/ 2210018 h 2298926"/>
              <a:gd name="connsiteX6" fmla="*/ 4844811 w 4851877"/>
              <a:gd name="connsiteY6" fmla="*/ 240054 h 2298926"/>
              <a:gd name="connsiteX7" fmla="*/ 4844811 w 4851877"/>
              <a:gd name="connsiteY7" fmla="*/ 12701 h 229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51877" h="2298926">
                <a:moveTo>
                  <a:pt x="4844811" y="12701"/>
                </a:moveTo>
                <a:lnTo>
                  <a:pt x="2851985" y="12701"/>
                </a:lnTo>
                <a:lnTo>
                  <a:pt x="371430" y="1235832"/>
                </a:lnTo>
                <a:cubicBezTo>
                  <a:pt x="371430" y="1235832"/>
                  <a:pt x="-163292" y="1500018"/>
                  <a:pt x="72951" y="1977585"/>
                </a:cubicBezTo>
                <a:lnTo>
                  <a:pt x="81842" y="1995367"/>
                </a:lnTo>
                <a:cubicBezTo>
                  <a:pt x="81842" y="1995367"/>
                  <a:pt x="316815" y="2472934"/>
                  <a:pt x="851538" y="2210018"/>
                </a:cubicBezTo>
                <a:lnTo>
                  <a:pt x="4844811" y="240054"/>
                </a:lnTo>
                <a:lnTo>
                  <a:pt x="484481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7" name="Forma libre: Forma 46">
            <a:extLst>
              <a:ext uri="{FF2B5EF4-FFF2-40B4-BE49-F238E27FC236}">
                <a16:creationId xmlns:a16="http://schemas.microsoft.com/office/drawing/2014/main" id="{5DCE3DA5-C000-4DAD-8FCD-9A285AB48C83}"/>
              </a:ext>
            </a:extLst>
          </p:cNvPr>
          <p:cNvSpPr/>
          <p:nvPr/>
        </p:nvSpPr>
        <p:spPr>
          <a:xfrm>
            <a:off x="9782306" y="458515"/>
            <a:ext cx="2413238" cy="2578354"/>
          </a:xfrm>
          <a:custGeom>
            <a:avLst/>
            <a:gdLst>
              <a:gd name="connsiteX0" fmla="*/ 2408354 w 2413237"/>
              <a:gd name="connsiteY0" fmla="*/ 12701 h 2578353"/>
              <a:gd name="connsiteX1" fmla="*/ 487924 w 2413237"/>
              <a:gd name="connsiteY1" fmla="*/ 960215 h 2578353"/>
              <a:gd name="connsiteX2" fmla="*/ 113238 w 2413237"/>
              <a:gd name="connsiteY2" fmla="*/ 2062683 h 2578353"/>
              <a:gd name="connsiteX3" fmla="*/ 127209 w 2413237"/>
              <a:gd name="connsiteY3" fmla="*/ 2090626 h 2578353"/>
              <a:gd name="connsiteX4" fmla="*/ 1229678 w 2413237"/>
              <a:gd name="connsiteY4" fmla="*/ 2465313 h 2578353"/>
              <a:gd name="connsiteX5" fmla="*/ 2408354 w 2413237"/>
              <a:gd name="connsiteY5" fmla="*/ 1883595 h 2578353"/>
              <a:gd name="connsiteX6" fmla="*/ 2408354 w 2413237"/>
              <a:gd name="connsiteY6" fmla="*/ 12701 h 2578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237" h="2578353">
                <a:moveTo>
                  <a:pt x="2408354" y="12701"/>
                </a:moveTo>
                <a:lnTo>
                  <a:pt x="487924" y="960215"/>
                </a:lnTo>
                <a:cubicBezTo>
                  <a:pt x="487924" y="960215"/>
                  <a:pt x="-250018" y="1324740"/>
                  <a:pt x="113238" y="2062683"/>
                </a:cubicBezTo>
                <a:lnTo>
                  <a:pt x="127209" y="2090626"/>
                </a:lnTo>
                <a:cubicBezTo>
                  <a:pt x="127209" y="2090626"/>
                  <a:pt x="491735" y="2828568"/>
                  <a:pt x="1229678" y="2465313"/>
                </a:cubicBezTo>
                <a:lnTo>
                  <a:pt x="2408354" y="1883595"/>
                </a:lnTo>
                <a:lnTo>
                  <a:pt x="2408354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5" name="Forma libre: Forma 44">
            <a:extLst>
              <a:ext uri="{FF2B5EF4-FFF2-40B4-BE49-F238E27FC236}">
                <a16:creationId xmlns:a16="http://schemas.microsoft.com/office/drawing/2014/main" id="{EAE88C29-9AC8-4A6D-9141-98B2210C7466}"/>
              </a:ext>
            </a:extLst>
          </p:cNvPr>
          <p:cNvSpPr/>
          <p:nvPr/>
        </p:nvSpPr>
        <p:spPr>
          <a:xfrm>
            <a:off x="-12701" y="2355829"/>
            <a:ext cx="2857781" cy="2298926"/>
          </a:xfrm>
          <a:custGeom>
            <a:avLst/>
            <a:gdLst>
              <a:gd name="connsiteX0" fmla="*/ 2782844 w 2857781"/>
              <a:gd name="connsiteY0" fmla="*/ 306353 h 2298926"/>
              <a:gd name="connsiteX1" fmla="*/ 2013148 w 2857781"/>
              <a:gd name="connsiteY1" fmla="*/ 91702 h 2298926"/>
              <a:gd name="connsiteX2" fmla="*/ 12701 w 2857781"/>
              <a:gd name="connsiteY2" fmla="*/ 1078589 h 2298926"/>
              <a:gd name="connsiteX3" fmla="*/ 12701 w 2857781"/>
              <a:gd name="connsiteY3" fmla="*/ 2289019 h 2298926"/>
              <a:gd name="connsiteX4" fmla="*/ 2491985 w 2857781"/>
              <a:gd name="connsiteY4" fmla="*/ 1065888 h 2298926"/>
              <a:gd name="connsiteX5" fmla="*/ 2790465 w 2857781"/>
              <a:gd name="connsiteY5" fmla="*/ 324135 h 2298926"/>
              <a:gd name="connsiteX6" fmla="*/ 2782844 w 2857781"/>
              <a:gd name="connsiteY6" fmla="*/ 306353 h 229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57781" h="2298926">
                <a:moveTo>
                  <a:pt x="2782844" y="306353"/>
                </a:moveTo>
                <a:cubicBezTo>
                  <a:pt x="2782844" y="306353"/>
                  <a:pt x="2547871" y="-171214"/>
                  <a:pt x="2013148" y="91702"/>
                </a:cubicBezTo>
                <a:lnTo>
                  <a:pt x="12701" y="1078589"/>
                </a:lnTo>
                <a:lnTo>
                  <a:pt x="12701" y="2289019"/>
                </a:lnTo>
                <a:lnTo>
                  <a:pt x="2491985" y="1065888"/>
                </a:lnTo>
                <a:cubicBezTo>
                  <a:pt x="2491985" y="1065888"/>
                  <a:pt x="3026708" y="801702"/>
                  <a:pt x="2790465" y="324135"/>
                </a:cubicBezTo>
                <a:lnTo>
                  <a:pt x="2782844" y="306353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F8CA5B8-0BAD-4554-87FE-E0910E6CD5C5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25" name="Gráfico 12">
            <a:extLst>
              <a:ext uri="{FF2B5EF4-FFF2-40B4-BE49-F238E27FC236}">
                <a16:creationId xmlns:a16="http://schemas.microsoft.com/office/drawing/2014/main" id="{12CBB0CF-5FCC-4507-BD7B-C02386D2A23C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9CB2BB-1ED9-489E-8AC7-2A8D8459E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349863"/>
            <a:ext cx="10515600" cy="782638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 dirty="0"/>
              <a:t>IMAGEN GRANDE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208BCD-3B7E-49DF-8BF5-68AE9DD7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238811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1517C1-CBB7-46B0-99AA-85121040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21" name="Marcador de texto 26">
            <a:extLst>
              <a:ext uri="{FF2B5EF4-FFF2-40B4-BE49-F238E27FC236}">
                <a16:creationId xmlns:a16="http://schemas.microsoft.com/office/drawing/2014/main" id="{78B29DA7-7E72-4576-8F68-91B70D11C8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2987" y="5718810"/>
            <a:ext cx="7366026" cy="946532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B091E01B-B80B-4194-AC2B-41043EC597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500" y="5155439"/>
            <a:ext cx="2667000" cy="139903"/>
          </a:xfrm>
          <a:prstGeom prst="rect">
            <a:avLst/>
          </a:prstGeom>
        </p:spPr>
      </p:pic>
      <p:sp>
        <p:nvSpPr>
          <p:cNvPr id="40" name="Forma libre: Forma 39">
            <a:extLst>
              <a:ext uri="{FF2B5EF4-FFF2-40B4-BE49-F238E27FC236}">
                <a16:creationId xmlns:a16="http://schemas.microsoft.com/office/drawing/2014/main" id="{FBE26926-54A6-49D3-95EA-F31F133A0E3B}"/>
              </a:ext>
            </a:extLst>
          </p:cNvPr>
          <p:cNvSpPr/>
          <p:nvPr/>
        </p:nvSpPr>
        <p:spPr>
          <a:xfrm>
            <a:off x="8826099" y="2044901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C3AFCA09-1411-4603-AEED-DBD79C4BE2CA}"/>
              </a:ext>
            </a:extLst>
          </p:cNvPr>
          <p:cNvSpPr/>
          <p:nvPr/>
        </p:nvSpPr>
        <p:spPr>
          <a:xfrm>
            <a:off x="8810222" y="2029025"/>
            <a:ext cx="774776" cy="774776"/>
          </a:xfrm>
          <a:custGeom>
            <a:avLst/>
            <a:gdLst>
              <a:gd name="connsiteX0" fmla="*/ 388023 w 774776"/>
              <a:gd name="connsiteY0" fmla="*/ 766521 h 774776"/>
              <a:gd name="connsiteX1" fmla="*/ 9526 w 774776"/>
              <a:gd name="connsiteY1" fmla="*/ 388023 h 774776"/>
              <a:gd name="connsiteX2" fmla="*/ 388023 w 774776"/>
              <a:gd name="connsiteY2" fmla="*/ 9526 h 774776"/>
              <a:gd name="connsiteX3" fmla="*/ 766520 w 774776"/>
              <a:gd name="connsiteY3" fmla="*/ 388023 h 774776"/>
              <a:gd name="connsiteX4" fmla="*/ 388023 w 774776"/>
              <a:gd name="connsiteY4" fmla="*/ 766521 h 774776"/>
              <a:gd name="connsiteX5" fmla="*/ 388023 w 774776"/>
              <a:gd name="connsiteY5" fmla="*/ 48900 h 774776"/>
              <a:gd name="connsiteX6" fmla="*/ 47630 w 774776"/>
              <a:gd name="connsiteY6" fmla="*/ 389293 h 774776"/>
              <a:gd name="connsiteX7" fmla="*/ 388023 w 774776"/>
              <a:gd name="connsiteY7" fmla="*/ 729687 h 774776"/>
              <a:gd name="connsiteX8" fmla="*/ 728416 w 774776"/>
              <a:gd name="connsiteY8" fmla="*/ 389293 h 774776"/>
              <a:gd name="connsiteX9" fmla="*/ 388023 w 774776"/>
              <a:gd name="connsiteY9" fmla="*/ 48900 h 77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4776" h="774776">
                <a:moveTo>
                  <a:pt x="388023" y="766521"/>
                </a:moveTo>
                <a:cubicBezTo>
                  <a:pt x="179722" y="766521"/>
                  <a:pt x="9526" y="596324"/>
                  <a:pt x="9526" y="388023"/>
                </a:cubicBezTo>
                <a:cubicBezTo>
                  <a:pt x="9526" y="179723"/>
                  <a:pt x="179722" y="9526"/>
                  <a:pt x="388023" y="9526"/>
                </a:cubicBezTo>
                <a:cubicBezTo>
                  <a:pt x="596323" y="9526"/>
                  <a:pt x="766520" y="179723"/>
                  <a:pt x="766520" y="388023"/>
                </a:cubicBezTo>
                <a:cubicBezTo>
                  <a:pt x="766520" y="596324"/>
                  <a:pt x="596323" y="766521"/>
                  <a:pt x="388023" y="766521"/>
                </a:cubicBezTo>
                <a:close/>
                <a:moveTo>
                  <a:pt x="388023" y="48900"/>
                </a:moveTo>
                <a:cubicBezTo>
                  <a:pt x="200045" y="48900"/>
                  <a:pt x="47630" y="201315"/>
                  <a:pt x="47630" y="389293"/>
                </a:cubicBezTo>
                <a:cubicBezTo>
                  <a:pt x="47630" y="577272"/>
                  <a:pt x="200045" y="729687"/>
                  <a:pt x="388023" y="729687"/>
                </a:cubicBezTo>
                <a:cubicBezTo>
                  <a:pt x="576001" y="729687"/>
                  <a:pt x="728416" y="577272"/>
                  <a:pt x="728416" y="389293"/>
                </a:cubicBezTo>
                <a:cubicBezTo>
                  <a:pt x="728416" y="201315"/>
                  <a:pt x="576001" y="48900"/>
                  <a:pt x="388023" y="4890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2" name="Forma libre: Forma 41">
            <a:extLst>
              <a:ext uri="{FF2B5EF4-FFF2-40B4-BE49-F238E27FC236}">
                <a16:creationId xmlns:a16="http://schemas.microsoft.com/office/drawing/2014/main" id="{7E4E0103-B430-4F31-B26F-21E197A41135}"/>
              </a:ext>
            </a:extLst>
          </p:cNvPr>
          <p:cNvSpPr/>
          <p:nvPr/>
        </p:nvSpPr>
        <p:spPr>
          <a:xfrm>
            <a:off x="7329938" y="-9526"/>
            <a:ext cx="4864579" cy="2311628"/>
          </a:xfrm>
          <a:custGeom>
            <a:avLst/>
            <a:gdLst>
              <a:gd name="connsiteX0" fmla="*/ 2911080 w 4864578"/>
              <a:gd name="connsiteY0" fmla="*/ 9526 h 2311627"/>
              <a:gd name="connsiteX1" fmla="*/ 2824712 w 4864578"/>
              <a:gd name="connsiteY1" fmla="*/ 9526 h 2311627"/>
              <a:gd name="connsiteX2" fmla="*/ 378451 w 4864578"/>
              <a:gd name="connsiteY2" fmla="*/ 1216145 h 2311627"/>
              <a:gd name="connsiteX3" fmla="*/ 134587 w 4864578"/>
              <a:gd name="connsiteY3" fmla="*/ 1413014 h 2311627"/>
              <a:gd name="connsiteX4" fmla="*/ 71081 w 4864578"/>
              <a:gd name="connsiteY4" fmla="*/ 1983300 h 2311627"/>
              <a:gd name="connsiteX5" fmla="*/ 79972 w 4864578"/>
              <a:gd name="connsiteY5" fmla="*/ 2001082 h 2311627"/>
              <a:gd name="connsiteX6" fmla="*/ 270491 w 4864578"/>
              <a:gd name="connsiteY6" fmla="*/ 2214463 h 2311627"/>
              <a:gd name="connsiteX7" fmla="*/ 561349 w 4864578"/>
              <a:gd name="connsiteY7" fmla="*/ 2304642 h 2311627"/>
              <a:gd name="connsiteX8" fmla="*/ 875070 w 4864578"/>
              <a:gd name="connsiteY8" fmla="*/ 2223354 h 2311627"/>
              <a:gd name="connsiteX9" fmla="*/ 4860722 w 4864578"/>
              <a:gd name="connsiteY9" fmla="*/ 258470 h 2311627"/>
              <a:gd name="connsiteX10" fmla="*/ 4860722 w 4864578"/>
              <a:gd name="connsiteY10" fmla="*/ 216556 h 2311627"/>
              <a:gd name="connsiteX11" fmla="*/ 858558 w 4864578"/>
              <a:gd name="connsiteY11" fmla="*/ 2189061 h 2311627"/>
              <a:gd name="connsiteX12" fmla="*/ 293353 w 4864578"/>
              <a:gd name="connsiteY12" fmla="*/ 2182710 h 2311627"/>
              <a:gd name="connsiteX13" fmla="*/ 114265 w 4864578"/>
              <a:gd name="connsiteY13" fmla="*/ 1983300 h 2311627"/>
              <a:gd name="connsiteX14" fmla="*/ 105374 w 4864578"/>
              <a:gd name="connsiteY14" fmla="*/ 1965519 h 2311627"/>
              <a:gd name="connsiteX15" fmla="*/ 163800 w 4864578"/>
              <a:gd name="connsiteY15" fmla="*/ 1437147 h 2311627"/>
              <a:gd name="connsiteX16" fmla="*/ 396233 w 4864578"/>
              <a:gd name="connsiteY16" fmla="*/ 1249168 h 2311627"/>
              <a:gd name="connsiteX17" fmla="*/ 396233 w 4864578"/>
              <a:gd name="connsiteY17" fmla="*/ 1249168 h 2311627"/>
              <a:gd name="connsiteX18" fmla="*/ 2911080 w 4864578"/>
              <a:gd name="connsiteY18" fmla="*/ 9526 h 231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864578" h="2311627">
                <a:moveTo>
                  <a:pt x="2911080" y="9526"/>
                </a:moveTo>
                <a:lnTo>
                  <a:pt x="2824712" y="9526"/>
                </a:lnTo>
                <a:lnTo>
                  <a:pt x="378451" y="1216145"/>
                </a:lnTo>
                <a:cubicBezTo>
                  <a:pt x="373371" y="1218685"/>
                  <a:pt x="240007" y="1284732"/>
                  <a:pt x="134587" y="1413014"/>
                </a:cubicBezTo>
                <a:cubicBezTo>
                  <a:pt x="35518" y="1532406"/>
                  <a:pt x="-54662" y="1728005"/>
                  <a:pt x="71081" y="1983300"/>
                </a:cubicBezTo>
                <a:lnTo>
                  <a:pt x="79972" y="2001082"/>
                </a:lnTo>
                <a:cubicBezTo>
                  <a:pt x="82512" y="2006163"/>
                  <a:pt x="142208" y="2125554"/>
                  <a:pt x="270491" y="2214463"/>
                </a:cubicBezTo>
                <a:cubicBezTo>
                  <a:pt x="339077" y="2261458"/>
                  <a:pt x="436877" y="2304642"/>
                  <a:pt x="561349" y="2304642"/>
                </a:cubicBezTo>
                <a:cubicBezTo>
                  <a:pt x="651528" y="2304642"/>
                  <a:pt x="755678" y="2283050"/>
                  <a:pt x="875070" y="2223354"/>
                </a:cubicBezTo>
                <a:lnTo>
                  <a:pt x="4860722" y="258470"/>
                </a:lnTo>
                <a:lnTo>
                  <a:pt x="4860722" y="216556"/>
                </a:lnTo>
                <a:lnTo>
                  <a:pt x="858558" y="2189061"/>
                </a:lnTo>
                <a:cubicBezTo>
                  <a:pt x="643907" y="2294481"/>
                  <a:pt x="454659" y="2293211"/>
                  <a:pt x="293353" y="2182710"/>
                </a:cubicBezTo>
                <a:cubicBezTo>
                  <a:pt x="172691" y="2100152"/>
                  <a:pt x="114265" y="1984570"/>
                  <a:pt x="114265" y="1983300"/>
                </a:cubicBezTo>
                <a:lnTo>
                  <a:pt x="105374" y="1965519"/>
                </a:lnTo>
                <a:cubicBezTo>
                  <a:pt x="11385" y="1775000"/>
                  <a:pt x="30437" y="1597182"/>
                  <a:pt x="163800" y="1437147"/>
                </a:cubicBezTo>
                <a:cubicBezTo>
                  <a:pt x="264140" y="1315215"/>
                  <a:pt x="394963" y="1250438"/>
                  <a:pt x="396233" y="1249168"/>
                </a:cubicBezTo>
                <a:lnTo>
                  <a:pt x="396233" y="1249168"/>
                </a:lnTo>
                <a:lnTo>
                  <a:pt x="2911080" y="9526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4" name="Forma libre: Forma 43">
            <a:extLst>
              <a:ext uri="{FF2B5EF4-FFF2-40B4-BE49-F238E27FC236}">
                <a16:creationId xmlns:a16="http://schemas.microsoft.com/office/drawing/2014/main" id="{65525C01-736F-4E07-B20A-72ABE0F38C9F}"/>
              </a:ext>
            </a:extLst>
          </p:cNvPr>
          <p:cNvSpPr/>
          <p:nvPr/>
        </p:nvSpPr>
        <p:spPr>
          <a:xfrm>
            <a:off x="9766949" y="442639"/>
            <a:ext cx="2425939" cy="2603756"/>
          </a:xfrm>
          <a:custGeom>
            <a:avLst/>
            <a:gdLst>
              <a:gd name="connsiteX0" fmla="*/ 2423711 w 2425938"/>
              <a:gd name="connsiteY0" fmla="*/ 1877880 h 2603756"/>
              <a:gd name="connsiteX1" fmla="*/ 1236144 w 2425938"/>
              <a:gd name="connsiteY1" fmla="*/ 2463408 h 2603756"/>
              <a:gd name="connsiteX2" fmla="*/ 429615 w 2425938"/>
              <a:gd name="connsiteY2" fmla="*/ 2415143 h 2603756"/>
              <a:gd name="connsiteX3" fmla="*/ 160348 w 2425938"/>
              <a:gd name="connsiteY3" fmla="*/ 2097612 h 2603756"/>
              <a:gd name="connsiteX4" fmla="*/ 146377 w 2425938"/>
              <a:gd name="connsiteY4" fmla="*/ 2069669 h 2603756"/>
              <a:gd name="connsiteX5" fmla="*/ 194642 w 2425938"/>
              <a:gd name="connsiteY5" fmla="*/ 1263139 h 2603756"/>
              <a:gd name="connsiteX6" fmla="*/ 512173 w 2425938"/>
              <a:gd name="connsiteY6" fmla="*/ 993873 h 2603756"/>
              <a:gd name="connsiteX7" fmla="*/ 2423711 w 2425938"/>
              <a:gd name="connsiteY7" fmla="*/ 51440 h 2603756"/>
              <a:gd name="connsiteX8" fmla="*/ 2423711 w 2425938"/>
              <a:gd name="connsiteY8" fmla="*/ 9526 h 2603756"/>
              <a:gd name="connsiteX9" fmla="*/ 494391 w 2425938"/>
              <a:gd name="connsiteY9" fmla="*/ 960850 h 2603756"/>
              <a:gd name="connsiteX10" fmla="*/ 164159 w 2425938"/>
              <a:gd name="connsiteY10" fmla="*/ 1240277 h 2603756"/>
              <a:gd name="connsiteX11" fmla="*/ 112083 w 2425938"/>
              <a:gd name="connsiteY11" fmla="*/ 2088721 h 2603756"/>
              <a:gd name="connsiteX12" fmla="*/ 126055 w 2425938"/>
              <a:gd name="connsiteY12" fmla="*/ 2116664 h 2603756"/>
              <a:gd name="connsiteX13" fmla="*/ 405483 w 2425938"/>
              <a:gd name="connsiteY13" fmla="*/ 2446896 h 2603756"/>
              <a:gd name="connsiteX14" fmla="*/ 851296 w 2425938"/>
              <a:gd name="connsiteY14" fmla="*/ 2601851 h 2603756"/>
              <a:gd name="connsiteX15" fmla="*/ 1252656 w 2425938"/>
              <a:gd name="connsiteY15" fmla="*/ 2498971 h 2603756"/>
              <a:gd name="connsiteX16" fmla="*/ 2422441 w 2425938"/>
              <a:gd name="connsiteY16" fmla="*/ 1922334 h 2603756"/>
              <a:gd name="connsiteX17" fmla="*/ 2422441 w 2425938"/>
              <a:gd name="connsiteY17" fmla="*/ 1877880 h 260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25938" h="2603756">
                <a:moveTo>
                  <a:pt x="2423711" y="1877880"/>
                </a:moveTo>
                <a:lnTo>
                  <a:pt x="1236144" y="2463408"/>
                </a:lnTo>
                <a:cubicBezTo>
                  <a:pt x="937665" y="2610742"/>
                  <a:pt x="665858" y="2594231"/>
                  <a:pt x="429615" y="2415143"/>
                </a:cubicBezTo>
                <a:cubicBezTo>
                  <a:pt x="251797" y="2280510"/>
                  <a:pt x="160348" y="2098882"/>
                  <a:pt x="160348" y="2097612"/>
                </a:cubicBezTo>
                <a:lnTo>
                  <a:pt x="146377" y="2069669"/>
                </a:lnTo>
                <a:cubicBezTo>
                  <a:pt x="-957" y="1771190"/>
                  <a:pt x="15554" y="1499383"/>
                  <a:pt x="194642" y="1263139"/>
                </a:cubicBezTo>
                <a:cubicBezTo>
                  <a:pt x="329275" y="1085322"/>
                  <a:pt x="509632" y="995143"/>
                  <a:pt x="512173" y="993873"/>
                </a:cubicBezTo>
                <a:lnTo>
                  <a:pt x="2423711" y="51440"/>
                </a:lnTo>
                <a:lnTo>
                  <a:pt x="2423711" y="9526"/>
                </a:lnTo>
                <a:lnTo>
                  <a:pt x="494391" y="960850"/>
                </a:lnTo>
                <a:cubicBezTo>
                  <a:pt x="486770" y="964660"/>
                  <a:pt x="303873" y="1056109"/>
                  <a:pt x="164159" y="1240277"/>
                </a:cubicBezTo>
                <a:cubicBezTo>
                  <a:pt x="34606" y="1411744"/>
                  <a:pt x="-80976" y="1697522"/>
                  <a:pt x="112083" y="2088721"/>
                </a:cubicBezTo>
                <a:lnTo>
                  <a:pt x="126055" y="2116664"/>
                </a:lnTo>
                <a:cubicBezTo>
                  <a:pt x="129865" y="2124284"/>
                  <a:pt x="221315" y="2307182"/>
                  <a:pt x="405483" y="2446896"/>
                </a:cubicBezTo>
                <a:cubicBezTo>
                  <a:pt x="510903" y="2526914"/>
                  <a:pt x="660778" y="2601851"/>
                  <a:pt x="851296" y="2601851"/>
                </a:cubicBezTo>
                <a:cubicBezTo>
                  <a:pt x="969418" y="2601851"/>
                  <a:pt x="1104052" y="2572638"/>
                  <a:pt x="1252656" y="2498971"/>
                </a:cubicBezTo>
                <a:lnTo>
                  <a:pt x="2422441" y="1922334"/>
                </a:lnTo>
                <a:lnTo>
                  <a:pt x="2422441" y="187788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8" name="Forma libre: Forma 47">
            <a:extLst>
              <a:ext uri="{FF2B5EF4-FFF2-40B4-BE49-F238E27FC236}">
                <a16:creationId xmlns:a16="http://schemas.microsoft.com/office/drawing/2014/main" id="{49472789-B79C-464F-9D88-E51F8B5062D3}"/>
              </a:ext>
            </a:extLst>
          </p:cNvPr>
          <p:cNvSpPr/>
          <p:nvPr userDrawn="1"/>
        </p:nvSpPr>
        <p:spPr>
          <a:xfrm>
            <a:off x="-9526" y="2340318"/>
            <a:ext cx="2870483" cy="2540250"/>
          </a:xfrm>
          <a:custGeom>
            <a:avLst/>
            <a:gdLst>
              <a:gd name="connsiteX0" fmla="*/ 2481189 w 2870482"/>
              <a:gd name="connsiteY0" fmla="*/ 1064887 h 2540250"/>
              <a:gd name="connsiteX1" fmla="*/ 1678470 w 2870482"/>
              <a:gd name="connsiteY1" fmla="*/ 1461166 h 2540250"/>
              <a:gd name="connsiteX2" fmla="*/ 1406664 w 2870482"/>
              <a:gd name="connsiteY2" fmla="*/ 1448465 h 2540250"/>
              <a:gd name="connsiteX3" fmla="*/ 9526 w 2870482"/>
              <a:gd name="connsiteY3" fmla="*/ 2136873 h 2540250"/>
              <a:gd name="connsiteX4" fmla="*/ 9526 w 2870482"/>
              <a:gd name="connsiteY4" fmla="*/ 2531882 h 2540250"/>
              <a:gd name="connsiteX5" fmla="*/ 1564159 w 2870482"/>
              <a:gd name="connsiteY5" fmla="*/ 1765996 h 2540250"/>
              <a:gd name="connsiteX6" fmla="*/ 1708953 w 2870482"/>
              <a:gd name="connsiteY6" fmla="*/ 1500540 h 2540250"/>
              <a:gd name="connsiteX7" fmla="*/ 1706413 w 2870482"/>
              <a:gd name="connsiteY7" fmla="*/ 1494189 h 2540250"/>
              <a:gd name="connsiteX8" fmla="*/ 1703873 w 2870482"/>
              <a:gd name="connsiteY8" fmla="*/ 1490379 h 2540250"/>
              <a:gd name="connsiteX9" fmla="*/ 2498971 w 2870482"/>
              <a:gd name="connsiteY9" fmla="*/ 1097910 h 2540250"/>
              <a:gd name="connsiteX10" fmla="*/ 2806341 w 2870482"/>
              <a:gd name="connsiteY10" fmla="*/ 330755 h 2540250"/>
              <a:gd name="connsiteX11" fmla="*/ 2797450 w 2870482"/>
              <a:gd name="connsiteY11" fmla="*/ 312973 h 2540250"/>
              <a:gd name="connsiteX12" fmla="*/ 2002352 w 2870482"/>
              <a:gd name="connsiteY12" fmla="*/ 90701 h 2540250"/>
              <a:gd name="connsiteX13" fmla="*/ 9526 w 2870482"/>
              <a:gd name="connsiteY13" fmla="*/ 1073778 h 2540250"/>
              <a:gd name="connsiteX14" fmla="*/ 9526 w 2870482"/>
              <a:gd name="connsiteY14" fmla="*/ 1115692 h 2540250"/>
              <a:gd name="connsiteX15" fmla="*/ 2017594 w 2870482"/>
              <a:gd name="connsiteY15" fmla="*/ 124994 h 2540250"/>
              <a:gd name="connsiteX16" fmla="*/ 2582799 w 2870482"/>
              <a:gd name="connsiteY16" fmla="*/ 131345 h 2540250"/>
              <a:gd name="connsiteX17" fmla="*/ 2761887 w 2870482"/>
              <a:gd name="connsiteY17" fmla="*/ 330755 h 2540250"/>
              <a:gd name="connsiteX18" fmla="*/ 2770778 w 2870482"/>
              <a:gd name="connsiteY18" fmla="*/ 348536 h 2540250"/>
              <a:gd name="connsiteX19" fmla="*/ 2712352 w 2870482"/>
              <a:gd name="connsiteY19" fmla="*/ 876908 h 2540250"/>
              <a:gd name="connsiteX20" fmla="*/ 2481189 w 2870482"/>
              <a:gd name="connsiteY20" fmla="*/ 1064887 h 254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70482" h="2540250">
                <a:moveTo>
                  <a:pt x="2481189" y="1064887"/>
                </a:moveTo>
                <a:lnTo>
                  <a:pt x="1678470" y="1461166"/>
                </a:lnTo>
                <a:cubicBezTo>
                  <a:pt x="1640366" y="1423062"/>
                  <a:pt x="1556538" y="1374797"/>
                  <a:pt x="1406664" y="1448465"/>
                </a:cubicBezTo>
                <a:lnTo>
                  <a:pt x="9526" y="2136873"/>
                </a:lnTo>
                <a:lnTo>
                  <a:pt x="9526" y="2531882"/>
                </a:lnTo>
                <a:lnTo>
                  <a:pt x="1564159" y="1765996"/>
                </a:lnTo>
                <a:cubicBezTo>
                  <a:pt x="1564159" y="1765996"/>
                  <a:pt x="1785161" y="1656765"/>
                  <a:pt x="1708953" y="1500540"/>
                </a:cubicBezTo>
                <a:lnTo>
                  <a:pt x="1706413" y="1494189"/>
                </a:lnTo>
                <a:cubicBezTo>
                  <a:pt x="1706413" y="1494189"/>
                  <a:pt x="1705143" y="1492919"/>
                  <a:pt x="1703873" y="1490379"/>
                </a:cubicBezTo>
                <a:lnTo>
                  <a:pt x="2498971" y="1097910"/>
                </a:lnTo>
                <a:cubicBezTo>
                  <a:pt x="2504051" y="1095370"/>
                  <a:pt x="3047665" y="819753"/>
                  <a:pt x="2806341" y="330755"/>
                </a:cubicBezTo>
                <a:lnTo>
                  <a:pt x="2797450" y="312973"/>
                </a:lnTo>
                <a:cubicBezTo>
                  <a:pt x="2794910" y="307892"/>
                  <a:pt x="2547236" y="-178566"/>
                  <a:pt x="2002352" y="90701"/>
                </a:cubicBezTo>
                <a:lnTo>
                  <a:pt x="9526" y="1073778"/>
                </a:lnTo>
                <a:lnTo>
                  <a:pt x="9526" y="1115692"/>
                </a:lnTo>
                <a:lnTo>
                  <a:pt x="2017594" y="124994"/>
                </a:lnTo>
                <a:cubicBezTo>
                  <a:pt x="2232245" y="19574"/>
                  <a:pt x="2421493" y="20844"/>
                  <a:pt x="2582799" y="131345"/>
                </a:cubicBezTo>
                <a:cubicBezTo>
                  <a:pt x="2703461" y="213903"/>
                  <a:pt x="2761887" y="329484"/>
                  <a:pt x="2761887" y="330755"/>
                </a:cubicBezTo>
                <a:lnTo>
                  <a:pt x="2770778" y="348536"/>
                </a:lnTo>
                <a:cubicBezTo>
                  <a:pt x="2864767" y="539055"/>
                  <a:pt x="2845715" y="716873"/>
                  <a:pt x="2712352" y="876908"/>
                </a:cubicBezTo>
                <a:cubicBezTo>
                  <a:pt x="2613282" y="998840"/>
                  <a:pt x="2482459" y="1063617"/>
                  <a:pt x="2481189" y="106488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C69AA5-6915-832E-C67C-55625C5997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317" y="239793"/>
            <a:ext cx="1659368" cy="8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98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de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lipse 24">
            <a:extLst>
              <a:ext uri="{FF2B5EF4-FFF2-40B4-BE49-F238E27FC236}">
                <a16:creationId xmlns:a16="http://schemas.microsoft.com/office/drawing/2014/main" id="{DD823940-1850-4484-BDCE-3D9B898D6787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26" name="Gráfico 12">
            <a:extLst>
              <a:ext uri="{FF2B5EF4-FFF2-40B4-BE49-F238E27FC236}">
                <a16:creationId xmlns:a16="http://schemas.microsoft.com/office/drawing/2014/main" id="{6FFA8582-48C8-4154-ACF0-5F6412FAAE0C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8" name="Marcador de posición de elemento multimedia 7">
            <a:extLst>
              <a:ext uri="{FF2B5EF4-FFF2-40B4-BE49-F238E27FC236}">
                <a16:creationId xmlns:a16="http://schemas.microsoft.com/office/drawing/2014/main" id="{FBCC61A6-FEB7-4CD2-9686-FB5F1EB66A10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911225" y="908050"/>
            <a:ext cx="10369550" cy="46609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medios</a:t>
            </a:r>
            <a:endParaRPr lang="es-MX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208BCD-3B7E-49DF-8BF5-68AE9DD7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238811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1517C1-CBB7-46B0-99AA-85121040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B8EAB5B0-43C3-4F9F-98FF-253CBE6C9668}"/>
              </a:ext>
            </a:extLst>
          </p:cNvPr>
          <p:cNvSpPr/>
          <p:nvPr/>
        </p:nvSpPr>
        <p:spPr>
          <a:xfrm>
            <a:off x="8807428" y="2003790"/>
            <a:ext cx="775201" cy="774776"/>
          </a:xfrm>
          <a:custGeom>
            <a:avLst/>
            <a:gdLst>
              <a:gd name="connsiteX0" fmla="*/ 388023 w 774776"/>
              <a:gd name="connsiteY0" fmla="*/ 766520 h 774776"/>
              <a:gd name="connsiteX1" fmla="*/ 9526 w 774776"/>
              <a:gd name="connsiteY1" fmla="*/ 388023 h 774776"/>
              <a:gd name="connsiteX2" fmla="*/ 388023 w 774776"/>
              <a:gd name="connsiteY2" fmla="*/ 9526 h 774776"/>
              <a:gd name="connsiteX3" fmla="*/ 766521 w 774776"/>
              <a:gd name="connsiteY3" fmla="*/ 388023 h 774776"/>
              <a:gd name="connsiteX4" fmla="*/ 388023 w 774776"/>
              <a:gd name="connsiteY4" fmla="*/ 766520 h 774776"/>
              <a:gd name="connsiteX5" fmla="*/ 388023 w 774776"/>
              <a:gd name="connsiteY5" fmla="*/ 48900 h 774776"/>
              <a:gd name="connsiteX6" fmla="*/ 47630 w 774776"/>
              <a:gd name="connsiteY6" fmla="*/ 389293 h 774776"/>
              <a:gd name="connsiteX7" fmla="*/ 388023 w 774776"/>
              <a:gd name="connsiteY7" fmla="*/ 729687 h 774776"/>
              <a:gd name="connsiteX8" fmla="*/ 728417 w 774776"/>
              <a:gd name="connsiteY8" fmla="*/ 389293 h 774776"/>
              <a:gd name="connsiteX9" fmla="*/ 388023 w 774776"/>
              <a:gd name="connsiteY9" fmla="*/ 48900 h 77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4776" h="774776">
                <a:moveTo>
                  <a:pt x="388023" y="766520"/>
                </a:moveTo>
                <a:cubicBezTo>
                  <a:pt x="179723" y="766520"/>
                  <a:pt x="9526" y="596324"/>
                  <a:pt x="9526" y="388023"/>
                </a:cubicBezTo>
                <a:cubicBezTo>
                  <a:pt x="9526" y="179723"/>
                  <a:pt x="179723" y="9526"/>
                  <a:pt x="388023" y="9526"/>
                </a:cubicBezTo>
                <a:cubicBezTo>
                  <a:pt x="596324" y="9526"/>
                  <a:pt x="766521" y="179723"/>
                  <a:pt x="766521" y="388023"/>
                </a:cubicBezTo>
                <a:cubicBezTo>
                  <a:pt x="766521" y="596324"/>
                  <a:pt x="596324" y="766520"/>
                  <a:pt x="388023" y="766520"/>
                </a:cubicBezTo>
                <a:close/>
                <a:moveTo>
                  <a:pt x="388023" y="48900"/>
                </a:moveTo>
                <a:cubicBezTo>
                  <a:pt x="200045" y="48900"/>
                  <a:pt x="47630" y="201315"/>
                  <a:pt x="47630" y="389293"/>
                </a:cubicBezTo>
                <a:cubicBezTo>
                  <a:pt x="47630" y="577272"/>
                  <a:pt x="200045" y="729687"/>
                  <a:pt x="388023" y="729687"/>
                </a:cubicBezTo>
                <a:cubicBezTo>
                  <a:pt x="576002" y="729687"/>
                  <a:pt x="728417" y="577272"/>
                  <a:pt x="728417" y="389293"/>
                </a:cubicBezTo>
                <a:cubicBezTo>
                  <a:pt x="728417" y="201315"/>
                  <a:pt x="576002" y="48900"/>
                  <a:pt x="388023" y="4890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06A97B71-3A84-4844-BDB5-E3F77302BBC0}"/>
              </a:ext>
            </a:extLst>
          </p:cNvPr>
          <p:cNvSpPr/>
          <p:nvPr userDrawn="1"/>
        </p:nvSpPr>
        <p:spPr>
          <a:xfrm>
            <a:off x="9780046" y="430740"/>
            <a:ext cx="2414562" cy="2578354"/>
          </a:xfrm>
          <a:custGeom>
            <a:avLst/>
            <a:gdLst>
              <a:gd name="connsiteX0" fmla="*/ 2412164 w 2413237"/>
              <a:gd name="connsiteY0" fmla="*/ 12701 h 2578354"/>
              <a:gd name="connsiteX1" fmla="*/ 487924 w 2413237"/>
              <a:gd name="connsiteY1" fmla="*/ 962755 h 2578354"/>
              <a:gd name="connsiteX2" fmla="*/ 113238 w 2413237"/>
              <a:gd name="connsiteY2" fmla="*/ 2065224 h 2578354"/>
              <a:gd name="connsiteX3" fmla="*/ 127209 w 2413237"/>
              <a:gd name="connsiteY3" fmla="*/ 2093166 h 2578354"/>
              <a:gd name="connsiteX4" fmla="*/ 1229678 w 2413237"/>
              <a:gd name="connsiteY4" fmla="*/ 2467853 h 2578354"/>
              <a:gd name="connsiteX5" fmla="*/ 2412164 w 2413237"/>
              <a:gd name="connsiteY5" fmla="*/ 1884866 h 2578354"/>
              <a:gd name="connsiteX6" fmla="*/ 2412164 w 2413237"/>
              <a:gd name="connsiteY6" fmla="*/ 12701 h 2578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237" h="2578354">
                <a:moveTo>
                  <a:pt x="2412164" y="12701"/>
                </a:moveTo>
                <a:lnTo>
                  <a:pt x="487924" y="962755"/>
                </a:lnTo>
                <a:cubicBezTo>
                  <a:pt x="487924" y="962755"/>
                  <a:pt x="-250018" y="1327281"/>
                  <a:pt x="113238" y="2065224"/>
                </a:cubicBezTo>
                <a:lnTo>
                  <a:pt x="127209" y="2093166"/>
                </a:lnTo>
                <a:cubicBezTo>
                  <a:pt x="127209" y="2093166"/>
                  <a:pt x="491735" y="2831109"/>
                  <a:pt x="1229678" y="2467853"/>
                </a:cubicBezTo>
                <a:lnTo>
                  <a:pt x="2412164" y="1884866"/>
                </a:lnTo>
                <a:lnTo>
                  <a:pt x="2412164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030939C4-65C9-4508-8EFE-F715B9946844}"/>
              </a:ext>
            </a:extLst>
          </p:cNvPr>
          <p:cNvSpPr/>
          <p:nvPr/>
        </p:nvSpPr>
        <p:spPr>
          <a:xfrm>
            <a:off x="9762774" y="410418"/>
            <a:ext cx="2439977" cy="2616458"/>
          </a:xfrm>
          <a:custGeom>
            <a:avLst/>
            <a:gdLst>
              <a:gd name="connsiteX0" fmla="*/ 2429427 w 2438640"/>
              <a:gd name="connsiteY0" fmla="*/ 1882326 h 2616457"/>
              <a:gd name="connsiteX1" fmla="*/ 1238050 w 2438640"/>
              <a:gd name="connsiteY1" fmla="*/ 2469123 h 2616457"/>
              <a:gd name="connsiteX2" fmla="*/ 431520 w 2438640"/>
              <a:gd name="connsiteY2" fmla="*/ 2420859 h 2616457"/>
              <a:gd name="connsiteX3" fmla="*/ 162253 w 2438640"/>
              <a:gd name="connsiteY3" fmla="*/ 2103327 h 2616457"/>
              <a:gd name="connsiteX4" fmla="*/ 148282 w 2438640"/>
              <a:gd name="connsiteY4" fmla="*/ 2075385 h 2616457"/>
              <a:gd name="connsiteX5" fmla="*/ 196547 w 2438640"/>
              <a:gd name="connsiteY5" fmla="*/ 1268855 h 2616457"/>
              <a:gd name="connsiteX6" fmla="*/ 514078 w 2438640"/>
              <a:gd name="connsiteY6" fmla="*/ 999589 h 2616457"/>
              <a:gd name="connsiteX7" fmla="*/ 2430697 w 2438640"/>
              <a:gd name="connsiteY7" fmla="*/ 54615 h 2616457"/>
              <a:gd name="connsiteX8" fmla="*/ 2430697 w 2438640"/>
              <a:gd name="connsiteY8" fmla="*/ 12701 h 2616457"/>
              <a:gd name="connsiteX9" fmla="*/ 497567 w 2438640"/>
              <a:gd name="connsiteY9" fmla="*/ 965295 h 2616457"/>
              <a:gd name="connsiteX10" fmla="*/ 167334 w 2438640"/>
              <a:gd name="connsiteY10" fmla="*/ 1244723 h 2616457"/>
              <a:gd name="connsiteX11" fmla="*/ 115259 w 2438640"/>
              <a:gd name="connsiteY11" fmla="*/ 2093166 h 2616457"/>
              <a:gd name="connsiteX12" fmla="*/ 129231 w 2438640"/>
              <a:gd name="connsiteY12" fmla="*/ 2121109 h 2616457"/>
              <a:gd name="connsiteX13" fmla="*/ 408658 w 2438640"/>
              <a:gd name="connsiteY13" fmla="*/ 2451342 h 2616457"/>
              <a:gd name="connsiteX14" fmla="*/ 854472 w 2438640"/>
              <a:gd name="connsiteY14" fmla="*/ 2606297 h 2616457"/>
              <a:gd name="connsiteX15" fmla="*/ 1255831 w 2438640"/>
              <a:gd name="connsiteY15" fmla="*/ 2503417 h 2616457"/>
              <a:gd name="connsiteX16" fmla="*/ 2429427 w 2438640"/>
              <a:gd name="connsiteY16" fmla="*/ 1924240 h 2616457"/>
              <a:gd name="connsiteX17" fmla="*/ 2429427 w 2438640"/>
              <a:gd name="connsiteY17" fmla="*/ 1882326 h 2616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38640" h="2616457">
                <a:moveTo>
                  <a:pt x="2429427" y="1882326"/>
                </a:moveTo>
                <a:lnTo>
                  <a:pt x="1238050" y="2469123"/>
                </a:lnTo>
                <a:cubicBezTo>
                  <a:pt x="939570" y="2616458"/>
                  <a:pt x="667763" y="2599946"/>
                  <a:pt x="431520" y="2420859"/>
                </a:cubicBezTo>
                <a:cubicBezTo>
                  <a:pt x="253703" y="2286225"/>
                  <a:pt x="162253" y="2104598"/>
                  <a:pt x="162253" y="2103327"/>
                </a:cubicBezTo>
                <a:lnTo>
                  <a:pt x="148282" y="2075385"/>
                </a:lnTo>
                <a:cubicBezTo>
                  <a:pt x="947" y="1776905"/>
                  <a:pt x="17459" y="1505098"/>
                  <a:pt x="196547" y="1268855"/>
                </a:cubicBezTo>
                <a:cubicBezTo>
                  <a:pt x="331180" y="1091038"/>
                  <a:pt x="511538" y="1000859"/>
                  <a:pt x="514078" y="999589"/>
                </a:cubicBezTo>
                <a:lnTo>
                  <a:pt x="2430697" y="54615"/>
                </a:lnTo>
                <a:lnTo>
                  <a:pt x="2430697" y="12701"/>
                </a:lnTo>
                <a:lnTo>
                  <a:pt x="497567" y="965295"/>
                </a:lnTo>
                <a:cubicBezTo>
                  <a:pt x="489946" y="969106"/>
                  <a:pt x="307048" y="1060555"/>
                  <a:pt x="167334" y="1244723"/>
                </a:cubicBezTo>
                <a:cubicBezTo>
                  <a:pt x="37781" y="1416190"/>
                  <a:pt x="-77800" y="1701968"/>
                  <a:pt x="115259" y="2093166"/>
                </a:cubicBezTo>
                <a:lnTo>
                  <a:pt x="129231" y="2121109"/>
                </a:lnTo>
                <a:cubicBezTo>
                  <a:pt x="133041" y="2128730"/>
                  <a:pt x="224490" y="2311628"/>
                  <a:pt x="408658" y="2451342"/>
                </a:cubicBezTo>
                <a:cubicBezTo>
                  <a:pt x="514078" y="2531359"/>
                  <a:pt x="663953" y="2606297"/>
                  <a:pt x="854472" y="2606297"/>
                </a:cubicBezTo>
                <a:cubicBezTo>
                  <a:pt x="972593" y="2606297"/>
                  <a:pt x="1107227" y="2577084"/>
                  <a:pt x="1255831" y="2503417"/>
                </a:cubicBezTo>
                <a:lnTo>
                  <a:pt x="2429427" y="1924240"/>
                </a:lnTo>
                <a:lnTo>
                  <a:pt x="2429427" y="1882326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759BB951-621D-4456-A832-116187764B2E}"/>
              </a:ext>
            </a:extLst>
          </p:cNvPr>
          <p:cNvSpPr/>
          <p:nvPr userDrawn="1"/>
        </p:nvSpPr>
        <p:spPr>
          <a:xfrm>
            <a:off x="7340981" y="-16344"/>
            <a:ext cx="4854539" cy="2273524"/>
          </a:xfrm>
          <a:custGeom>
            <a:avLst/>
            <a:gdLst>
              <a:gd name="connsiteX0" fmla="*/ 4849891 w 4851877"/>
              <a:gd name="connsiteY0" fmla="*/ 12701 h 2273523"/>
              <a:gd name="connsiteX1" fmla="*/ 2808800 w 4851877"/>
              <a:gd name="connsiteY1" fmla="*/ 12701 h 2273523"/>
              <a:gd name="connsiteX2" fmla="*/ 371430 w 4851877"/>
              <a:gd name="connsiteY2" fmla="*/ 1214240 h 2273523"/>
              <a:gd name="connsiteX3" fmla="*/ 72951 w 4851877"/>
              <a:gd name="connsiteY3" fmla="*/ 1955993 h 2273523"/>
              <a:gd name="connsiteX4" fmla="*/ 81841 w 4851877"/>
              <a:gd name="connsiteY4" fmla="*/ 1973774 h 2273523"/>
              <a:gd name="connsiteX5" fmla="*/ 851538 w 4851877"/>
              <a:gd name="connsiteY5" fmla="*/ 2188426 h 2273523"/>
              <a:gd name="connsiteX6" fmla="*/ 4849891 w 4851877"/>
              <a:gd name="connsiteY6" fmla="*/ 217191 h 2273523"/>
              <a:gd name="connsiteX7" fmla="*/ 4849891 w 4851877"/>
              <a:gd name="connsiteY7" fmla="*/ 12701 h 2273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51877" h="2273523">
                <a:moveTo>
                  <a:pt x="4849891" y="12701"/>
                </a:moveTo>
                <a:lnTo>
                  <a:pt x="2808800" y="12701"/>
                </a:lnTo>
                <a:lnTo>
                  <a:pt x="371430" y="1214240"/>
                </a:lnTo>
                <a:cubicBezTo>
                  <a:pt x="371430" y="1214240"/>
                  <a:pt x="-163293" y="1478426"/>
                  <a:pt x="72951" y="1955993"/>
                </a:cubicBezTo>
                <a:lnTo>
                  <a:pt x="81841" y="1973774"/>
                </a:lnTo>
                <a:cubicBezTo>
                  <a:pt x="81841" y="1973774"/>
                  <a:pt x="316814" y="2451342"/>
                  <a:pt x="851538" y="2188426"/>
                </a:cubicBezTo>
                <a:lnTo>
                  <a:pt x="4849891" y="217191"/>
                </a:lnTo>
                <a:lnTo>
                  <a:pt x="484989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3F8008CE-2F0A-4568-9C4A-C347A4880513}"/>
              </a:ext>
            </a:extLst>
          </p:cNvPr>
          <p:cNvSpPr/>
          <p:nvPr userDrawn="1"/>
        </p:nvSpPr>
        <p:spPr>
          <a:xfrm>
            <a:off x="7327556" y="-16344"/>
            <a:ext cx="4867247" cy="2298926"/>
          </a:xfrm>
          <a:custGeom>
            <a:avLst/>
            <a:gdLst>
              <a:gd name="connsiteX0" fmla="*/ 4863309 w 4864578"/>
              <a:gd name="connsiteY0" fmla="*/ 195599 h 2298926"/>
              <a:gd name="connsiteX1" fmla="*/ 857334 w 4864578"/>
              <a:gd name="connsiteY1" fmla="*/ 2170644 h 2298926"/>
              <a:gd name="connsiteX2" fmla="*/ 292129 w 4864578"/>
              <a:gd name="connsiteY2" fmla="*/ 2164293 h 2298926"/>
              <a:gd name="connsiteX3" fmla="*/ 113041 w 4864578"/>
              <a:gd name="connsiteY3" fmla="*/ 1964884 h 2298926"/>
              <a:gd name="connsiteX4" fmla="*/ 104150 w 4864578"/>
              <a:gd name="connsiteY4" fmla="*/ 1947102 h 2298926"/>
              <a:gd name="connsiteX5" fmla="*/ 162577 w 4864578"/>
              <a:gd name="connsiteY5" fmla="*/ 1418730 h 2298926"/>
              <a:gd name="connsiteX6" fmla="*/ 395009 w 4864578"/>
              <a:gd name="connsiteY6" fmla="*/ 1230751 h 2298926"/>
              <a:gd name="connsiteX7" fmla="*/ 395009 w 4864578"/>
              <a:gd name="connsiteY7" fmla="*/ 1230751 h 2298926"/>
              <a:gd name="connsiteX8" fmla="*/ 2865403 w 4864578"/>
              <a:gd name="connsiteY8" fmla="*/ 12701 h 2298926"/>
              <a:gd name="connsiteX9" fmla="*/ 2779034 w 4864578"/>
              <a:gd name="connsiteY9" fmla="*/ 12701 h 2298926"/>
              <a:gd name="connsiteX10" fmla="*/ 377227 w 4864578"/>
              <a:gd name="connsiteY10" fmla="*/ 1197728 h 2298926"/>
              <a:gd name="connsiteX11" fmla="*/ 133363 w 4864578"/>
              <a:gd name="connsiteY11" fmla="*/ 1394597 h 2298926"/>
              <a:gd name="connsiteX12" fmla="*/ 12701 w 4864578"/>
              <a:gd name="connsiteY12" fmla="*/ 1660054 h 2298926"/>
              <a:gd name="connsiteX13" fmla="*/ 12701 w 4864578"/>
              <a:gd name="connsiteY13" fmla="*/ 1780715 h 2298926"/>
              <a:gd name="connsiteX14" fmla="*/ 69857 w 4864578"/>
              <a:gd name="connsiteY14" fmla="*/ 1964884 h 2298926"/>
              <a:gd name="connsiteX15" fmla="*/ 78748 w 4864578"/>
              <a:gd name="connsiteY15" fmla="*/ 1982665 h 2298926"/>
              <a:gd name="connsiteX16" fmla="*/ 269267 w 4864578"/>
              <a:gd name="connsiteY16" fmla="*/ 2196046 h 2298926"/>
              <a:gd name="connsiteX17" fmla="*/ 560126 w 4864578"/>
              <a:gd name="connsiteY17" fmla="*/ 2286225 h 2298926"/>
              <a:gd name="connsiteX18" fmla="*/ 873847 w 4864578"/>
              <a:gd name="connsiteY18" fmla="*/ 2204937 h 2298926"/>
              <a:gd name="connsiteX19" fmla="*/ 4863309 w 4864578"/>
              <a:gd name="connsiteY19" fmla="*/ 237513 h 2298926"/>
              <a:gd name="connsiteX20" fmla="*/ 4863309 w 4864578"/>
              <a:gd name="connsiteY20" fmla="*/ 195599 h 229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864578" h="2298926">
                <a:moveTo>
                  <a:pt x="4863309" y="195599"/>
                </a:moveTo>
                <a:lnTo>
                  <a:pt x="857334" y="2170644"/>
                </a:lnTo>
                <a:cubicBezTo>
                  <a:pt x="642684" y="2276064"/>
                  <a:pt x="453435" y="2274794"/>
                  <a:pt x="292129" y="2164293"/>
                </a:cubicBezTo>
                <a:cubicBezTo>
                  <a:pt x="171467" y="2081735"/>
                  <a:pt x="113041" y="1966154"/>
                  <a:pt x="113041" y="1964884"/>
                </a:cubicBezTo>
                <a:lnTo>
                  <a:pt x="104150" y="1947102"/>
                </a:lnTo>
                <a:cubicBezTo>
                  <a:pt x="10162" y="1756583"/>
                  <a:pt x="29213" y="1578766"/>
                  <a:pt x="162577" y="1418730"/>
                </a:cubicBezTo>
                <a:cubicBezTo>
                  <a:pt x="262916" y="1296798"/>
                  <a:pt x="393739" y="1232021"/>
                  <a:pt x="395009" y="1230751"/>
                </a:cubicBezTo>
                <a:lnTo>
                  <a:pt x="395009" y="1230751"/>
                </a:lnTo>
                <a:lnTo>
                  <a:pt x="2865403" y="12701"/>
                </a:lnTo>
                <a:lnTo>
                  <a:pt x="2779034" y="12701"/>
                </a:lnTo>
                <a:lnTo>
                  <a:pt x="377227" y="1197728"/>
                </a:lnTo>
                <a:cubicBezTo>
                  <a:pt x="372147" y="1200268"/>
                  <a:pt x="238784" y="1266315"/>
                  <a:pt x="133363" y="1394597"/>
                </a:cubicBezTo>
                <a:cubicBezTo>
                  <a:pt x="78748" y="1460644"/>
                  <a:pt x="26673" y="1549553"/>
                  <a:pt x="12701" y="1660054"/>
                </a:cubicBezTo>
                <a:lnTo>
                  <a:pt x="12701" y="1780715"/>
                </a:lnTo>
                <a:cubicBezTo>
                  <a:pt x="20322" y="1837871"/>
                  <a:pt x="38104" y="1900107"/>
                  <a:pt x="69857" y="1964884"/>
                </a:cubicBezTo>
                <a:lnTo>
                  <a:pt x="78748" y="1982665"/>
                </a:lnTo>
                <a:cubicBezTo>
                  <a:pt x="81288" y="1987746"/>
                  <a:pt x="140984" y="2107138"/>
                  <a:pt x="269267" y="2196046"/>
                </a:cubicBezTo>
                <a:cubicBezTo>
                  <a:pt x="337854" y="2243041"/>
                  <a:pt x="435654" y="2286225"/>
                  <a:pt x="560126" y="2286225"/>
                </a:cubicBezTo>
                <a:cubicBezTo>
                  <a:pt x="650304" y="2286225"/>
                  <a:pt x="754455" y="2264633"/>
                  <a:pt x="873847" y="2204937"/>
                </a:cubicBezTo>
                <a:lnTo>
                  <a:pt x="4863309" y="237513"/>
                </a:lnTo>
                <a:lnTo>
                  <a:pt x="4863309" y="195599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9" name="Título 2">
            <a:extLst>
              <a:ext uri="{FF2B5EF4-FFF2-40B4-BE49-F238E27FC236}">
                <a16:creationId xmlns:a16="http://schemas.microsoft.com/office/drawing/2014/main" id="{3A926948-B9C1-4E84-AF0F-40965A13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2986" y="5707145"/>
            <a:ext cx="7366027" cy="853993"/>
          </a:xfrm>
        </p:spPr>
        <p:txBody>
          <a:bodyPr rtlCol="0" anchor="t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3A17C7-5A8B-4D9D-AC8A-2486018F3FB8}"/>
              </a:ext>
            </a:extLst>
          </p:cNvPr>
          <p:cNvGrpSpPr/>
          <p:nvPr userDrawn="1"/>
        </p:nvGrpSpPr>
        <p:grpSpPr>
          <a:xfrm>
            <a:off x="-18799" y="2319272"/>
            <a:ext cx="2884236" cy="2824836"/>
            <a:chOff x="-18799" y="2319272"/>
            <a:chExt cx="2884236" cy="2824836"/>
          </a:xfrm>
        </p:grpSpPr>
        <p:sp>
          <p:nvSpPr>
            <p:cNvPr id="3" name="Forma libre: Forma 2">
              <a:extLst>
                <a:ext uri="{FF2B5EF4-FFF2-40B4-BE49-F238E27FC236}">
                  <a16:creationId xmlns:a16="http://schemas.microsoft.com/office/drawing/2014/main" id="{C42001FF-B76E-4445-BDE5-6BFAD41EBBD4}"/>
                </a:ext>
              </a:extLst>
            </p:cNvPr>
            <p:cNvSpPr/>
            <p:nvPr/>
          </p:nvSpPr>
          <p:spPr>
            <a:xfrm>
              <a:off x="-18799" y="2336694"/>
              <a:ext cx="2871530" cy="2299765"/>
            </a:xfrm>
            <a:custGeom>
              <a:avLst/>
              <a:gdLst>
                <a:gd name="connsiteX0" fmla="*/ 2796565 w 2871529"/>
                <a:gd name="connsiteY0" fmla="*/ 306465 h 2299764"/>
                <a:gd name="connsiteX1" fmla="*/ 2026589 w 2871529"/>
                <a:gd name="connsiteY1" fmla="*/ 91735 h 2299764"/>
                <a:gd name="connsiteX2" fmla="*/ 12706 w 2871529"/>
                <a:gd name="connsiteY2" fmla="*/ 1085336 h 2299764"/>
                <a:gd name="connsiteX3" fmla="*/ 12706 w 2871529"/>
                <a:gd name="connsiteY3" fmla="*/ 2296206 h 2299764"/>
                <a:gd name="connsiteX4" fmla="*/ 2506871 w 2871529"/>
                <a:gd name="connsiteY4" fmla="*/ 1066277 h 2299764"/>
                <a:gd name="connsiteX5" fmla="*/ 2805459 w 2871529"/>
                <a:gd name="connsiteY5" fmla="*/ 324253 h 2299764"/>
                <a:gd name="connsiteX6" fmla="*/ 2796565 w 2871529"/>
                <a:gd name="connsiteY6" fmla="*/ 306465 h 2299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71529" h="2299764">
                  <a:moveTo>
                    <a:pt x="2796565" y="306465"/>
                  </a:moveTo>
                  <a:cubicBezTo>
                    <a:pt x="2796565" y="306465"/>
                    <a:pt x="2561507" y="-171276"/>
                    <a:pt x="2026589" y="91735"/>
                  </a:cubicBezTo>
                  <a:lnTo>
                    <a:pt x="12706" y="1085336"/>
                  </a:lnTo>
                  <a:lnTo>
                    <a:pt x="12706" y="2296206"/>
                  </a:lnTo>
                  <a:lnTo>
                    <a:pt x="2506871" y="1066277"/>
                  </a:lnTo>
                  <a:cubicBezTo>
                    <a:pt x="2506871" y="1066277"/>
                    <a:pt x="3041789" y="801994"/>
                    <a:pt x="2805459" y="324253"/>
                  </a:cubicBezTo>
                  <a:lnTo>
                    <a:pt x="2796565" y="306465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" name="Forma libre: Forma 3">
              <a:extLst>
                <a:ext uri="{FF2B5EF4-FFF2-40B4-BE49-F238E27FC236}">
                  <a16:creationId xmlns:a16="http://schemas.microsoft.com/office/drawing/2014/main" id="{55EB89C3-8B52-4763-9DB2-C51CC8AF377C}"/>
                </a:ext>
              </a:extLst>
            </p:cNvPr>
            <p:cNvSpPr/>
            <p:nvPr/>
          </p:nvSpPr>
          <p:spPr>
            <a:xfrm>
              <a:off x="-18799" y="2319272"/>
              <a:ext cx="2884236" cy="2337882"/>
            </a:xfrm>
            <a:custGeom>
              <a:avLst/>
              <a:gdLst>
                <a:gd name="connsiteX0" fmla="*/ 2871530 w 2884235"/>
                <a:gd name="connsiteY0" fmla="*/ 466193 h 2337882"/>
                <a:gd name="connsiteX1" fmla="*/ 2823248 w 2884235"/>
                <a:gd name="connsiteY1" fmla="*/ 334052 h 2337882"/>
                <a:gd name="connsiteX2" fmla="*/ 2814354 w 2884235"/>
                <a:gd name="connsiteY2" fmla="*/ 316263 h 2337882"/>
                <a:gd name="connsiteX3" fmla="*/ 2018965 w 2884235"/>
                <a:gd name="connsiteY3" fmla="*/ 93910 h 2337882"/>
                <a:gd name="connsiteX4" fmla="*/ 12706 w 2884235"/>
                <a:gd name="connsiteY4" fmla="*/ 1081158 h 2337882"/>
                <a:gd name="connsiteX5" fmla="*/ 12706 w 2884235"/>
                <a:gd name="connsiteY5" fmla="*/ 1123087 h 2337882"/>
                <a:gd name="connsiteX6" fmla="*/ 2035483 w 2884235"/>
                <a:gd name="connsiteY6" fmla="*/ 126946 h 2337882"/>
                <a:gd name="connsiteX7" fmla="*/ 2600895 w 2884235"/>
                <a:gd name="connsiteY7" fmla="*/ 133299 h 2337882"/>
                <a:gd name="connsiteX8" fmla="*/ 2780048 w 2884235"/>
                <a:gd name="connsiteY8" fmla="*/ 332781 h 2337882"/>
                <a:gd name="connsiteX9" fmla="*/ 2788942 w 2884235"/>
                <a:gd name="connsiteY9" fmla="*/ 350569 h 2337882"/>
                <a:gd name="connsiteX10" fmla="*/ 2730495 w 2884235"/>
                <a:gd name="connsiteY10" fmla="*/ 879134 h 2337882"/>
                <a:gd name="connsiteX11" fmla="*/ 2497977 w 2884235"/>
                <a:gd name="connsiteY11" fmla="*/ 1065911 h 2337882"/>
                <a:gd name="connsiteX12" fmla="*/ 12706 w 2884235"/>
                <a:gd name="connsiteY12" fmla="*/ 2292028 h 2337882"/>
                <a:gd name="connsiteX13" fmla="*/ 12706 w 2884235"/>
                <a:gd name="connsiteY13" fmla="*/ 2333958 h 2337882"/>
                <a:gd name="connsiteX14" fmla="*/ 2515765 w 2884235"/>
                <a:gd name="connsiteY14" fmla="*/ 1100216 h 2337882"/>
                <a:gd name="connsiteX15" fmla="*/ 2871530 w 2884235"/>
                <a:gd name="connsiteY15" fmla="*/ 687275 h 2337882"/>
                <a:gd name="connsiteX16" fmla="*/ 2871530 w 2884235"/>
                <a:gd name="connsiteY16" fmla="*/ 466193 h 2337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884235" h="2337882">
                  <a:moveTo>
                    <a:pt x="2871530" y="466193"/>
                  </a:moveTo>
                  <a:cubicBezTo>
                    <a:pt x="2861365" y="424263"/>
                    <a:pt x="2846118" y="379793"/>
                    <a:pt x="2823248" y="334052"/>
                  </a:cubicBezTo>
                  <a:lnTo>
                    <a:pt x="2814354" y="316263"/>
                  </a:lnTo>
                  <a:cubicBezTo>
                    <a:pt x="2811812" y="311181"/>
                    <a:pt x="2564048" y="-175454"/>
                    <a:pt x="2018965" y="93910"/>
                  </a:cubicBezTo>
                  <a:lnTo>
                    <a:pt x="12706" y="1081158"/>
                  </a:lnTo>
                  <a:lnTo>
                    <a:pt x="12706" y="1123087"/>
                  </a:lnTo>
                  <a:lnTo>
                    <a:pt x="2035483" y="126946"/>
                  </a:lnTo>
                  <a:cubicBezTo>
                    <a:pt x="2250212" y="21487"/>
                    <a:pt x="2439530" y="22758"/>
                    <a:pt x="2600895" y="133299"/>
                  </a:cubicBezTo>
                  <a:cubicBezTo>
                    <a:pt x="2721601" y="215887"/>
                    <a:pt x="2780048" y="331511"/>
                    <a:pt x="2780048" y="332781"/>
                  </a:cubicBezTo>
                  <a:lnTo>
                    <a:pt x="2788942" y="350569"/>
                  </a:lnTo>
                  <a:cubicBezTo>
                    <a:pt x="2882965" y="541158"/>
                    <a:pt x="2863906" y="719040"/>
                    <a:pt x="2730495" y="879134"/>
                  </a:cubicBezTo>
                  <a:cubicBezTo>
                    <a:pt x="2630118" y="999840"/>
                    <a:pt x="2500518" y="1065911"/>
                    <a:pt x="2497977" y="1065911"/>
                  </a:cubicBezTo>
                  <a:lnTo>
                    <a:pt x="12706" y="2292028"/>
                  </a:lnTo>
                  <a:lnTo>
                    <a:pt x="12706" y="2333958"/>
                  </a:lnTo>
                  <a:lnTo>
                    <a:pt x="2515765" y="1100216"/>
                  </a:lnTo>
                  <a:cubicBezTo>
                    <a:pt x="2519577" y="1097675"/>
                    <a:pt x="2806730" y="952828"/>
                    <a:pt x="2871530" y="687275"/>
                  </a:cubicBezTo>
                  <a:lnTo>
                    <a:pt x="2871530" y="46619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8F230BC5-B028-4266-A395-BFB56DFDC484}"/>
                </a:ext>
              </a:extLst>
            </p:cNvPr>
            <p:cNvSpPr/>
            <p:nvPr/>
          </p:nvSpPr>
          <p:spPr>
            <a:xfrm>
              <a:off x="-18799" y="3968979"/>
              <a:ext cx="1766118" cy="1156235"/>
            </a:xfrm>
            <a:custGeom>
              <a:avLst/>
              <a:gdLst>
                <a:gd name="connsiteX0" fmla="*/ 1735624 w 1766117"/>
                <a:gd name="connsiteY0" fmla="*/ 98509 h 1156235"/>
                <a:gd name="connsiteX1" fmla="*/ 1437036 w 1766117"/>
                <a:gd name="connsiteY1" fmla="*/ 51497 h 1156235"/>
                <a:gd name="connsiteX2" fmla="*/ 12706 w 1766117"/>
                <a:gd name="connsiteY2" fmla="*/ 754133 h 1156235"/>
                <a:gd name="connsiteX3" fmla="*/ 12706 w 1766117"/>
                <a:gd name="connsiteY3" fmla="*/ 1149286 h 1156235"/>
                <a:gd name="connsiteX4" fmla="*/ 1594589 w 1766117"/>
                <a:gd name="connsiteY4" fmla="*/ 369144 h 1156235"/>
                <a:gd name="connsiteX5" fmla="*/ 1739436 w 1766117"/>
                <a:gd name="connsiteY5" fmla="*/ 103592 h 1156235"/>
                <a:gd name="connsiteX6" fmla="*/ 1735624 w 1766117"/>
                <a:gd name="connsiteY6" fmla="*/ 98509 h 1156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6117" h="1156235">
                  <a:moveTo>
                    <a:pt x="1735624" y="98509"/>
                  </a:moveTo>
                  <a:cubicBezTo>
                    <a:pt x="1735624" y="98509"/>
                    <a:pt x="1658118" y="-57773"/>
                    <a:pt x="1437036" y="51497"/>
                  </a:cubicBezTo>
                  <a:lnTo>
                    <a:pt x="12706" y="754133"/>
                  </a:lnTo>
                  <a:lnTo>
                    <a:pt x="12706" y="1149286"/>
                  </a:lnTo>
                  <a:lnTo>
                    <a:pt x="1594589" y="369144"/>
                  </a:lnTo>
                  <a:cubicBezTo>
                    <a:pt x="1594589" y="369144"/>
                    <a:pt x="1815671" y="259874"/>
                    <a:pt x="1739436" y="103592"/>
                  </a:cubicBezTo>
                  <a:lnTo>
                    <a:pt x="1735624" y="98509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5A52C234-DC7D-488B-8975-61485991A4A8}"/>
                </a:ext>
              </a:extLst>
            </p:cNvPr>
            <p:cNvSpPr/>
            <p:nvPr/>
          </p:nvSpPr>
          <p:spPr>
            <a:xfrm>
              <a:off x="-18799" y="3949755"/>
              <a:ext cx="1778824" cy="1194353"/>
            </a:xfrm>
            <a:custGeom>
              <a:avLst/>
              <a:gdLst>
                <a:gd name="connsiteX0" fmla="*/ 1753412 w 1778823"/>
                <a:gd name="connsiteY0" fmla="*/ 108839 h 1194352"/>
                <a:gd name="connsiteX1" fmla="*/ 1429412 w 1778823"/>
                <a:gd name="connsiteY1" fmla="*/ 52933 h 1194352"/>
                <a:gd name="connsiteX2" fmla="*/ 12706 w 1778823"/>
                <a:gd name="connsiteY2" fmla="*/ 751757 h 1194352"/>
                <a:gd name="connsiteX3" fmla="*/ 12706 w 1778823"/>
                <a:gd name="connsiteY3" fmla="*/ 793686 h 1194352"/>
                <a:gd name="connsiteX4" fmla="*/ 1445930 w 1778823"/>
                <a:gd name="connsiteY4" fmla="*/ 87239 h 1194352"/>
                <a:gd name="connsiteX5" fmla="*/ 1719106 w 1778823"/>
                <a:gd name="connsiteY5" fmla="*/ 125357 h 1194352"/>
                <a:gd name="connsiteX6" fmla="*/ 1721647 w 1778823"/>
                <a:gd name="connsiteY6" fmla="*/ 131710 h 1194352"/>
                <a:gd name="connsiteX7" fmla="*/ 1585694 w 1778823"/>
                <a:gd name="connsiteY7" fmla="*/ 371851 h 1194352"/>
                <a:gd name="connsiteX8" fmla="*/ 12706 w 1778823"/>
                <a:gd name="connsiteY8" fmla="*/ 1146910 h 1194352"/>
                <a:gd name="connsiteX9" fmla="*/ 12706 w 1778823"/>
                <a:gd name="connsiteY9" fmla="*/ 1188839 h 1194352"/>
                <a:gd name="connsiteX10" fmla="*/ 1603483 w 1778823"/>
                <a:gd name="connsiteY10" fmla="*/ 404886 h 1194352"/>
                <a:gd name="connsiteX11" fmla="*/ 1755953 w 1778823"/>
                <a:gd name="connsiteY11" fmla="*/ 113921 h 1194352"/>
                <a:gd name="connsiteX12" fmla="*/ 1753412 w 1778823"/>
                <a:gd name="connsiteY12" fmla="*/ 108839 h 119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78823" h="1194352">
                  <a:moveTo>
                    <a:pt x="1753412" y="108839"/>
                  </a:moveTo>
                  <a:cubicBezTo>
                    <a:pt x="1752141" y="107569"/>
                    <a:pt x="1665742" y="-62690"/>
                    <a:pt x="1429412" y="52933"/>
                  </a:cubicBezTo>
                  <a:lnTo>
                    <a:pt x="12706" y="751757"/>
                  </a:lnTo>
                  <a:lnTo>
                    <a:pt x="12706" y="793686"/>
                  </a:lnTo>
                  <a:lnTo>
                    <a:pt x="1445930" y="87239"/>
                  </a:lnTo>
                  <a:cubicBezTo>
                    <a:pt x="1646683" y="-11867"/>
                    <a:pt x="1715294" y="120274"/>
                    <a:pt x="1719106" y="125357"/>
                  </a:cubicBezTo>
                  <a:lnTo>
                    <a:pt x="1721647" y="131710"/>
                  </a:lnTo>
                  <a:cubicBezTo>
                    <a:pt x="1788989" y="268933"/>
                    <a:pt x="1594589" y="366769"/>
                    <a:pt x="1585694" y="371851"/>
                  </a:cubicBezTo>
                  <a:lnTo>
                    <a:pt x="12706" y="1146910"/>
                  </a:lnTo>
                  <a:lnTo>
                    <a:pt x="12706" y="1188839"/>
                  </a:lnTo>
                  <a:lnTo>
                    <a:pt x="1603483" y="404886"/>
                  </a:lnTo>
                  <a:cubicBezTo>
                    <a:pt x="1686071" y="364228"/>
                    <a:pt x="1824565" y="251145"/>
                    <a:pt x="1755953" y="113921"/>
                  </a:cubicBezTo>
                  <a:lnTo>
                    <a:pt x="1753412" y="108839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3B6F08A7-1D42-8519-5A4C-0D6931F4EC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977" y="136343"/>
            <a:ext cx="1659368" cy="8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44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agradecimi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posición de imagen 25">
            <a:extLst>
              <a:ext uri="{FF2B5EF4-FFF2-40B4-BE49-F238E27FC236}">
                <a16:creationId xmlns:a16="http://schemas.microsoft.com/office/drawing/2014/main" id="{3C229411-48AD-4A50-B02E-041030F1896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45189" y="1"/>
            <a:ext cx="6943003" cy="5934621"/>
          </a:xfrm>
          <a:custGeom>
            <a:avLst/>
            <a:gdLst>
              <a:gd name="connsiteX0" fmla="*/ 6940462 w 6943003"/>
              <a:gd name="connsiteY0" fmla="*/ 0 h 5934621"/>
              <a:gd name="connsiteX1" fmla="*/ 6943003 w 6943003"/>
              <a:gd name="connsiteY1" fmla="*/ 0 h 5934621"/>
              <a:gd name="connsiteX2" fmla="*/ 6943003 w 6943003"/>
              <a:gd name="connsiteY2" fmla="*/ 3562350 h 5934621"/>
              <a:gd name="connsiteX3" fmla="*/ 2564043 w 6943003"/>
              <a:gd name="connsiteY3" fmla="*/ 5721350 h 5934621"/>
              <a:gd name="connsiteX4" fmla="*/ 233592 w 6943003"/>
              <a:gd name="connsiteY4" fmla="*/ 4930141 h 5934621"/>
              <a:gd name="connsiteX5" fmla="*/ 213272 w 6943003"/>
              <a:gd name="connsiteY5" fmla="*/ 4889500 h 5934621"/>
              <a:gd name="connsiteX6" fmla="*/ 1004482 w 6943003"/>
              <a:gd name="connsiteY6" fmla="*/ 2559050 h 5934621"/>
              <a:gd name="connsiteX7" fmla="*/ 2136693 w 6943003"/>
              <a:gd name="connsiteY7" fmla="*/ 2000704 h 5934621"/>
              <a:gd name="connsiteX8" fmla="*/ 2183042 w 6943003"/>
              <a:gd name="connsiteY8" fmla="*/ 2039620 h 5934621"/>
              <a:gd name="connsiteX9" fmla="*/ 2473872 w 6943003"/>
              <a:gd name="connsiteY9" fmla="*/ 2129790 h 5934621"/>
              <a:gd name="connsiteX10" fmla="*/ 2787562 w 6943003"/>
              <a:gd name="connsiteY10" fmla="*/ 2048510 h 5934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43003" h="5934621">
                <a:moveTo>
                  <a:pt x="6940462" y="0"/>
                </a:moveTo>
                <a:lnTo>
                  <a:pt x="6943003" y="0"/>
                </a:lnTo>
                <a:lnTo>
                  <a:pt x="6943003" y="3562350"/>
                </a:lnTo>
                <a:lnTo>
                  <a:pt x="2564043" y="5721350"/>
                </a:lnTo>
                <a:cubicBezTo>
                  <a:pt x="1003212" y="6490971"/>
                  <a:pt x="233592" y="4930141"/>
                  <a:pt x="233592" y="4930141"/>
                </a:cubicBezTo>
                <a:lnTo>
                  <a:pt x="213272" y="4889500"/>
                </a:lnTo>
                <a:cubicBezTo>
                  <a:pt x="-556348" y="3328670"/>
                  <a:pt x="1004482" y="2559050"/>
                  <a:pt x="1004482" y="2559050"/>
                </a:cubicBezTo>
                <a:lnTo>
                  <a:pt x="2136693" y="2000704"/>
                </a:lnTo>
                <a:lnTo>
                  <a:pt x="2183042" y="2039620"/>
                </a:lnTo>
                <a:cubicBezTo>
                  <a:pt x="2251622" y="2086610"/>
                  <a:pt x="2349412" y="2129790"/>
                  <a:pt x="2473872" y="2129790"/>
                </a:cubicBezTo>
                <a:cubicBezTo>
                  <a:pt x="2564042" y="2129790"/>
                  <a:pt x="2668182" y="2108200"/>
                  <a:pt x="2787562" y="2048510"/>
                </a:cubicBezTo>
                <a:close/>
              </a:path>
            </a:pathLst>
          </a:custGeom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44" y="453050"/>
            <a:ext cx="10515600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MX" noProof="0" dirty="0"/>
              <a:t>¡GRACIAS!</a:t>
            </a:r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F9E3EED1-7BB3-4B75-BCA9-1C1223740B3C}"/>
              </a:ext>
            </a:extLst>
          </p:cNvPr>
          <p:cNvSpPr/>
          <p:nvPr/>
        </p:nvSpPr>
        <p:spPr>
          <a:xfrm>
            <a:off x="8704586" y="5422906"/>
            <a:ext cx="736600" cy="736600"/>
          </a:xfrm>
          <a:custGeom>
            <a:avLst/>
            <a:gdLst>
              <a:gd name="connsiteX0" fmla="*/ 372104 w 736600"/>
              <a:gd name="connsiteY0" fmla="*/ 731514 h 736600"/>
              <a:gd name="connsiteX1" fmla="*/ 731514 w 736600"/>
              <a:gd name="connsiteY1" fmla="*/ 372104 h 736600"/>
              <a:gd name="connsiteX2" fmla="*/ 372104 w 736600"/>
              <a:gd name="connsiteY2" fmla="*/ 12694 h 736600"/>
              <a:gd name="connsiteX3" fmla="*/ 12694 w 736600"/>
              <a:gd name="connsiteY3" fmla="*/ 372104 h 736600"/>
              <a:gd name="connsiteX4" fmla="*/ 372104 w 736600"/>
              <a:gd name="connsiteY4" fmla="*/ 731514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00" h="736600">
                <a:moveTo>
                  <a:pt x="372104" y="731514"/>
                </a:moveTo>
                <a:cubicBezTo>
                  <a:pt x="570224" y="731514"/>
                  <a:pt x="731514" y="570224"/>
                  <a:pt x="731514" y="372104"/>
                </a:cubicBezTo>
                <a:cubicBezTo>
                  <a:pt x="731514" y="173984"/>
                  <a:pt x="570224" y="12694"/>
                  <a:pt x="372104" y="12694"/>
                </a:cubicBezTo>
                <a:cubicBezTo>
                  <a:pt x="173984" y="12694"/>
                  <a:pt x="12694" y="173984"/>
                  <a:pt x="12694" y="372104"/>
                </a:cubicBezTo>
                <a:cubicBezTo>
                  <a:pt x="12694" y="570224"/>
                  <a:pt x="173984" y="731514"/>
                  <a:pt x="372104" y="731514"/>
                </a:cubicBezTo>
              </a:path>
            </a:pathLst>
          </a:custGeom>
          <a:solidFill>
            <a:schemeClr val="accent1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29016A5F-A55B-4605-B66C-5C6E2BF4919F}"/>
              </a:ext>
            </a:extLst>
          </p:cNvPr>
          <p:cNvSpPr/>
          <p:nvPr/>
        </p:nvSpPr>
        <p:spPr>
          <a:xfrm>
            <a:off x="9659429" y="3776986"/>
            <a:ext cx="2540000" cy="2628900"/>
          </a:xfrm>
          <a:custGeom>
            <a:avLst/>
            <a:gdLst>
              <a:gd name="connsiteX0" fmla="*/ 2528761 w 2540000"/>
              <a:gd name="connsiteY0" fmla="*/ 12694 h 2628900"/>
              <a:gd name="connsiteX1" fmla="*/ 487871 w 2540000"/>
              <a:gd name="connsiteY1" fmla="*/ 1018534 h 2628900"/>
              <a:gd name="connsiteX2" fmla="*/ 113221 w 2540000"/>
              <a:gd name="connsiteY2" fmla="*/ 2120894 h 2628900"/>
              <a:gd name="connsiteX3" fmla="*/ 127191 w 2540000"/>
              <a:gd name="connsiteY3" fmla="*/ 2148834 h 2628900"/>
              <a:gd name="connsiteX4" fmla="*/ 1229551 w 2540000"/>
              <a:gd name="connsiteY4" fmla="*/ 2523484 h 2628900"/>
              <a:gd name="connsiteX5" fmla="*/ 2528761 w 2540000"/>
              <a:gd name="connsiteY5" fmla="*/ 1883404 h 2628900"/>
              <a:gd name="connsiteX6" fmla="*/ 2528761 w 2540000"/>
              <a:gd name="connsiteY6" fmla="*/ 12694 h 262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0000" h="2628900">
                <a:moveTo>
                  <a:pt x="2528761" y="12694"/>
                </a:moveTo>
                <a:lnTo>
                  <a:pt x="487871" y="1018534"/>
                </a:lnTo>
                <a:cubicBezTo>
                  <a:pt x="487871" y="1018534"/>
                  <a:pt x="-249999" y="1383024"/>
                  <a:pt x="113221" y="2120894"/>
                </a:cubicBezTo>
                <a:lnTo>
                  <a:pt x="127191" y="2148834"/>
                </a:lnTo>
                <a:cubicBezTo>
                  <a:pt x="127191" y="2148834"/>
                  <a:pt x="491681" y="2886705"/>
                  <a:pt x="1229551" y="2523484"/>
                </a:cubicBezTo>
                <a:lnTo>
                  <a:pt x="2528761" y="1883404"/>
                </a:lnTo>
                <a:lnTo>
                  <a:pt x="2528761" y="12694"/>
                </a:lnTo>
                <a:close/>
              </a:path>
            </a:pathLst>
          </a:custGeom>
          <a:solidFill>
            <a:schemeClr val="accent3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9" name="Marcador de texto 26">
            <a:extLst>
              <a:ext uri="{FF2B5EF4-FFF2-40B4-BE49-F238E27FC236}">
                <a16:creationId xmlns:a16="http://schemas.microsoft.com/office/drawing/2014/main" id="{9DBE4B29-4897-4A3A-B883-A887BCDA37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420" y="3955665"/>
            <a:ext cx="4367531" cy="524711"/>
          </a:xfrm>
        </p:spPr>
        <p:txBody>
          <a:bodyPr rtlCol="0">
            <a:noAutofit/>
          </a:bodyPr>
          <a:lstStyle>
            <a:lvl1pPr marL="0" indent="0" algn="l">
              <a:buNone/>
              <a:defRPr sz="2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es-MX" noProof="0" dirty="0" err="1"/>
              <a:t>Íker</a:t>
            </a:r>
            <a:r>
              <a:rPr lang="es-MX" noProof="0" dirty="0"/>
              <a:t> Arteaga</a:t>
            </a:r>
          </a:p>
        </p:txBody>
      </p:sp>
      <p:sp>
        <p:nvSpPr>
          <p:cNvPr id="20" name="Marcador de texto 26">
            <a:extLst>
              <a:ext uri="{FF2B5EF4-FFF2-40B4-BE49-F238E27FC236}">
                <a16:creationId xmlns:a16="http://schemas.microsoft.com/office/drawing/2014/main" id="{0EF4532A-9AB5-4545-A83D-BD0E3963572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420" y="4633361"/>
            <a:ext cx="4367531" cy="365125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es-MX" noProof="0" dirty="0"/>
              <a:t>Teléfono:</a:t>
            </a:r>
          </a:p>
        </p:txBody>
      </p:sp>
      <p:sp>
        <p:nvSpPr>
          <p:cNvPr id="21" name="Marcador de texto 26">
            <a:extLst>
              <a:ext uri="{FF2B5EF4-FFF2-40B4-BE49-F238E27FC236}">
                <a16:creationId xmlns:a16="http://schemas.microsoft.com/office/drawing/2014/main" id="{D579A1F5-9180-47FE-A31B-4E37384383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420" y="4892976"/>
            <a:ext cx="4367531" cy="365125"/>
          </a:xfrm>
        </p:spPr>
        <p:txBody>
          <a:bodyPr rtlCol="0">
            <a:noAutofit/>
          </a:bodyPr>
          <a:lstStyle>
            <a:lvl1pPr marL="0" indent="0" algn="l">
              <a:buNone/>
              <a:defRPr sz="2500" b="1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es-MX" noProof="0" dirty="0"/>
              <a:t>678 555-0128</a:t>
            </a:r>
          </a:p>
        </p:txBody>
      </p:sp>
      <p:sp>
        <p:nvSpPr>
          <p:cNvPr id="22" name="Marcador de texto 26">
            <a:extLst>
              <a:ext uri="{FF2B5EF4-FFF2-40B4-BE49-F238E27FC236}">
                <a16:creationId xmlns:a16="http://schemas.microsoft.com/office/drawing/2014/main" id="{71BBF4E8-67FF-4A65-9EC1-AE832CEBE8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420" y="5334299"/>
            <a:ext cx="4367531" cy="365125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es-MX" noProof="0" dirty="0"/>
              <a:t>Correo:</a:t>
            </a:r>
          </a:p>
        </p:txBody>
      </p:sp>
      <p:sp>
        <p:nvSpPr>
          <p:cNvPr id="23" name="Marcador de texto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420" y="5593914"/>
            <a:ext cx="4367531" cy="365125"/>
          </a:xfrm>
        </p:spPr>
        <p:txBody>
          <a:bodyPr rtlCol="0">
            <a:noAutofit/>
          </a:bodyPr>
          <a:lstStyle>
            <a:lvl1pPr marL="0" indent="0" algn="l">
              <a:buNone/>
              <a:defRPr sz="2500" b="1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es-MX" noProof="0" dirty="0"/>
              <a:t>ARTEAGA@EJEMPLO.COM</a:t>
            </a:r>
          </a:p>
        </p:txBody>
      </p:sp>
      <p:sp>
        <p:nvSpPr>
          <p:cNvPr id="3" name="Gráfico 23">
            <a:extLst>
              <a:ext uri="{FF2B5EF4-FFF2-40B4-BE49-F238E27FC236}">
                <a16:creationId xmlns:a16="http://schemas.microsoft.com/office/drawing/2014/main" id="{7E62A657-0B76-4081-A698-3C47F1AFC78E}"/>
              </a:ext>
            </a:extLst>
          </p:cNvPr>
          <p:cNvSpPr/>
          <p:nvPr/>
        </p:nvSpPr>
        <p:spPr>
          <a:xfrm>
            <a:off x="900978" y="1561556"/>
            <a:ext cx="2664000" cy="165305"/>
          </a:xfrm>
          <a:custGeom>
            <a:avLst/>
            <a:gdLst>
              <a:gd name="connsiteX0" fmla="*/ 2914974 w 2973890"/>
              <a:gd name="connsiteY0" fmla="*/ 159367 h 165304"/>
              <a:gd name="connsiteX1" fmla="*/ 70199 w 2973890"/>
              <a:gd name="connsiteY1" fmla="*/ 159367 h 165304"/>
              <a:gd name="connsiteX2" fmla="*/ 8816 w 2973890"/>
              <a:gd name="connsiteY2" fmla="*/ 84344 h 165304"/>
              <a:gd name="connsiteX3" fmla="*/ 8816 w 2973890"/>
              <a:gd name="connsiteY3" fmla="*/ 84344 h 165304"/>
              <a:gd name="connsiteX4" fmla="*/ 70199 w 2973890"/>
              <a:gd name="connsiteY4" fmla="*/ 10593 h 165304"/>
              <a:gd name="connsiteX5" fmla="*/ 2913916 w 2973890"/>
              <a:gd name="connsiteY5" fmla="*/ 10593 h 165304"/>
              <a:gd name="connsiteX6" fmla="*/ 2975298 w 2973890"/>
              <a:gd name="connsiteY6" fmla="*/ 84344 h 165304"/>
              <a:gd name="connsiteX7" fmla="*/ 2975298 w 2973890"/>
              <a:gd name="connsiteY7" fmla="*/ 84344 h 165304"/>
              <a:gd name="connsiteX8" fmla="*/ 2914974 w 2973890"/>
              <a:gd name="connsiteY8" fmla="*/ 159367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73890" h="165304">
                <a:moveTo>
                  <a:pt x="2914974" y="159367"/>
                </a:moveTo>
                <a:lnTo>
                  <a:pt x="70199" y="159367"/>
                </a:lnTo>
                <a:cubicBezTo>
                  <a:pt x="36333" y="159367"/>
                  <a:pt x="8816" y="125034"/>
                  <a:pt x="8816" y="84344"/>
                </a:cubicBezTo>
                <a:lnTo>
                  <a:pt x="8816" y="84344"/>
                </a:lnTo>
                <a:cubicBezTo>
                  <a:pt x="8816" y="43654"/>
                  <a:pt x="36333" y="10593"/>
                  <a:pt x="70199" y="10593"/>
                </a:cubicBezTo>
                <a:lnTo>
                  <a:pt x="2913916" y="10593"/>
                </a:lnTo>
                <a:cubicBezTo>
                  <a:pt x="2947782" y="10593"/>
                  <a:pt x="2975298" y="43654"/>
                  <a:pt x="2975298" y="84344"/>
                </a:cubicBezTo>
                <a:lnTo>
                  <a:pt x="2975298" y="84344"/>
                </a:lnTo>
                <a:cubicBezTo>
                  <a:pt x="2976357" y="125034"/>
                  <a:pt x="2948840" y="159367"/>
                  <a:pt x="2914974" y="15936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058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C51D0359-A547-4B21-8850-06B9F1CDF9CE}"/>
              </a:ext>
            </a:extLst>
          </p:cNvPr>
          <p:cNvSpPr/>
          <p:nvPr userDrawn="1"/>
        </p:nvSpPr>
        <p:spPr>
          <a:xfrm>
            <a:off x="7172412" y="-12694"/>
            <a:ext cx="4978400" cy="2133600"/>
          </a:xfrm>
          <a:custGeom>
            <a:avLst/>
            <a:gdLst>
              <a:gd name="connsiteX0" fmla="*/ 2517688 w 4978400"/>
              <a:gd name="connsiteY0" fmla="*/ 12694 h 2133600"/>
              <a:gd name="connsiteX1" fmla="*/ 371388 w 4978400"/>
              <a:gd name="connsiteY1" fmla="*/ 1070604 h 2133600"/>
              <a:gd name="connsiteX2" fmla="*/ 72938 w 4978400"/>
              <a:gd name="connsiteY2" fmla="*/ 1812284 h 2133600"/>
              <a:gd name="connsiteX3" fmla="*/ 81828 w 4978400"/>
              <a:gd name="connsiteY3" fmla="*/ 1830064 h 2133600"/>
              <a:gd name="connsiteX4" fmla="*/ 851448 w 4978400"/>
              <a:gd name="connsiteY4" fmla="*/ 2044694 h 2133600"/>
              <a:gd name="connsiteX5" fmla="*/ 4970058 w 4978400"/>
              <a:gd name="connsiteY5" fmla="*/ 12694 h 2133600"/>
              <a:gd name="connsiteX6" fmla="*/ 2517688 w 4978400"/>
              <a:gd name="connsiteY6" fmla="*/ 12694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400" h="2133600">
                <a:moveTo>
                  <a:pt x="2517688" y="12694"/>
                </a:moveTo>
                <a:lnTo>
                  <a:pt x="371388" y="1070604"/>
                </a:lnTo>
                <a:cubicBezTo>
                  <a:pt x="371388" y="1070604"/>
                  <a:pt x="-163282" y="1334764"/>
                  <a:pt x="72938" y="1812284"/>
                </a:cubicBezTo>
                <a:lnTo>
                  <a:pt x="81828" y="1830064"/>
                </a:lnTo>
                <a:cubicBezTo>
                  <a:pt x="81828" y="1830064"/>
                  <a:pt x="316778" y="2307584"/>
                  <a:pt x="851448" y="2044694"/>
                </a:cubicBezTo>
                <a:lnTo>
                  <a:pt x="4970058" y="12694"/>
                </a:lnTo>
                <a:lnTo>
                  <a:pt x="2517688" y="12694"/>
                </a:lnTo>
                <a:close/>
              </a:path>
            </a:pathLst>
          </a:custGeom>
          <a:solidFill>
            <a:schemeClr val="accent1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01AA95-D7BF-9DEB-0893-2211A93AA0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0189" y="2285046"/>
            <a:ext cx="2383893" cy="127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374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588" y="1436921"/>
            <a:ext cx="5690680" cy="1517356"/>
          </a:xfrm>
        </p:spPr>
        <p:txBody>
          <a:bodyPr rtlCol="0">
            <a:noAutofit/>
          </a:bodyPr>
          <a:lstStyle>
            <a:lvl1pPr>
              <a:defRPr sz="6000"/>
            </a:lvl1pPr>
          </a:lstStyle>
          <a:p>
            <a:pPr rtl="0"/>
            <a:r>
              <a:rPr lang="es-MX" noProof="0" dirty="0"/>
              <a:t>TÍTULO DE LA</a:t>
            </a:r>
            <a:br>
              <a:rPr lang="es-MX" noProof="0" dirty="0"/>
            </a:br>
            <a:r>
              <a:rPr lang="es-MX" noProof="0" dirty="0"/>
              <a:t>TÍTULO    </a:t>
            </a:r>
          </a:p>
        </p:txBody>
      </p:sp>
      <p:sp>
        <p:nvSpPr>
          <p:cNvPr id="28" name="Forma libre: Forma 27">
            <a:extLst>
              <a:ext uri="{FF2B5EF4-FFF2-40B4-BE49-F238E27FC236}">
                <a16:creationId xmlns:a16="http://schemas.microsoft.com/office/drawing/2014/main" id="{87A7AFAC-3F6D-48D1-A100-148792529BC6}"/>
              </a:ext>
            </a:extLst>
          </p:cNvPr>
          <p:cNvSpPr/>
          <p:nvPr/>
        </p:nvSpPr>
        <p:spPr>
          <a:xfrm>
            <a:off x="8069104" y="5422164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81A4F88F-4E35-4BB3-AD24-CAC580C12F96}"/>
              </a:ext>
            </a:extLst>
          </p:cNvPr>
          <p:cNvSpPr/>
          <p:nvPr/>
        </p:nvSpPr>
        <p:spPr>
          <a:xfrm>
            <a:off x="9029960" y="3463631"/>
            <a:ext cx="3175313" cy="2946690"/>
          </a:xfrm>
          <a:custGeom>
            <a:avLst/>
            <a:gdLst>
              <a:gd name="connsiteX0" fmla="*/ 3162808 w 3175312"/>
              <a:gd name="connsiteY0" fmla="*/ 12701 h 2946690"/>
              <a:gd name="connsiteX1" fmla="*/ 487925 w 3175312"/>
              <a:gd name="connsiteY1" fmla="*/ 1331091 h 2946690"/>
              <a:gd name="connsiteX2" fmla="*/ 113238 w 3175312"/>
              <a:gd name="connsiteY2" fmla="*/ 2433559 h 2946690"/>
              <a:gd name="connsiteX3" fmla="*/ 127209 w 3175312"/>
              <a:gd name="connsiteY3" fmla="*/ 2461502 h 2946690"/>
              <a:gd name="connsiteX4" fmla="*/ 1229677 w 3175312"/>
              <a:gd name="connsiteY4" fmla="*/ 2836189 h 2946690"/>
              <a:gd name="connsiteX5" fmla="*/ 3162808 w 3175312"/>
              <a:gd name="connsiteY5" fmla="*/ 1882325 h 2946690"/>
              <a:gd name="connsiteX6" fmla="*/ 3162808 w 3175312"/>
              <a:gd name="connsiteY6" fmla="*/ 12701 h 294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5312" h="2946690">
                <a:moveTo>
                  <a:pt x="3162808" y="12701"/>
                </a:moveTo>
                <a:lnTo>
                  <a:pt x="487925" y="1331091"/>
                </a:lnTo>
                <a:cubicBezTo>
                  <a:pt x="487925" y="1331091"/>
                  <a:pt x="-250018" y="1695617"/>
                  <a:pt x="113238" y="2433559"/>
                </a:cubicBezTo>
                <a:lnTo>
                  <a:pt x="127209" y="2461502"/>
                </a:lnTo>
                <a:cubicBezTo>
                  <a:pt x="127209" y="2461502"/>
                  <a:pt x="491735" y="3199445"/>
                  <a:pt x="1229677" y="2836189"/>
                </a:cubicBezTo>
                <a:lnTo>
                  <a:pt x="3162808" y="1882325"/>
                </a:lnTo>
                <a:lnTo>
                  <a:pt x="3162808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592CE00E-F2AB-4099-8BB8-F109C4F2EFDB}"/>
              </a:ext>
            </a:extLst>
          </p:cNvPr>
          <p:cNvSpPr/>
          <p:nvPr/>
        </p:nvSpPr>
        <p:spPr>
          <a:xfrm>
            <a:off x="11043829" y="4566099"/>
            <a:ext cx="1155814" cy="863685"/>
          </a:xfrm>
          <a:custGeom>
            <a:avLst/>
            <a:gdLst>
              <a:gd name="connsiteX0" fmla="*/ 1148938 w 1155813"/>
              <a:gd name="connsiteY0" fmla="*/ 12701 h 863685"/>
              <a:gd name="connsiteX1" fmla="*/ 173482 w 1155813"/>
              <a:gd name="connsiteY1" fmla="*/ 494079 h 863685"/>
              <a:gd name="connsiteX2" fmla="*/ 28688 w 1155813"/>
              <a:gd name="connsiteY2" fmla="*/ 759535 h 863685"/>
              <a:gd name="connsiteX3" fmla="*/ 31228 w 1155813"/>
              <a:gd name="connsiteY3" fmla="*/ 765885 h 863685"/>
              <a:gd name="connsiteX4" fmla="*/ 329707 w 1155813"/>
              <a:gd name="connsiteY4" fmla="*/ 812880 h 863685"/>
              <a:gd name="connsiteX5" fmla="*/ 1147668 w 1155813"/>
              <a:gd name="connsiteY5" fmla="*/ 408980 h 863685"/>
              <a:gd name="connsiteX6" fmla="*/ 1147668 w 1155813"/>
              <a:gd name="connsiteY6" fmla="*/ 12701 h 86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813" h="863685">
                <a:moveTo>
                  <a:pt x="1148938" y="12701"/>
                </a:moveTo>
                <a:lnTo>
                  <a:pt x="173482" y="494079"/>
                </a:lnTo>
                <a:cubicBezTo>
                  <a:pt x="173482" y="494079"/>
                  <a:pt x="-47520" y="603309"/>
                  <a:pt x="28688" y="759535"/>
                </a:cubicBezTo>
                <a:lnTo>
                  <a:pt x="31228" y="765885"/>
                </a:lnTo>
                <a:cubicBezTo>
                  <a:pt x="31228" y="765885"/>
                  <a:pt x="108705" y="922111"/>
                  <a:pt x="329707" y="812880"/>
                </a:cubicBezTo>
                <a:lnTo>
                  <a:pt x="1147668" y="408980"/>
                </a:lnTo>
                <a:lnTo>
                  <a:pt x="1147668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32" name="Forma libre: Forma 31">
            <a:extLst>
              <a:ext uri="{FF2B5EF4-FFF2-40B4-BE49-F238E27FC236}">
                <a16:creationId xmlns:a16="http://schemas.microsoft.com/office/drawing/2014/main" id="{B0920EEC-7CE3-4708-93D2-53699D17E5E3}"/>
              </a:ext>
            </a:extLst>
          </p:cNvPr>
          <p:cNvSpPr/>
          <p:nvPr/>
        </p:nvSpPr>
        <p:spPr>
          <a:xfrm>
            <a:off x="10743661" y="-1689"/>
            <a:ext cx="1447943" cy="1003399"/>
          </a:xfrm>
          <a:custGeom>
            <a:avLst/>
            <a:gdLst>
              <a:gd name="connsiteX0" fmla="*/ 1446147 w 1447942"/>
              <a:gd name="connsiteY0" fmla="*/ 12701 h 1003398"/>
              <a:gd name="connsiteX1" fmla="*/ 173482 w 1447942"/>
              <a:gd name="connsiteY1" fmla="*/ 640143 h 1003398"/>
              <a:gd name="connsiteX2" fmla="*/ 28688 w 1447942"/>
              <a:gd name="connsiteY2" fmla="*/ 905599 h 1003398"/>
              <a:gd name="connsiteX3" fmla="*/ 31227 w 1447942"/>
              <a:gd name="connsiteY3" fmla="*/ 911950 h 1003398"/>
              <a:gd name="connsiteX4" fmla="*/ 329707 w 1447942"/>
              <a:gd name="connsiteY4" fmla="*/ 958944 h 1003398"/>
              <a:gd name="connsiteX5" fmla="*/ 1446147 w 1447942"/>
              <a:gd name="connsiteY5" fmla="*/ 408980 h 1003398"/>
              <a:gd name="connsiteX6" fmla="*/ 1446147 w 1447942"/>
              <a:gd name="connsiteY6" fmla="*/ 12701 h 100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7942" h="1003398">
                <a:moveTo>
                  <a:pt x="1446147" y="12701"/>
                </a:moveTo>
                <a:lnTo>
                  <a:pt x="173482" y="640143"/>
                </a:lnTo>
                <a:cubicBezTo>
                  <a:pt x="173482" y="640143"/>
                  <a:pt x="-47520" y="749374"/>
                  <a:pt x="28688" y="905599"/>
                </a:cubicBezTo>
                <a:lnTo>
                  <a:pt x="31227" y="911950"/>
                </a:lnTo>
                <a:cubicBezTo>
                  <a:pt x="31227" y="911950"/>
                  <a:pt x="108705" y="1068175"/>
                  <a:pt x="329707" y="958944"/>
                </a:cubicBezTo>
                <a:lnTo>
                  <a:pt x="1446147" y="408980"/>
                </a:lnTo>
                <a:lnTo>
                  <a:pt x="1446147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33" name="Forma libre: Forma 32">
            <a:extLst>
              <a:ext uri="{FF2B5EF4-FFF2-40B4-BE49-F238E27FC236}">
                <a16:creationId xmlns:a16="http://schemas.microsoft.com/office/drawing/2014/main" id="{2DF8B751-9294-46D5-B390-5D322195540F}"/>
              </a:ext>
            </a:extLst>
          </p:cNvPr>
          <p:cNvSpPr/>
          <p:nvPr/>
        </p:nvSpPr>
        <p:spPr>
          <a:xfrm>
            <a:off x="6536780" y="-12701"/>
            <a:ext cx="4978890" cy="2133810"/>
          </a:xfrm>
          <a:custGeom>
            <a:avLst/>
            <a:gdLst>
              <a:gd name="connsiteX0" fmla="*/ 2515401 w 4978890"/>
              <a:gd name="connsiteY0" fmla="*/ 12701 h 2133810"/>
              <a:gd name="connsiteX1" fmla="*/ 371430 w 4978890"/>
              <a:gd name="connsiteY1" fmla="*/ 1069445 h 2133810"/>
              <a:gd name="connsiteX2" fmla="*/ 72951 w 4978890"/>
              <a:gd name="connsiteY2" fmla="*/ 1811198 h 2133810"/>
              <a:gd name="connsiteX3" fmla="*/ 81841 w 4978890"/>
              <a:gd name="connsiteY3" fmla="*/ 1828980 h 2133810"/>
              <a:gd name="connsiteX4" fmla="*/ 851538 w 4978890"/>
              <a:gd name="connsiteY4" fmla="*/ 2043631 h 2133810"/>
              <a:gd name="connsiteX5" fmla="*/ 4968013 w 4978890"/>
              <a:gd name="connsiteY5" fmla="*/ 12701 h 2133810"/>
              <a:gd name="connsiteX6" fmla="*/ 2515401 w 4978890"/>
              <a:gd name="connsiteY6" fmla="*/ 12701 h 213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890" h="2133810">
                <a:moveTo>
                  <a:pt x="2515401" y="12701"/>
                </a:moveTo>
                <a:lnTo>
                  <a:pt x="371430" y="1069445"/>
                </a:lnTo>
                <a:cubicBezTo>
                  <a:pt x="371430" y="1069445"/>
                  <a:pt x="-163293" y="1333631"/>
                  <a:pt x="72951" y="1811198"/>
                </a:cubicBezTo>
                <a:lnTo>
                  <a:pt x="81841" y="1828980"/>
                </a:lnTo>
                <a:cubicBezTo>
                  <a:pt x="81841" y="1828980"/>
                  <a:pt x="316814" y="2306547"/>
                  <a:pt x="851538" y="2043631"/>
                </a:cubicBezTo>
                <a:lnTo>
                  <a:pt x="4968013" y="12701"/>
                </a:lnTo>
                <a:lnTo>
                  <a:pt x="251540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E0F651C6-BE74-4133-ABA8-316072D4F5B5}"/>
              </a:ext>
            </a:extLst>
          </p:cNvPr>
          <p:cNvSpPr/>
          <p:nvPr/>
        </p:nvSpPr>
        <p:spPr>
          <a:xfrm>
            <a:off x="6518963" y="-12701"/>
            <a:ext cx="5029695" cy="2146511"/>
          </a:xfrm>
          <a:custGeom>
            <a:avLst/>
            <a:gdLst>
              <a:gd name="connsiteX0" fmla="*/ 4942646 w 5029695"/>
              <a:gd name="connsiteY0" fmla="*/ 12701 h 2146511"/>
              <a:gd name="connsiteX1" fmla="*/ 860464 w 5029695"/>
              <a:gd name="connsiteY1" fmla="*/ 2025849 h 2146511"/>
              <a:gd name="connsiteX2" fmla="*/ 295258 w 5029695"/>
              <a:gd name="connsiteY2" fmla="*/ 2019499 h 2146511"/>
              <a:gd name="connsiteX3" fmla="*/ 116171 w 5029695"/>
              <a:gd name="connsiteY3" fmla="*/ 1820089 h 2146511"/>
              <a:gd name="connsiteX4" fmla="*/ 107280 w 5029695"/>
              <a:gd name="connsiteY4" fmla="*/ 1802307 h 2146511"/>
              <a:gd name="connsiteX5" fmla="*/ 165705 w 5029695"/>
              <a:gd name="connsiteY5" fmla="*/ 1273935 h 2146511"/>
              <a:gd name="connsiteX6" fmla="*/ 398138 w 5029695"/>
              <a:gd name="connsiteY6" fmla="*/ 1085957 h 2146511"/>
              <a:gd name="connsiteX7" fmla="*/ 2576402 w 5029695"/>
              <a:gd name="connsiteY7" fmla="*/ 12701 h 2146511"/>
              <a:gd name="connsiteX8" fmla="*/ 2490034 w 5029695"/>
              <a:gd name="connsiteY8" fmla="*/ 12701 h 2146511"/>
              <a:gd name="connsiteX9" fmla="*/ 381626 w 5029695"/>
              <a:gd name="connsiteY9" fmla="*/ 1052934 h 2146511"/>
              <a:gd name="connsiteX10" fmla="*/ 137762 w 5029695"/>
              <a:gd name="connsiteY10" fmla="*/ 1249803 h 2146511"/>
              <a:gd name="connsiteX11" fmla="*/ 74256 w 5029695"/>
              <a:gd name="connsiteY11" fmla="*/ 1820089 h 2146511"/>
              <a:gd name="connsiteX12" fmla="*/ 83147 w 5029695"/>
              <a:gd name="connsiteY12" fmla="*/ 1837871 h 2146511"/>
              <a:gd name="connsiteX13" fmla="*/ 273666 w 5029695"/>
              <a:gd name="connsiteY13" fmla="*/ 2051252 h 2146511"/>
              <a:gd name="connsiteX14" fmla="*/ 564525 w 5029695"/>
              <a:gd name="connsiteY14" fmla="*/ 2141431 h 2146511"/>
              <a:gd name="connsiteX15" fmla="*/ 878246 w 5029695"/>
              <a:gd name="connsiteY15" fmla="*/ 2060143 h 2146511"/>
              <a:gd name="connsiteX16" fmla="*/ 5029014 w 5029695"/>
              <a:gd name="connsiteY16" fmla="*/ 12701 h 2146511"/>
              <a:gd name="connsiteX17" fmla="*/ 4942646 w 5029695"/>
              <a:gd name="connsiteY17" fmla="*/ 12701 h 214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29695" h="2146511">
                <a:moveTo>
                  <a:pt x="4942646" y="12701"/>
                </a:moveTo>
                <a:lnTo>
                  <a:pt x="860464" y="2025849"/>
                </a:lnTo>
                <a:cubicBezTo>
                  <a:pt x="645812" y="2131270"/>
                  <a:pt x="456564" y="2130000"/>
                  <a:pt x="295258" y="2019499"/>
                </a:cubicBezTo>
                <a:cubicBezTo>
                  <a:pt x="174596" y="1936941"/>
                  <a:pt x="116171" y="1821359"/>
                  <a:pt x="116171" y="1820089"/>
                </a:cubicBezTo>
                <a:lnTo>
                  <a:pt x="107280" y="1802307"/>
                </a:lnTo>
                <a:cubicBezTo>
                  <a:pt x="13290" y="1611789"/>
                  <a:pt x="32342" y="1433971"/>
                  <a:pt x="165705" y="1273935"/>
                </a:cubicBezTo>
                <a:cubicBezTo>
                  <a:pt x="266045" y="1153274"/>
                  <a:pt x="395598" y="1087227"/>
                  <a:pt x="398138" y="1085957"/>
                </a:cubicBezTo>
                <a:lnTo>
                  <a:pt x="2576402" y="12701"/>
                </a:lnTo>
                <a:lnTo>
                  <a:pt x="2490034" y="12701"/>
                </a:lnTo>
                <a:lnTo>
                  <a:pt x="381626" y="1052934"/>
                </a:lnTo>
                <a:cubicBezTo>
                  <a:pt x="376546" y="1055474"/>
                  <a:pt x="243183" y="1121520"/>
                  <a:pt x="137762" y="1249803"/>
                </a:cubicBezTo>
                <a:cubicBezTo>
                  <a:pt x="38693" y="1369195"/>
                  <a:pt x="-51486" y="1564794"/>
                  <a:pt x="74256" y="1820089"/>
                </a:cubicBezTo>
                <a:lnTo>
                  <a:pt x="83147" y="1837871"/>
                </a:lnTo>
                <a:cubicBezTo>
                  <a:pt x="85687" y="1842952"/>
                  <a:pt x="145383" y="1962343"/>
                  <a:pt x="273666" y="2051252"/>
                </a:cubicBezTo>
                <a:cubicBezTo>
                  <a:pt x="342253" y="2098247"/>
                  <a:pt x="440053" y="2141431"/>
                  <a:pt x="564525" y="2141431"/>
                </a:cubicBezTo>
                <a:cubicBezTo>
                  <a:pt x="654703" y="2141431"/>
                  <a:pt x="758854" y="2119839"/>
                  <a:pt x="878246" y="2060143"/>
                </a:cubicBezTo>
                <a:lnTo>
                  <a:pt x="5029014" y="12701"/>
                </a:lnTo>
                <a:lnTo>
                  <a:pt x="4942646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0" name="Gráfico 37">
            <a:extLst>
              <a:ext uri="{FF2B5EF4-FFF2-40B4-BE49-F238E27FC236}">
                <a16:creationId xmlns:a16="http://schemas.microsoft.com/office/drawing/2014/main" id="{9F75ED2D-7077-4753-B623-4B9A718EB224}"/>
              </a:ext>
            </a:extLst>
          </p:cNvPr>
          <p:cNvSpPr/>
          <p:nvPr userDrawn="1"/>
        </p:nvSpPr>
        <p:spPr>
          <a:xfrm>
            <a:off x="895717" y="3124629"/>
            <a:ext cx="2158296" cy="151200"/>
          </a:xfrm>
          <a:custGeom>
            <a:avLst/>
            <a:gdLst>
              <a:gd name="connsiteX0" fmla="*/ 2087180 w 2158295"/>
              <a:gd name="connsiteY0" fmla="*/ 153601 h 165045"/>
              <a:gd name="connsiteX1" fmla="*/ 82504 w 2158295"/>
              <a:gd name="connsiteY1" fmla="*/ 153601 h 165045"/>
              <a:gd name="connsiteX2" fmla="*/ 12677 w 2158295"/>
              <a:gd name="connsiteY2" fmla="*/ 83774 h 165045"/>
              <a:gd name="connsiteX3" fmla="*/ 12677 w 2158295"/>
              <a:gd name="connsiteY3" fmla="*/ 83774 h 165045"/>
              <a:gd name="connsiteX4" fmla="*/ 82504 w 2158295"/>
              <a:gd name="connsiteY4" fmla="*/ 12677 h 165045"/>
              <a:gd name="connsiteX5" fmla="*/ 2087180 w 2158295"/>
              <a:gd name="connsiteY5" fmla="*/ 12677 h 165045"/>
              <a:gd name="connsiteX6" fmla="*/ 2157008 w 2158295"/>
              <a:gd name="connsiteY6" fmla="*/ 82504 h 165045"/>
              <a:gd name="connsiteX7" fmla="*/ 2157008 w 2158295"/>
              <a:gd name="connsiteY7" fmla="*/ 82504 h 165045"/>
              <a:gd name="connsiteX8" fmla="*/ 2087180 w 2158295"/>
              <a:gd name="connsiteY8" fmla="*/ 153601 h 16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295" h="165045">
                <a:moveTo>
                  <a:pt x="2087180" y="153601"/>
                </a:moveTo>
                <a:lnTo>
                  <a:pt x="82504" y="153601"/>
                </a:lnTo>
                <a:cubicBezTo>
                  <a:pt x="44417" y="153601"/>
                  <a:pt x="12677" y="121861"/>
                  <a:pt x="12677" y="83774"/>
                </a:cubicBezTo>
                <a:lnTo>
                  <a:pt x="12677" y="83774"/>
                </a:lnTo>
                <a:cubicBezTo>
                  <a:pt x="12677" y="44417"/>
                  <a:pt x="44417" y="12677"/>
                  <a:pt x="82504" y="12677"/>
                </a:cubicBezTo>
                <a:lnTo>
                  <a:pt x="2087180" y="12677"/>
                </a:lnTo>
                <a:cubicBezTo>
                  <a:pt x="2125268" y="12677"/>
                  <a:pt x="2157008" y="44417"/>
                  <a:pt x="2157008" y="82504"/>
                </a:cubicBezTo>
                <a:lnTo>
                  <a:pt x="2157008" y="82504"/>
                </a:lnTo>
                <a:cubicBezTo>
                  <a:pt x="2157008" y="121861"/>
                  <a:pt x="2126538" y="153601"/>
                  <a:pt x="2087180" y="15360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2" name="Gráfico 36">
            <a:extLst>
              <a:ext uri="{FF2B5EF4-FFF2-40B4-BE49-F238E27FC236}">
                <a16:creationId xmlns:a16="http://schemas.microsoft.com/office/drawing/2014/main" id="{21FF5BCF-BC53-4C3F-8B7F-7077B35ADCA8}"/>
              </a:ext>
            </a:extLst>
          </p:cNvPr>
          <p:cNvSpPr/>
          <p:nvPr userDrawn="1"/>
        </p:nvSpPr>
        <p:spPr>
          <a:xfrm>
            <a:off x="-7816" y="5057878"/>
            <a:ext cx="715108" cy="949829"/>
          </a:xfrm>
          <a:custGeom>
            <a:avLst/>
            <a:gdLst>
              <a:gd name="connsiteX0" fmla="*/ 217522 w 723600"/>
              <a:gd name="connsiteY0" fmla="*/ 9082 h 1015200"/>
              <a:gd name="connsiteX1" fmla="*/ 9082 w 723600"/>
              <a:gd name="connsiteY1" fmla="*/ 9082 h 1015200"/>
              <a:gd name="connsiteX2" fmla="*/ 9082 w 723600"/>
              <a:gd name="connsiteY2" fmla="*/ 1010242 h 1015200"/>
              <a:gd name="connsiteX3" fmla="*/ 217522 w 723600"/>
              <a:gd name="connsiteY3" fmla="*/ 1010242 h 1015200"/>
              <a:gd name="connsiteX4" fmla="*/ 716482 w 723600"/>
              <a:gd name="connsiteY4" fmla="*/ 518842 h 1015200"/>
              <a:gd name="connsiteX5" fmla="*/ 716482 w 723600"/>
              <a:gd name="connsiteY5" fmla="*/ 500482 h 1015200"/>
              <a:gd name="connsiteX6" fmla="*/ 217522 w 723600"/>
              <a:gd name="connsiteY6" fmla="*/ 9082 h 10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3600" h="1015200">
                <a:moveTo>
                  <a:pt x="217522" y="9082"/>
                </a:moveTo>
                <a:lnTo>
                  <a:pt x="9082" y="9082"/>
                </a:lnTo>
                <a:lnTo>
                  <a:pt x="9082" y="1010242"/>
                </a:lnTo>
                <a:lnTo>
                  <a:pt x="217522" y="1010242"/>
                </a:lnTo>
                <a:cubicBezTo>
                  <a:pt x="217522" y="1010242"/>
                  <a:pt x="716482" y="1010242"/>
                  <a:pt x="716482" y="518842"/>
                </a:cubicBezTo>
                <a:lnTo>
                  <a:pt x="716482" y="500482"/>
                </a:lnTo>
                <a:cubicBezTo>
                  <a:pt x="716482" y="500482"/>
                  <a:pt x="716482" y="9082"/>
                  <a:pt x="217522" y="9082"/>
                </a:cubicBezTo>
                <a:close/>
              </a:path>
            </a:pathLst>
          </a:custGeom>
          <a:solidFill>
            <a:schemeClr val="accent3"/>
          </a:solidFill>
          <a:ln w="1068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BCD5243-C973-44F2-88E8-A4A6E3387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588" y="3429000"/>
            <a:ext cx="3629300" cy="94619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1" i="0"/>
            </a:lvl1pPr>
          </a:lstStyle>
          <a:p>
            <a:pPr marL="228600" lvl="0" indent="-228600" rtl="0"/>
            <a:r>
              <a:rPr lang="es-ES" noProof="0"/>
              <a:t>Haga clic para modificar el estilo de subtítulo del patrón</a:t>
            </a: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636408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13074BE4-153F-46FE-B915-CD1AEF318A25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35" name="Gráfico 12">
            <a:extLst>
              <a:ext uri="{FF2B5EF4-FFF2-40B4-BE49-F238E27FC236}">
                <a16:creationId xmlns:a16="http://schemas.microsoft.com/office/drawing/2014/main" id="{0B7E91C4-F19E-46BE-B05F-139B5418924E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08A64499-0304-4070-BCB0-67E2BE20A3EA}"/>
              </a:ext>
            </a:extLst>
          </p:cNvPr>
          <p:cNvSpPr/>
          <p:nvPr userDrawn="1"/>
        </p:nvSpPr>
        <p:spPr>
          <a:xfrm>
            <a:off x="7998821" y="1645349"/>
            <a:ext cx="4196737" cy="1001638"/>
          </a:xfrm>
          <a:custGeom>
            <a:avLst/>
            <a:gdLst>
              <a:gd name="connsiteX0" fmla="*/ 3150394 w 3152775"/>
              <a:gd name="connsiteY0" fmla="*/ 7144 h 752475"/>
              <a:gd name="connsiteX1" fmla="*/ 371952 w 3152775"/>
              <a:gd name="connsiteY1" fmla="*/ 7144 h 752475"/>
              <a:gd name="connsiteX2" fmla="*/ 7144 w 3152775"/>
              <a:gd name="connsiteY2" fmla="*/ 370999 h 752475"/>
              <a:gd name="connsiteX3" fmla="*/ 7144 w 3152775"/>
              <a:gd name="connsiteY3" fmla="*/ 384334 h 752475"/>
              <a:gd name="connsiteX4" fmla="*/ 371952 w 3152775"/>
              <a:gd name="connsiteY4" fmla="*/ 748189 h 752475"/>
              <a:gd name="connsiteX5" fmla="*/ 3150394 w 3152775"/>
              <a:gd name="connsiteY5" fmla="*/ 748189 h 752475"/>
              <a:gd name="connsiteX6" fmla="*/ 3150394 w 3152775"/>
              <a:gd name="connsiteY6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52775" h="752475">
                <a:moveTo>
                  <a:pt x="3150394" y="7144"/>
                </a:moveTo>
                <a:lnTo>
                  <a:pt x="371952" y="7144"/>
                </a:lnTo>
                <a:cubicBezTo>
                  <a:pt x="371952" y="7144"/>
                  <a:pt x="7144" y="7144"/>
                  <a:pt x="7144" y="370999"/>
                </a:cubicBezTo>
                <a:lnTo>
                  <a:pt x="7144" y="384334"/>
                </a:lnTo>
                <a:cubicBezTo>
                  <a:pt x="7144" y="384334"/>
                  <a:pt x="7144" y="748189"/>
                  <a:pt x="371952" y="748189"/>
                </a:cubicBezTo>
                <a:lnTo>
                  <a:pt x="3150394" y="748189"/>
                </a:lnTo>
                <a:lnTo>
                  <a:pt x="3150394" y="7144"/>
                </a:lnTo>
                <a:close/>
              </a:path>
            </a:pathLst>
          </a:custGeom>
          <a:solidFill>
            <a:schemeClr val="accent1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ED1736B3-AE79-40C2-80FF-2FB0FEE27195}"/>
              </a:ext>
            </a:extLst>
          </p:cNvPr>
          <p:cNvSpPr/>
          <p:nvPr userDrawn="1"/>
        </p:nvSpPr>
        <p:spPr>
          <a:xfrm>
            <a:off x="12186920" y="2632655"/>
            <a:ext cx="5081" cy="25381"/>
          </a:xfrm>
          <a:custGeom>
            <a:avLst/>
            <a:gdLst>
              <a:gd name="connsiteX0" fmla="*/ 0 w 5081"/>
              <a:gd name="connsiteY0" fmla="*/ 0 h 25381"/>
              <a:gd name="connsiteX1" fmla="*/ 5081 w 5081"/>
              <a:gd name="connsiteY1" fmla="*/ 0 h 25381"/>
              <a:gd name="connsiteX2" fmla="*/ 5081 w 5081"/>
              <a:gd name="connsiteY2" fmla="*/ 25381 h 25381"/>
              <a:gd name="connsiteX3" fmla="*/ 0 w 5081"/>
              <a:gd name="connsiteY3" fmla="*/ 25381 h 25381"/>
              <a:gd name="connsiteX4" fmla="*/ 0 w 5081"/>
              <a:gd name="connsiteY4" fmla="*/ 0 h 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1">
                <a:moveTo>
                  <a:pt x="0" y="0"/>
                </a:moveTo>
                <a:lnTo>
                  <a:pt x="5081" y="0"/>
                </a:lnTo>
                <a:lnTo>
                  <a:pt x="5081" y="25381"/>
                </a:lnTo>
                <a:lnTo>
                  <a:pt x="0" y="2538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2228EE-3546-4272-9C39-150FF23CE0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1987" y="793172"/>
            <a:ext cx="9144000" cy="655621"/>
          </a:xfrm>
        </p:spPr>
        <p:txBody>
          <a:bodyPr rtlCol="0" anchor="b">
            <a:normAutofit/>
          </a:bodyPr>
          <a:lstStyle>
            <a:lvl1pPr algn="l">
              <a:defRPr sz="4000" b="1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es-MX" noProof="0" dirty="0"/>
              <a:t>DIAPOSITIVA DIVISORIA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2EFCC6-4D5A-4B43-A534-1A868887B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72" y="1877051"/>
            <a:ext cx="6843278" cy="496223"/>
          </a:xfrm>
        </p:spPr>
        <p:txBody>
          <a:bodyPr rtlCol="0">
            <a:normAutofit/>
          </a:bodyPr>
          <a:lstStyle>
            <a:lvl1pPr marL="0" indent="0" algn="l">
              <a:buNone/>
              <a:defRPr sz="18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MX" noProof="0" dirty="0"/>
          </a:p>
        </p:txBody>
      </p:sp>
      <p:sp>
        <p:nvSpPr>
          <p:cNvPr id="24" name="Gráfico 22">
            <a:extLst>
              <a:ext uri="{FF2B5EF4-FFF2-40B4-BE49-F238E27FC236}">
                <a16:creationId xmlns:a16="http://schemas.microsoft.com/office/drawing/2014/main" id="{4EE1436E-33B5-4388-87D8-2D0633CC3CE7}"/>
              </a:ext>
            </a:extLst>
          </p:cNvPr>
          <p:cNvSpPr/>
          <p:nvPr/>
        </p:nvSpPr>
        <p:spPr>
          <a:xfrm>
            <a:off x="903223" y="1550951"/>
            <a:ext cx="3273552" cy="151200"/>
          </a:xfrm>
          <a:custGeom>
            <a:avLst/>
            <a:gdLst>
              <a:gd name="connsiteX0" fmla="*/ 2392204 w 2447925"/>
              <a:gd name="connsiteY0" fmla="*/ 114776 h 114300"/>
              <a:gd name="connsiteX1" fmla="*/ 60484 w 2447925"/>
              <a:gd name="connsiteY1" fmla="*/ 114776 h 114300"/>
              <a:gd name="connsiteX2" fmla="*/ 7144 w 2447925"/>
              <a:gd name="connsiteY2" fmla="*/ 60484 h 114300"/>
              <a:gd name="connsiteX3" fmla="*/ 7144 w 2447925"/>
              <a:gd name="connsiteY3" fmla="*/ 60484 h 114300"/>
              <a:gd name="connsiteX4" fmla="*/ 60484 w 2447925"/>
              <a:gd name="connsiteY4" fmla="*/ 7144 h 114300"/>
              <a:gd name="connsiteX5" fmla="*/ 2392204 w 2447925"/>
              <a:gd name="connsiteY5" fmla="*/ 7144 h 114300"/>
              <a:gd name="connsiteX6" fmla="*/ 2445544 w 2447925"/>
              <a:gd name="connsiteY6" fmla="*/ 60484 h 114300"/>
              <a:gd name="connsiteX7" fmla="*/ 2445544 w 2447925"/>
              <a:gd name="connsiteY7" fmla="*/ 60484 h 114300"/>
              <a:gd name="connsiteX8" fmla="*/ 2392204 w 2447925"/>
              <a:gd name="connsiteY8" fmla="*/ 114776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47925" h="114300">
                <a:moveTo>
                  <a:pt x="2392204" y="114776"/>
                </a:moveTo>
                <a:lnTo>
                  <a:pt x="60484" y="114776"/>
                </a:lnTo>
                <a:cubicBezTo>
                  <a:pt x="30956" y="114776"/>
                  <a:pt x="7144" y="90011"/>
                  <a:pt x="7144" y="60484"/>
                </a:cubicBezTo>
                <a:lnTo>
                  <a:pt x="7144" y="60484"/>
                </a:lnTo>
                <a:cubicBezTo>
                  <a:pt x="7144" y="30956"/>
                  <a:pt x="30956" y="7144"/>
                  <a:pt x="60484" y="7144"/>
                </a:cubicBezTo>
                <a:lnTo>
                  <a:pt x="2392204" y="7144"/>
                </a:lnTo>
                <a:cubicBezTo>
                  <a:pt x="2421731" y="7144"/>
                  <a:pt x="2445544" y="30956"/>
                  <a:pt x="2445544" y="60484"/>
                </a:cubicBezTo>
                <a:lnTo>
                  <a:pt x="2445544" y="60484"/>
                </a:lnTo>
                <a:cubicBezTo>
                  <a:pt x="2445544" y="90011"/>
                  <a:pt x="2421731" y="114776"/>
                  <a:pt x="2392204" y="11477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A8FB11AB-3031-47CA-85DD-696856C3C62C}"/>
              </a:ext>
            </a:extLst>
          </p:cNvPr>
          <p:cNvSpPr/>
          <p:nvPr/>
        </p:nvSpPr>
        <p:spPr>
          <a:xfrm>
            <a:off x="3899957" y="4662943"/>
            <a:ext cx="8292043" cy="760738"/>
          </a:xfrm>
          <a:custGeom>
            <a:avLst/>
            <a:gdLst>
              <a:gd name="connsiteX0" fmla="*/ 6228874 w 6229350"/>
              <a:gd name="connsiteY0" fmla="*/ 7144 h 571500"/>
              <a:gd name="connsiteX1" fmla="*/ 284321 w 6229350"/>
              <a:gd name="connsiteY1" fmla="*/ 7144 h 571500"/>
              <a:gd name="connsiteX2" fmla="*/ 7144 w 6229350"/>
              <a:gd name="connsiteY2" fmla="*/ 282416 h 571500"/>
              <a:gd name="connsiteX3" fmla="*/ 7144 w 6229350"/>
              <a:gd name="connsiteY3" fmla="*/ 292894 h 571500"/>
              <a:gd name="connsiteX4" fmla="*/ 284321 w 6229350"/>
              <a:gd name="connsiteY4" fmla="*/ 568166 h 571500"/>
              <a:gd name="connsiteX5" fmla="*/ 6228874 w 6229350"/>
              <a:gd name="connsiteY5" fmla="*/ 568166 h 571500"/>
              <a:gd name="connsiteX6" fmla="*/ 6228874 w 6229350"/>
              <a:gd name="connsiteY6" fmla="*/ 71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9350" h="571500">
                <a:moveTo>
                  <a:pt x="6228874" y="7144"/>
                </a:moveTo>
                <a:lnTo>
                  <a:pt x="284321" y="7144"/>
                </a:lnTo>
                <a:cubicBezTo>
                  <a:pt x="284321" y="7144"/>
                  <a:pt x="7144" y="7144"/>
                  <a:pt x="7144" y="282416"/>
                </a:cubicBezTo>
                <a:lnTo>
                  <a:pt x="7144" y="292894"/>
                </a:lnTo>
                <a:cubicBezTo>
                  <a:pt x="7144" y="292894"/>
                  <a:pt x="7144" y="568166"/>
                  <a:pt x="284321" y="568166"/>
                </a:cubicBezTo>
                <a:lnTo>
                  <a:pt x="6228874" y="568166"/>
                </a:lnTo>
                <a:lnTo>
                  <a:pt x="6228874" y="7144"/>
                </a:lnTo>
                <a:close/>
              </a:path>
            </a:pathLst>
          </a:custGeom>
          <a:solidFill>
            <a:schemeClr val="accent3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9CD6F167-FB82-4EFB-BAB9-1D0FEE07B85D}"/>
              </a:ext>
            </a:extLst>
          </p:cNvPr>
          <p:cNvSpPr/>
          <p:nvPr/>
        </p:nvSpPr>
        <p:spPr>
          <a:xfrm>
            <a:off x="3909848" y="4665641"/>
            <a:ext cx="8277071" cy="257213"/>
          </a:xfrm>
          <a:custGeom>
            <a:avLst/>
            <a:gdLst>
              <a:gd name="connsiteX0" fmla="*/ 363403 w 8277071"/>
              <a:gd name="connsiteY0" fmla="*/ 0 h 257213"/>
              <a:gd name="connsiteX1" fmla="*/ 8277071 w 8277071"/>
              <a:gd name="connsiteY1" fmla="*/ 0 h 257213"/>
              <a:gd name="connsiteX2" fmla="*/ 8277071 w 8277071"/>
              <a:gd name="connsiteY2" fmla="*/ 25380 h 257213"/>
              <a:gd name="connsiteX3" fmla="*/ 363403 w 8277071"/>
              <a:gd name="connsiteY3" fmla="*/ 25380 h 257213"/>
              <a:gd name="connsiteX4" fmla="*/ 61632 w 8277071"/>
              <a:gd name="connsiteY4" fmla="*/ 176355 h 257213"/>
              <a:gd name="connsiteX5" fmla="*/ 25441 w 8277071"/>
              <a:gd name="connsiteY5" fmla="*/ 257213 h 257213"/>
              <a:gd name="connsiteX6" fmla="*/ 0 w 8277071"/>
              <a:gd name="connsiteY6" fmla="*/ 257213 h 257213"/>
              <a:gd name="connsiteX7" fmla="*/ 29624 w 8277071"/>
              <a:gd name="connsiteY7" fmla="*/ 181325 h 257213"/>
              <a:gd name="connsiteX8" fmla="*/ 363403 w 8277071"/>
              <a:gd name="connsiteY8" fmla="*/ 0 h 257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77071" h="257213">
                <a:moveTo>
                  <a:pt x="363403" y="0"/>
                </a:moveTo>
                <a:lnTo>
                  <a:pt x="8277071" y="0"/>
                </a:lnTo>
                <a:lnTo>
                  <a:pt x="8277071" y="25380"/>
                </a:lnTo>
                <a:lnTo>
                  <a:pt x="363403" y="25380"/>
                </a:lnTo>
                <a:cubicBezTo>
                  <a:pt x="352934" y="25380"/>
                  <a:pt x="158297" y="28235"/>
                  <a:pt x="61632" y="176355"/>
                </a:cubicBezTo>
                <a:lnTo>
                  <a:pt x="25441" y="257213"/>
                </a:lnTo>
                <a:lnTo>
                  <a:pt x="0" y="257213"/>
                </a:lnTo>
                <a:lnTo>
                  <a:pt x="29624" y="181325"/>
                </a:lnTo>
                <a:cubicBezTo>
                  <a:pt x="130358" y="2915"/>
                  <a:pt x="360072" y="0"/>
                  <a:pt x="363403" y="0"/>
                </a:cubicBez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36" name="Forma libre: Forma 35">
            <a:extLst>
              <a:ext uri="{FF2B5EF4-FFF2-40B4-BE49-F238E27FC236}">
                <a16:creationId xmlns:a16="http://schemas.microsoft.com/office/drawing/2014/main" id="{3DD2082D-81A7-4E2D-8136-9D48016E7FE9}"/>
              </a:ext>
            </a:extLst>
          </p:cNvPr>
          <p:cNvSpPr/>
          <p:nvPr/>
        </p:nvSpPr>
        <p:spPr>
          <a:xfrm>
            <a:off x="12186919" y="4665641"/>
            <a:ext cx="5081" cy="25380"/>
          </a:xfrm>
          <a:custGeom>
            <a:avLst/>
            <a:gdLst>
              <a:gd name="connsiteX0" fmla="*/ 0 w 5081"/>
              <a:gd name="connsiteY0" fmla="*/ 0 h 25380"/>
              <a:gd name="connsiteX1" fmla="*/ 5081 w 5081"/>
              <a:gd name="connsiteY1" fmla="*/ 0 h 25380"/>
              <a:gd name="connsiteX2" fmla="*/ 5081 w 5081"/>
              <a:gd name="connsiteY2" fmla="*/ 25380 h 25380"/>
              <a:gd name="connsiteX3" fmla="*/ 0 w 5081"/>
              <a:gd name="connsiteY3" fmla="*/ 25380 h 25380"/>
              <a:gd name="connsiteX4" fmla="*/ 0 w 5081"/>
              <a:gd name="connsiteY4" fmla="*/ 0 h 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0">
                <a:moveTo>
                  <a:pt x="0" y="0"/>
                </a:moveTo>
                <a:lnTo>
                  <a:pt x="5081" y="0"/>
                </a:lnTo>
                <a:lnTo>
                  <a:pt x="5081" y="25380"/>
                </a:lnTo>
                <a:lnTo>
                  <a:pt x="0" y="2538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ECF16C35-4A81-4062-808C-7697AF0FD6F5}"/>
              </a:ext>
            </a:extLst>
          </p:cNvPr>
          <p:cNvSpPr/>
          <p:nvPr/>
        </p:nvSpPr>
        <p:spPr>
          <a:xfrm>
            <a:off x="3905233" y="4922854"/>
            <a:ext cx="8286767" cy="513089"/>
          </a:xfrm>
          <a:custGeom>
            <a:avLst/>
            <a:gdLst>
              <a:gd name="connsiteX0" fmla="*/ 4615 w 8286767"/>
              <a:gd name="connsiteY0" fmla="*/ 0 h 513089"/>
              <a:gd name="connsiteX1" fmla="*/ 30056 w 8286767"/>
              <a:gd name="connsiteY1" fmla="*/ 0 h 513089"/>
              <a:gd name="connsiteX2" fmla="*/ 27385 w 8286767"/>
              <a:gd name="connsiteY2" fmla="*/ 5967 h 513089"/>
              <a:gd name="connsiteX3" fmla="*/ 12690 w 8286767"/>
              <a:gd name="connsiteY3" fmla="*/ 120958 h 513089"/>
              <a:gd name="connsiteX4" fmla="*/ 12690 w 8286767"/>
              <a:gd name="connsiteY4" fmla="*/ 134918 h 513089"/>
              <a:gd name="connsiteX5" fmla="*/ 368018 w 8286767"/>
              <a:gd name="connsiteY5" fmla="*/ 488977 h 513089"/>
              <a:gd name="connsiteX6" fmla="*/ 8286767 w 8286767"/>
              <a:gd name="connsiteY6" fmla="*/ 488977 h 513089"/>
              <a:gd name="connsiteX7" fmla="*/ 8286767 w 8286767"/>
              <a:gd name="connsiteY7" fmla="*/ 513089 h 513089"/>
              <a:gd name="connsiteX8" fmla="*/ 368018 w 8286767"/>
              <a:gd name="connsiteY8" fmla="*/ 513089 h 513089"/>
              <a:gd name="connsiteX9" fmla="*/ 0 w 8286767"/>
              <a:gd name="connsiteY9" fmla="*/ 225019 h 513089"/>
              <a:gd name="connsiteX10" fmla="*/ 0 w 8286767"/>
              <a:gd name="connsiteY10" fmla="*/ 11822 h 513089"/>
              <a:gd name="connsiteX11" fmla="*/ 4615 w 8286767"/>
              <a:gd name="connsiteY11" fmla="*/ 0 h 51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86767" h="513089">
                <a:moveTo>
                  <a:pt x="4615" y="0"/>
                </a:moveTo>
                <a:lnTo>
                  <a:pt x="30056" y="0"/>
                </a:lnTo>
                <a:lnTo>
                  <a:pt x="27385" y="5967"/>
                </a:lnTo>
                <a:cubicBezTo>
                  <a:pt x="18024" y="39383"/>
                  <a:pt x="12690" y="77494"/>
                  <a:pt x="12690" y="120958"/>
                </a:cubicBezTo>
                <a:lnTo>
                  <a:pt x="12690" y="134918"/>
                </a:lnTo>
                <a:cubicBezTo>
                  <a:pt x="12690" y="150146"/>
                  <a:pt x="17766" y="488977"/>
                  <a:pt x="368018" y="488977"/>
                </a:cubicBezTo>
                <a:lnTo>
                  <a:pt x="8286767" y="488977"/>
                </a:lnTo>
                <a:lnTo>
                  <a:pt x="8286767" y="513089"/>
                </a:lnTo>
                <a:lnTo>
                  <a:pt x="368018" y="513089"/>
                </a:lnTo>
                <a:cubicBezTo>
                  <a:pt x="110405" y="513089"/>
                  <a:pt x="26649" y="336694"/>
                  <a:pt x="0" y="225019"/>
                </a:cubicBezTo>
                <a:lnTo>
                  <a:pt x="0" y="11822"/>
                </a:lnTo>
                <a:lnTo>
                  <a:pt x="4615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7EF9C60-0FED-4965-A9BC-CE69886A3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MM.DD.20XX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39F2410-4015-48DB-BB4D-B5944D8C1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C44F5F26-1B35-405A-AD75-5DFF48CF6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751FA1-0823-3D63-B1D1-BF8B85F709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9395" y="350674"/>
            <a:ext cx="1659368" cy="8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44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Elipse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49" name="Gráfico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DD.MM.20XX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grpSp>
        <p:nvGrpSpPr>
          <p:cNvPr id="41" name="Gráfico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5" name="Forma libre: Forma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7B996D2-06BA-413A-BDEE-428A188D3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5E5109FC-8CB6-4120-99CF-163DDAB9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20" name="Gráfico 19">
            <a:extLst>
              <a:ext uri="{FF2B5EF4-FFF2-40B4-BE49-F238E27FC236}">
                <a16:creationId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D6558B3-AF33-E34D-43B7-7CF8C2899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" y="5854652"/>
            <a:ext cx="1659368" cy="8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012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Elipse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49" name="Gráfico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DD.MM.20XX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grpSp>
        <p:nvGrpSpPr>
          <p:cNvPr id="41" name="Gráfico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5" name="Forma libre: Forma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</p:grpSp>
      <p:sp>
        <p:nvSpPr>
          <p:cNvPr id="7" name="Título 6">
            <a:extLst>
              <a:ext uri="{FF2B5EF4-FFF2-40B4-BE49-F238E27FC236}">
                <a16:creationId xmlns:a16="http://schemas.microsoft.com/office/drawing/2014/main" id="{5E5109FC-8CB6-4120-99CF-163DDAB9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20" name="Gráfico 19">
            <a:extLst>
              <a:ext uri="{FF2B5EF4-FFF2-40B4-BE49-F238E27FC236}">
                <a16:creationId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24B91177-A100-491C-B5EF-BC77E2E33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5624"/>
            <a:ext cx="5157787" cy="421084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9" name="Marcador de posición de contenido 3">
            <a:extLst>
              <a:ext uri="{FF2B5EF4-FFF2-40B4-BE49-F238E27FC236}">
                <a16:creationId xmlns:a16="http://schemas.microsoft.com/office/drawing/2014/main" id="{B6758D2F-C9AC-4514-B48E-2863E8DDE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23458"/>
            <a:ext cx="5157787" cy="3387547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21" name="Marcador de texto 4">
            <a:extLst>
              <a:ext uri="{FF2B5EF4-FFF2-40B4-BE49-F238E27FC236}">
                <a16:creationId xmlns:a16="http://schemas.microsoft.com/office/drawing/2014/main" id="{633C3A9F-17E4-45DF-8DB7-7A55846AA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8800"/>
            <a:ext cx="5183188" cy="417908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posición de contenido 5">
            <a:extLst>
              <a:ext uri="{FF2B5EF4-FFF2-40B4-BE49-F238E27FC236}">
                <a16:creationId xmlns:a16="http://schemas.microsoft.com/office/drawing/2014/main" id="{C19AB308-7C32-46C9-B8DB-AA96B7ED0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23458"/>
            <a:ext cx="5183188" cy="3387547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E7D7B4D-4335-155D-01A5-E113128BB9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" y="5854652"/>
            <a:ext cx="1659368" cy="8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84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Elipse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49" name="Gráfico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DD.MM.20XX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grpSp>
        <p:nvGrpSpPr>
          <p:cNvPr id="41" name="Gráfico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5" name="Forma libre: Forma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</p:grpSp>
      <p:sp>
        <p:nvSpPr>
          <p:cNvPr id="7" name="Título 6">
            <a:extLst>
              <a:ext uri="{FF2B5EF4-FFF2-40B4-BE49-F238E27FC236}">
                <a16:creationId xmlns:a16="http://schemas.microsoft.com/office/drawing/2014/main" id="{5E5109FC-8CB6-4120-99CF-163DDAB9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20" name="Gráfico 19">
            <a:extLst>
              <a:ext uri="{FF2B5EF4-FFF2-40B4-BE49-F238E27FC236}">
                <a16:creationId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CD5AE8A8-E027-4529-A5B7-4D355C71E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885380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24" name="Marcador de contenido 3">
            <a:extLst>
              <a:ext uri="{FF2B5EF4-FFF2-40B4-BE49-F238E27FC236}">
                <a16:creationId xmlns:a16="http://schemas.microsoft.com/office/drawing/2014/main" id="{FB3E4803-F2CA-4138-9997-6108BFDFE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8110" y="1825624"/>
            <a:ext cx="5181600" cy="3929249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75EF84B-BDC1-05BA-73C3-426811B6AE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" y="5854652"/>
            <a:ext cx="1659368" cy="8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67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Marcador de posición de imagen 56">
            <a:extLst>
              <a:ext uri="{FF2B5EF4-FFF2-40B4-BE49-F238E27FC236}">
                <a16:creationId xmlns:a16="http://schemas.microsoft.com/office/drawing/2014/main" id="{8E328517-DD21-40E0-B948-B25B366BD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75856" y="532519"/>
            <a:ext cx="6416144" cy="4534825"/>
          </a:xfrm>
          <a:custGeom>
            <a:avLst/>
            <a:gdLst>
              <a:gd name="connsiteX0" fmla="*/ 2868981 w 6416144"/>
              <a:gd name="connsiteY0" fmla="*/ 4534824 h 4534825"/>
              <a:gd name="connsiteX1" fmla="*/ 6408833 w 6416144"/>
              <a:gd name="connsiteY1" fmla="*/ 4534824 h 4534825"/>
              <a:gd name="connsiteX2" fmla="*/ 6408833 w 6416144"/>
              <a:gd name="connsiteY2" fmla="*/ 4534825 h 4534825"/>
              <a:gd name="connsiteX3" fmla="*/ 2868981 w 6416144"/>
              <a:gd name="connsiteY3" fmla="*/ 4534825 h 4534825"/>
              <a:gd name="connsiteX4" fmla="*/ 4642500 w 6416144"/>
              <a:gd name="connsiteY4" fmla="*/ 3896784 h 4534825"/>
              <a:gd name="connsiteX5" fmla="*/ 4642501 w 6416144"/>
              <a:gd name="connsiteY5" fmla="*/ 3896784 h 4534825"/>
              <a:gd name="connsiteX6" fmla="*/ 4642605 w 6416144"/>
              <a:gd name="connsiteY6" fmla="*/ 3899015 h 4534825"/>
              <a:gd name="connsiteX7" fmla="*/ 4905429 w 6416144"/>
              <a:gd name="connsiteY7" fmla="*/ 4145635 h 4534825"/>
              <a:gd name="connsiteX8" fmla="*/ 4905428 w 6416144"/>
              <a:gd name="connsiteY8" fmla="*/ 4145635 h 4534825"/>
              <a:gd name="connsiteX9" fmla="*/ 4642604 w 6416144"/>
              <a:gd name="connsiteY9" fmla="*/ 3899015 h 4534825"/>
              <a:gd name="connsiteX10" fmla="*/ 6416144 w 6416144"/>
              <a:gd name="connsiteY10" fmla="*/ 0 h 4534825"/>
              <a:gd name="connsiteX11" fmla="*/ 6416144 w 6416144"/>
              <a:gd name="connsiteY11" fmla="*/ 233966 h 4534825"/>
              <a:gd name="connsiteX12" fmla="*/ 5581177 w 6416144"/>
              <a:gd name="connsiteY12" fmla="*/ 233966 h 4534825"/>
              <a:gd name="connsiteX13" fmla="*/ 5317839 w 6416144"/>
              <a:gd name="connsiteY13" fmla="*/ 428980 h 4534825"/>
              <a:gd name="connsiteX14" fmla="*/ 5317839 w 6416144"/>
              <a:gd name="connsiteY14" fmla="*/ 436628 h 4534825"/>
              <a:gd name="connsiteX15" fmla="*/ 5581177 w 6416144"/>
              <a:gd name="connsiteY15" fmla="*/ 631642 h 4534825"/>
              <a:gd name="connsiteX16" fmla="*/ 6416144 w 6416144"/>
              <a:gd name="connsiteY16" fmla="*/ 631642 h 4534825"/>
              <a:gd name="connsiteX17" fmla="*/ 6416144 w 6416144"/>
              <a:gd name="connsiteY17" fmla="*/ 4534824 h 4534825"/>
              <a:gd name="connsiteX18" fmla="*/ 6408833 w 6416144"/>
              <a:gd name="connsiteY18" fmla="*/ 4534824 h 4534825"/>
              <a:gd name="connsiteX19" fmla="*/ 6408833 w 6416144"/>
              <a:gd name="connsiteY19" fmla="*/ 4145635 h 4534825"/>
              <a:gd name="connsiteX20" fmla="*/ 6412028 w 6416144"/>
              <a:gd name="connsiteY20" fmla="*/ 4145635 h 4534825"/>
              <a:gd name="connsiteX21" fmla="*/ 6412028 w 6416144"/>
              <a:gd name="connsiteY21" fmla="*/ 3620144 h 4534825"/>
              <a:gd name="connsiteX22" fmla="*/ 4905428 w 6416144"/>
              <a:gd name="connsiteY22" fmla="*/ 3620144 h 4534825"/>
              <a:gd name="connsiteX23" fmla="*/ 4642090 w 6416144"/>
              <a:gd name="connsiteY23" fmla="*/ 3877837 h 4534825"/>
              <a:gd name="connsiteX24" fmla="*/ 4642090 w 6416144"/>
              <a:gd name="connsiteY24" fmla="*/ 3887942 h 4534825"/>
              <a:gd name="connsiteX25" fmla="*/ 4642500 w 6416144"/>
              <a:gd name="connsiteY25" fmla="*/ 3896784 h 4534825"/>
              <a:gd name="connsiteX26" fmla="*/ 3281687 w 6416144"/>
              <a:gd name="connsiteY26" fmla="*/ 3896784 h 4534825"/>
              <a:gd name="connsiteX27" fmla="*/ 2832240 w 6416144"/>
              <a:gd name="connsiteY27" fmla="*/ 4343957 h 4534825"/>
              <a:gd name="connsiteX28" fmla="*/ 2832240 w 6416144"/>
              <a:gd name="connsiteY28" fmla="*/ 4360378 h 4534825"/>
              <a:gd name="connsiteX29" fmla="*/ 2855942 w 6416144"/>
              <a:gd name="connsiteY29" fmla="*/ 4501866 h 4534825"/>
              <a:gd name="connsiteX30" fmla="*/ 2868981 w 6416144"/>
              <a:gd name="connsiteY30" fmla="*/ 4534824 h 4534825"/>
              <a:gd name="connsiteX31" fmla="*/ 1415799 w 6416144"/>
              <a:gd name="connsiteY31" fmla="*/ 4534824 h 4534825"/>
              <a:gd name="connsiteX32" fmla="*/ 1316204 w 6416144"/>
              <a:gd name="connsiteY32" fmla="*/ 4515398 h 4534825"/>
              <a:gd name="connsiteX33" fmla="*/ 1033 w 6416144"/>
              <a:gd name="connsiteY33" fmla="*/ 2292638 h 4534825"/>
              <a:gd name="connsiteX34" fmla="*/ 1594209 w 6416144"/>
              <a:gd name="connsiteY34" fmla="*/ 23854 h 4534825"/>
              <a:gd name="connsiteX35" fmla="*/ 1554064 w 6416144"/>
              <a:gd name="connsiteY35" fmla="*/ 11750 h 453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16144" h="4534825">
                <a:moveTo>
                  <a:pt x="2868981" y="4534824"/>
                </a:moveTo>
                <a:lnTo>
                  <a:pt x="6408833" y="4534824"/>
                </a:lnTo>
                <a:lnTo>
                  <a:pt x="6408833" y="4534825"/>
                </a:lnTo>
                <a:lnTo>
                  <a:pt x="2868981" y="4534825"/>
                </a:lnTo>
                <a:close/>
                <a:moveTo>
                  <a:pt x="4642500" y="3896784"/>
                </a:moveTo>
                <a:lnTo>
                  <a:pt x="4642501" y="3896784"/>
                </a:lnTo>
                <a:lnTo>
                  <a:pt x="4642605" y="3899015"/>
                </a:lnTo>
                <a:cubicBezTo>
                  <a:pt x="4646206" y="3948339"/>
                  <a:pt x="4675008" y="4145635"/>
                  <a:pt x="4905429" y="4145635"/>
                </a:cubicBezTo>
                <a:lnTo>
                  <a:pt x="4905428" y="4145635"/>
                </a:lnTo>
                <a:cubicBezTo>
                  <a:pt x="4675007" y="4145635"/>
                  <a:pt x="4646205" y="3948339"/>
                  <a:pt x="4642604" y="3899015"/>
                </a:cubicBezTo>
                <a:close/>
                <a:moveTo>
                  <a:pt x="6416144" y="0"/>
                </a:moveTo>
                <a:lnTo>
                  <a:pt x="6416144" y="233966"/>
                </a:lnTo>
                <a:lnTo>
                  <a:pt x="5581177" y="233966"/>
                </a:lnTo>
                <a:cubicBezTo>
                  <a:pt x="5581177" y="233966"/>
                  <a:pt x="5317839" y="233966"/>
                  <a:pt x="5317839" y="428980"/>
                </a:cubicBezTo>
                <a:lnTo>
                  <a:pt x="5317839" y="436628"/>
                </a:lnTo>
                <a:cubicBezTo>
                  <a:pt x="5317839" y="436628"/>
                  <a:pt x="5317839" y="631642"/>
                  <a:pt x="5581177" y="631642"/>
                </a:cubicBezTo>
                <a:lnTo>
                  <a:pt x="6416144" y="631642"/>
                </a:lnTo>
                <a:lnTo>
                  <a:pt x="6416144" y="4534824"/>
                </a:lnTo>
                <a:lnTo>
                  <a:pt x="6408833" y="4534824"/>
                </a:lnTo>
                <a:lnTo>
                  <a:pt x="6408833" y="4145635"/>
                </a:lnTo>
                <a:lnTo>
                  <a:pt x="6412028" y="4145635"/>
                </a:lnTo>
                <a:lnTo>
                  <a:pt x="6412028" y="3620144"/>
                </a:lnTo>
                <a:lnTo>
                  <a:pt x="4905428" y="3620144"/>
                </a:lnTo>
                <a:cubicBezTo>
                  <a:pt x="4905428" y="3620144"/>
                  <a:pt x="4642090" y="3620144"/>
                  <a:pt x="4642090" y="3877837"/>
                </a:cubicBezTo>
                <a:lnTo>
                  <a:pt x="4642090" y="3887942"/>
                </a:lnTo>
                <a:lnTo>
                  <a:pt x="4642500" y="3896784"/>
                </a:lnTo>
                <a:lnTo>
                  <a:pt x="3281687" y="3896784"/>
                </a:lnTo>
                <a:cubicBezTo>
                  <a:pt x="3281687" y="3896784"/>
                  <a:pt x="2832240" y="3896784"/>
                  <a:pt x="2832240" y="4343957"/>
                </a:cubicBezTo>
                <a:lnTo>
                  <a:pt x="2832240" y="4360378"/>
                </a:lnTo>
                <a:cubicBezTo>
                  <a:pt x="2832240" y="4360378"/>
                  <a:pt x="2832240" y="4423262"/>
                  <a:pt x="2855942" y="4501866"/>
                </a:cubicBezTo>
                <a:lnTo>
                  <a:pt x="2868981" y="4534824"/>
                </a:lnTo>
                <a:lnTo>
                  <a:pt x="1415799" y="4534824"/>
                </a:lnTo>
                <a:lnTo>
                  <a:pt x="1316204" y="4515398"/>
                </a:lnTo>
                <a:cubicBezTo>
                  <a:pt x="682558" y="4348152"/>
                  <a:pt x="32583" y="3566545"/>
                  <a:pt x="1033" y="2292638"/>
                </a:cubicBezTo>
                <a:cubicBezTo>
                  <a:pt x="-35023" y="836743"/>
                  <a:pt x="880886" y="23854"/>
                  <a:pt x="1594209" y="23854"/>
                </a:cubicBezTo>
                <a:cubicBezTo>
                  <a:pt x="1590120" y="19819"/>
                  <a:pt x="1558153" y="15785"/>
                  <a:pt x="1554064" y="1175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7BC6DBB9-1B34-4374-A887-DC30F9E2F62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36" name="Gráfico 12">
            <a:extLst>
              <a:ext uri="{FF2B5EF4-FFF2-40B4-BE49-F238E27FC236}">
                <a16:creationId xmlns:a16="http://schemas.microsoft.com/office/drawing/2014/main" id="{00DE0AE3-F44D-4F2C-B7A3-C253AA498DEF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DD.MM.20XX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C6C05708-08C7-4EF1-B0D8-6A01C1B1AD85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3" name="Gráfico 33">
            <a:extLst>
              <a:ext uri="{FF2B5EF4-FFF2-40B4-BE49-F238E27FC236}">
                <a16:creationId xmlns:a16="http://schemas.microsoft.com/office/drawing/2014/main" id="{38956B41-4EE0-4C7C-8436-027F5DE8B1BC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33" name="Forma libre: Forma 32">
            <a:extLst>
              <a:ext uri="{FF2B5EF4-FFF2-40B4-BE49-F238E27FC236}">
                <a16:creationId xmlns:a16="http://schemas.microsoft.com/office/drawing/2014/main" id="{E08687FC-7322-4F20-9769-1ECF4296A96E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0FCCDE26-7222-4C1B-884A-0FAE84FA57D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2AC78A4D-01A3-43A6-BE82-E64E2BF1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42729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20" name="Marcador de texto 3">
            <a:extLst>
              <a:ext uri="{FF2B5EF4-FFF2-40B4-BE49-F238E27FC236}">
                <a16:creationId xmlns:a16="http://schemas.microsoft.com/office/drawing/2014/main" id="{E6544955-4597-4E52-9C7E-8AEB5D2A4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56700"/>
            <a:ext cx="3932237" cy="3512287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AB93590-ADFC-762F-90BC-51670B6ADB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171" y="163293"/>
            <a:ext cx="1659368" cy="8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051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lipse 34">
            <a:extLst>
              <a:ext uri="{FF2B5EF4-FFF2-40B4-BE49-F238E27FC236}">
                <a16:creationId xmlns:a16="http://schemas.microsoft.com/office/drawing/2014/main" id="{7BC6DBB9-1B34-4374-A887-DC30F9E2F62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36" name="Gráfico 12">
            <a:extLst>
              <a:ext uri="{FF2B5EF4-FFF2-40B4-BE49-F238E27FC236}">
                <a16:creationId xmlns:a16="http://schemas.microsoft.com/office/drawing/2014/main" id="{00DE0AE3-F44D-4F2C-B7A3-C253AA498DEF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DD.MM.20XX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C6C05708-08C7-4EF1-B0D8-6A01C1B1AD85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3" name="Gráfico 33">
            <a:extLst>
              <a:ext uri="{FF2B5EF4-FFF2-40B4-BE49-F238E27FC236}">
                <a16:creationId xmlns:a16="http://schemas.microsoft.com/office/drawing/2014/main" id="{38956B41-4EE0-4C7C-8436-027F5DE8B1BC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33" name="Forma libre: Forma 32">
            <a:extLst>
              <a:ext uri="{FF2B5EF4-FFF2-40B4-BE49-F238E27FC236}">
                <a16:creationId xmlns:a16="http://schemas.microsoft.com/office/drawing/2014/main" id="{E08687FC-7322-4F20-9769-1ECF4296A96E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0FCCDE26-7222-4C1B-884A-0FAE84FA57D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2AC78A4D-01A3-43A6-BE82-E64E2BF1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42729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20" name="Marcador de texto 3">
            <a:extLst>
              <a:ext uri="{FF2B5EF4-FFF2-40B4-BE49-F238E27FC236}">
                <a16:creationId xmlns:a16="http://schemas.microsoft.com/office/drawing/2014/main" id="{E6544955-4597-4E52-9C7E-8AEB5D2A4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56700"/>
            <a:ext cx="3932237" cy="3512287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posición de contenido 2">
            <a:extLst>
              <a:ext uri="{FF2B5EF4-FFF2-40B4-BE49-F238E27FC236}">
                <a16:creationId xmlns:a16="http://schemas.microsoft.com/office/drawing/2014/main" id="{A28A6791-A2CB-40CE-AEF5-A729106DA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653212" cy="540385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85E9EF4-4711-27AA-2818-ADEBF0F0DD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590" y="193668"/>
            <a:ext cx="1659368" cy="8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759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Elipse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49" name="Gráfico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DD.MM.20XX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grpSp>
        <p:nvGrpSpPr>
          <p:cNvPr id="41" name="Gráfico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5" name="Forma libre: Forma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Gráfico 19">
            <a:extLst>
              <a:ext uri="{FF2B5EF4-FFF2-40B4-BE49-F238E27FC236}">
                <a16:creationId xmlns:a16="http://schemas.microsoft.com/office/drawing/2014/main" id="{436C4D92-1746-4D54-8232-468DFF66CF79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19" name="Título 6">
            <a:extLst>
              <a:ext uri="{FF2B5EF4-FFF2-40B4-BE49-F238E27FC236}">
                <a16:creationId xmlns:a16="http://schemas.microsoft.com/office/drawing/2014/main" id="{E77FD51D-3B1F-4D51-8A61-6CF822277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191FD09-C268-3A9E-0291-41E5B91F00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" y="5854652"/>
            <a:ext cx="1659368" cy="8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64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Elipse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49" name="Gráfico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DD.MM.20XX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es-MX" noProof="0" smtClean="0"/>
              <a:t>‹Nº›</a:t>
            </a:fld>
            <a:endParaRPr lang="es-MX" noProof="0" dirty="0"/>
          </a:p>
        </p:txBody>
      </p:sp>
      <p:grpSp>
        <p:nvGrpSpPr>
          <p:cNvPr id="41" name="Gráfico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5" name="Forma libre: Forma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MX" noProof="0" dirty="0"/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C9998E58-4D98-4436-5EE2-D16A7560AA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" y="5854652"/>
            <a:ext cx="1659368" cy="8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578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960000" y="2094100"/>
            <a:ext cx="5396000" cy="29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7252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-"/>
              <a:defRPr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828754" lvl="2" indent="-37252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2438339" lvl="3" indent="-37252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4267093" lvl="6" indent="-36405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4876678" lvl="7" indent="-36405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5486263" lvl="8" indent="-35559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0" name="Google Shape;60;p9"/>
          <p:cNvGrpSpPr/>
          <p:nvPr/>
        </p:nvGrpSpPr>
        <p:grpSpPr>
          <a:xfrm flipH="1">
            <a:off x="-232195" y="-1069599"/>
            <a:ext cx="13115076" cy="8059680"/>
            <a:chOff x="-761924" y="-802200"/>
            <a:chExt cx="10874840" cy="6058001"/>
          </a:xfrm>
        </p:grpSpPr>
        <p:sp>
          <p:nvSpPr>
            <p:cNvPr id="62" name="Google Shape;62;p9"/>
            <p:cNvSpPr/>
            <p:nvPr/>
          </p:nvSpPr>
          <p:spPr>
            <a:xfrm>
              <a:off x="8580412" y="3733918"/>
              <a:ext cx="1532504" cy="1521883"/>
            </a:xfrm>
            <a:custGeom>
              <a:avLst/>
              <a:gdLst/>
              <a:ahLst/>
              <a:cxnLst/>
              <a:rect l="l" t="t" r="r" b="b"/>
              <a:pathLst>
                <a:path w="853" h="849" extrusionOk="0">
                  <a:moveTo>
                    <a:pt x="360" y="812"/>
                  </a:moveTo>
                  <a:cubicBezTo>
                    <a:pt x="39" y="495"/>
                    <a:pt x="39" y="495"/>
                    <a:pt x="39" y="495"/>
                  </a:cubicBezTo>
                  <a:cubicBezTo>
                    <a:pt x="0" y="456"/>
                    <a:pt x="0" y="392"/>
                    <a:pt x="39" y="354"/>
                  </a:cubicBezTo>
                  <a:cubicBezTo>
                    <a:pt x="360" y="37"/>
                    <a:pt x="360" y="37"/>
                    <a:pt x="360" y="37"/>
                  </a:cubicBezTo>
                  <a:cubicBezTo>
                    <a:pt x="397" y="0"/>
                    <a:pt x="456" y="0"/>
                    <a:pt x="494" y="37"/>
                  </a:cubicBezTo>
                  <a:cubicBezTo>
                    <a:pt x="814" y="354"/>
                    <a:pt x="814" y="354"/>
                    <a:pt x="814" y="354"/>
                  </a:cubicBezTo>
                  <a:cubicBezTo>
                    <a:pt x="853" y="392"/>
                    <a:pt x="853" y="456"/>
                    <a:pt x="814" y="495"/>
                  </a:cubicBezTo>
                  <a:cubicBezTo>
                    <a:pt x="494" y="812"/>
                    <a:pt x="494" y="812"/>
                    <a:pt x="494" y="812"/>
                  </a:cubicBezTo>
                  <a:cubicBezTo>
                    <a:pt x="456" y="849"/>
                    <a:pt x="397" y="849"/>
                    <a:pt x="360" y="812"/>
                  </a:cubicBezTo>
                  <a:close/>
                </a:path>
              </a:pathLst>
            </a:custGeom>
            <a:solidFill>
              <a:srgbClr val="92D050">
                <a:alpha val="5346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>
              <a:off x="-761924" y="-802200"/>
              <a:ext cx="1832636" cy="1819925"/>
            </a:xfrm>
            <a:custGeom>
              <a:avLst/>
              <a:gdLst/>
              <a:ahLst/>
              <a:cxnLst/>
              <a:rect l="l" t="t" r="r" b="b"/>
              <a:pathLst>
                <a:path w="853" h="849" extrusionOk="0">
                  <a:moveTo>
                    <a:pt x="360" y="812"/>
                  </a:moveTo>
                  <a:cubicBezTo>
                    <a:pt x="39" y="495"/>
                    <a:pt x="39" y="495"/>
                    <a:pt x="39" y="495"/>
                  </a:cubicBezTo>
                  <a:cubicBezTo>
                    <a:pt x="0" y="456"/>
                    <a:pt x="0" y="392"/>
                    <a:pt x="39" y="354"/>
                  </a:cubicBezTo>
                  <a:cubicBezTo>
                    <a:pt x="360" y="37"/>
                    <a:pt x="360" y="37"/>
                    <a:pt x="360" y="37"/>
                  </a:cubicBezTo>
                  <a:cubicBezTo>
                    <a:pt x="397" y="0"/>
                    <a:pt x="456" y="0"/>
                    <a:pt x="494" y="37"/>
                  </a:cubicBezTo>
                  <a:cubicBezTo>
                    <a:pt x="814" y="354"/>
                    <a:pt x="814" y="354"/>
                    <a:pt x="814" y="354"/>
                  </a:cubicBezTo>
                  <a:cubicBezTo>
                    <a:pt x="853" y="392"/>
                    <a:pt x="853" y="456"/>
                    <a:pt x="814" y="495"/>
                  </a:cubicBezTo>
                  <a:cubicBezTo>
                    <a:pt x="494" y="812"/>
                    <a:pt x="494" y="812"/>
                    <a:pt x="494" y="812"/>
                  </a:cubicBezTo>
                  <a:cubicBezTo>
                    <a:pt x="456" y="849"/>
                    <a:pt x="397" y="849"/>
                    <a:pt x="360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>
              <a:off x="-509471" y="445028"/>
              <a:ext cx="1096770" cy="1089161"/>
            </a:xfrm>
            <a:custGeom>
              <a:avLst/>
              <a:gdLst/>
              <a:ahLst/>
              <a:cxnLst/>
              <a:rect l="l" t="t" r="r" b="b"/>
              <a:pathLst>
                <a:path w="853" h="849" extrusionOk="0">
                  <a:moveTo>
                    <a:pt x="360" y="812"/>
                  </a:moveTo>
                  <a:cubicBezTo>
                    <a:pt x="39" y="495"/>
                    <a:pt x="39" y="495"/>
                    <a:pt x="39" y="495"/>
                  </a:cubicBezTo>
                  <a:cubicBezTo>
                    <a:pt x="0" y="456"/>
                    <a:pt x="0" y="392"/>
                    <a:pt x="39" y="354"/>
                  </a:cubicBezTo>
                  <a:cubicBezTo>
                    <a:pt x="360" y="37"/>
                    <a:pt x="360" y="37"/>
                    <a:pt x="360" y="37"/>
                  </a:cubicBezTo>
                  <a:cubicBezTo>
                    <a:pt x="397" y="0"/>
                    <a:pt x="456" y="0"/>
                    <a:pt x="494" y="37"/>
                  </a:cubicBezTo>
                  <a:cubicBezTo>
                    <a:pt x="814" y="354"/>
                    <a:pt x="814" y="354"/>
                    <a:pt x="814" y="354"/>
                  </a:cubicBezTo>
                  <a:cubicBezTo>
                    <a:pt x="853" y="392"/>
                    <a:pt x="853" y="456"/>
                    <a:pt x="814" y="495"/>
                  </a:cubicBezTo>
                  <a:cubicBezTo>
                    <a:pt x="494" y="812"/>
                    <a:pt x="494" y="812"/>
                    <a:pt x="494" y="812"/>
                  </a:cubicBezTo>
                  <a:cubicBezTo>
                    <a:pt x="456" y="849"/>
                    <a:pt x="397" y="849"/>
                    <a:pt x="360" y="812"/>
                  </a:cubicBezTo>
                  <a:close/>
                </a:path>
              </a:pathLst>
            </a:custGeom>
            <a:solidFill>
              <a:srgbClr val="7030A0">
                <a:alpha val="5346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8862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ación con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9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2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sz="1800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sz="1800" noProof="0" dirty="0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7" y="2104888"/>
            <a:ext cx="5475291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contenido 3" title="Viñeta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20697" y="2886078"/>
            <a:ext cx="5475291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es-ES" noProof="0"/>
              <a:t>Haga clic para modificar los estilos de texto del patrón</a:t>
            </a:r>
          </a:p>
          <a:p>
            <a:pPr lvl="1" rtl="0">
              <a:buClr>
                <a:schemeClr val="accent2"/>
              </a:buClr>
            </a:pPr>
            <a:r>
              <a:rPr lang="es-ES" noProof="0"/>
              <a:t>Segundo nivel</a:t>
            </a:r>
          </a:p>
          <a:p>
            <a:pPr lvl="2" rtl="0">
              <a:buClr>
                <a:schemeClr val="accent2"/>
              </a:buClr>
            </a:pPr>
            <a:r>
              <a:rPr lang="es-ES" noProof="0"/>
              <a:t>Tercer nivel</a:t>
            </a:r>
          </a:p>
          <a:p>
            <a:pPr lvl="3" rtl="0">
              <a:buClr>
                <a:schemeClr val="accent2"/>
              </a:buClr>
            </a:pPr>
            <a:r>
              <a:rPr lang="es-ES" noProof="0"/>
              <a:t>Cuarto nivel</a:t>
            </a:r>
          </a:p>
          <a:p>
            <a:pPr lvl="4" rtl="0">
              <a:buClr>
                <a:schemeClr val="accent2"/>
              </a:buClr>
            </a:pPr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19" name="Marcador de posición de texto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contenido 5" title="Viñeta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8"/>
            <a:ext cx="547560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es-ES" noProof="0"/>
              <a:t>Haga clic para modificar los estilos de texto del patrón</a:t>
            </a:r>
          </a:p>
          <a:p>
            <a:pPr lvl="1" rtl="0">
              <a:buClr>
                <a:schemeClr val="accent2"/>
              </a:buClr>
            </a:pPr>
            <a:r>
              <a:rPr lang="es-ES" noProof="0"/>
              <a:t>Segundo nivel</a:t>
            </a:r>
          </a:p>
          <a:p>
            <a:pPr lvl="2" rtl="0">
              <a:buClr>
                <a:schemeClr val="accent2"/>
              </a:buClr>
            </a:pPr>
            <a:r>
              <a:rPr lang="es-ES" noProof="0"/>
              <a:t>Tercer nivel</a:t>
            </a:r>
          </a:p>
          <a:p>
            <a:pPr lvl="3" rtl="0">
              <a:buClr>
                <a:schemeClr val="accent2"/>
              </a:buClr>
            </a:pPr>
            <a:r>
              <a:rPr lang="es-ES" noProof="0"/>
              <a:t>Cuarto nivel</a:t>
            </a:r>
          </a:p>
          <a:p>
            <a:pPr lvl="4" rtl="0">
              <a:buClr>
                <a:schemeClr val="accent2"/>
              </a:buClr>
            </a:pPr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24" name="Marcador de texto 4" title="Subtítulo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4" y="1376934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189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sz="1800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30"/>
            <a:ext cx="8333223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149E2E22-B816-41EE-A414-32BC988553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4175" y="5257798"/>
            <a:ext cx="963813" cy="146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10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del text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 title="Viñeta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382" y="3332385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24" name="Triángulo rectángulo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5" y="-6"/>
            <a:ext cx="10352315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1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sz="1800" noProof="0" dirty="0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1" y="5047077"/>
            <a:ext cx="1524575" cy="1803400"/>
          </a:xfrm>
          <a:prstGeom prst="line">
            <a:avLst/>
          </a:prstGeom>
          <a:ln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4" title="Subtítulo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12384" y="2698947"/>
            <a:ext cx="734263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189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2" name="Título 1" title="Título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2381" y="1443952"/>
            <a:ext cx="7342623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editar </a:t>
            </a:r>
            <a:br>
              <a:rPr lang="es-ES" noProof="0" dirty="0"/>
            </a:br>
            <a:r>
              <a:rPr lang="es-ES" noProof="0" dirty="0"/>
              <a:t>Estilo de título del patrón 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2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072EA9D-478D-4176-8946-E4C8D78885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175" y="85721"/>
            <a:ext cx="963813" cy="146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43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 dirty="0"/>
              <a:t>Editar estilos de texto del patrón</a:t>
            </a:r>
          </a:p>
          <a:p>
            <a:pPr lvl="1" rtl="0"/>
            <a:r>
              <a:rPr lang="es-MX" noProof="0" dirty="0"/>
              <a:t>Segundo nivel</a:t>
            </a:r>
          </a:p>
          <a:p>
            <a:pPr lvl="2" rtl="0"/>
            <a:r>
              <a:rPr lang="es-MX" noProof="0" dirty="0"/>
              <a:t>Tercer nivel</a:t>
            </a:r>
          </a:p>
          <a:p>
            <a:pPr lvl="3" rtl="0"/>
            <a:r>
              <a:rPr lang="es-MX" noProof="0" dirty="0"/>
              <a:t>Cuarto nivel</a:t>
            </a:r>
          </a:p>
          <a:p>
            <a:pPr lvl="4" rtl="0"/>
            <a:r>
              <a:rPr lang="es-MX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81681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MX" noProof="0" dirty="0"/>
              <a:t>DD.MM.20XX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4358" y="5816819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rtl="0"/>
            <a:fld id="{D495E168-DA5E-4888-8D8A-92B118324C14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2290" y="5816819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AGREGAR UN PIE DE PÁGINA</a:t>
            </a:r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0" r:id="rId3"/>
    <p:sldLayoutId id="2147483660" r:id="rId4"/>
    <p:sldLayoutId id="2147483651" r:id="rId5"/>
    <p:sldLayoutId id="2147483661" r:id="rId6"/>
    <p:sldLayoutId id="2147483662" r:id="rId7"/>
    <p:sldLayoutId id="2147483652" r:id="rId8"/>
    <p:sldLayoutId id="2147483663" r:id="rId9"/>
    <p:sldLayoutId id="2147483665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3" r:id="rId16"/>
    <p:sldLayoutId id="2147483674" r:id="rId17"/>
    <p:sldLayoutId id="2147483664" r:id="rId18"/>
    <p:sldLayoutId id="2147483672" r:id="rId19"/>
    <p:sldLayoutId id="2147483675" r:id="rId20"/>
    <p:sldLayoutId id="2147483676" r:id="rId21"/>
    <p:sldLayoutId id="2147483678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chart" Target="../charts/chart34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www.medicaindustrial.com.mx" TargetMode="External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4C9CC-E38A-467A-8F1C-459375F5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5" y="1150451"/>
            <a:ext cx="6229670" cy="1517356"/>
          </a:xfrm>
        </p:spPr>
        <p:txBody>
          <a:bodyPr rtlCol="0"/>
          <a:lstStyle/>
          <a:p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srgbClr val="D5DA3C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Grupo </a:t>
            </a:r>
            <a:b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srgbClr val="D5DA3C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srgbClr val="D5DA3C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AMI Salud Responsable</a:t>
            </a:r>
            <a:endParaRPr lang="es-MX" sz="4000" dirty="0">
              <a:solidFill>
                <a:srgbClr val="D5DA3C"/>
              </a:solidFill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DD6760C-D868-43F4-99FB-1B78C91F8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4261" y="3459999"/>
            <a:ext cx="8741706" cy="1998692"/>
          </a:xfrm>
        </p:spPr>
        <p:txBody>
          <a:bodyPr rtlCol="0">
            <a:normAutofit/>
          </a:bodyPr>
          <a:lstStyle/>
          <a:p>
            <a:pPr algn="ctr" rtl="0"/>
            <a:r>
              <a:rPr lang="es-MX" sz="3600" dirty="0"/>
              <a:t>DIAGNOSTICO SITUACIONAL RESULTADOS LABORATORIO</a:t>
            </a:r>
          </a:p>
          <a:p>
            <a:pPr algn="ctr" rtl="0"/>
            <a:r>
              <a:rPr lang="es-MX" sz="3600" dirty="0">
                <a:solidFill>
                  <a:srgbClr val="BFBF00"/>
                </a:solidFill>
              </a:rPr>
              <a:t>EMPRESA: 	</a:t>
            </a:r>
            <a:r>
              <a:rPr lang="pt-BR" sz="3600" dirty="0">
                <a:solidFill>
                  <a:srgbClr val="BFBF00"/>
                </a:solidFill>
              </a:rPr>
              <a:t>VALIANT DE MEXICO</a:t>
            </a:r>
            <a:endParaRPr lang="es-MX" sz="3600" dirty="0">
              <a:solidFill>
                <a:srgbClr val="BFB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01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3E46BEDF-C473-467B-B611-5606C972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2</a:t>
            </a:fld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C2ABD0-A370-932E-C43F-65B41BA8A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577" y="517784"/>
            <a:ext cx="9050518" cy="945498"/>
          </a:xfrm>
        </p:spPr>
        <p:txBody>
          <a:bodyPr>
            <a:noAutofit/>
          </a:bodyPr>
          <a:lstStyle/>
          <a:p>
            <a:r>
              <a:rPr lang="pt-BR" sz="3200" dirty="0"/>
              <a:t>VALIANT DE MEXICO</a:t>
            </a:r>
            <a:endParaRPr lang="es-MX" sz="3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CAA705B-79D2-3357-7169-1774CEDA6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482" y="1570037"/>
            <a:ext cx="4240518" cy="4922031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DB804D9-2078-FE96-0761-27C5FD58A31E}"/>
              </a:ext>
            </a:extLst>
          </p:cNvPr>
          <p:cNvSpPr txBox="1">
            <a:spLocks/>
          </p:cNvSpPr>
          <p:nvPr/>
        </p:nvSpPr>
        <p:spPr>
          <a:xfrm>
            <a:off x="778577" y="1766352"/>
            <a:ext cx="6935105" cy="4050467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600" dirty="0">
                <a:solidFill>
                  <a:schemeClr val="tx1"/>
                </a:solidFill>
              </a:rPr>
              <a:t>Se realizaron valoraciones médicas al personal Administrativo y Operativo de la empresa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pt-BR" sz="2400" b="1" dirty="0">
                <a:solidFill>
                  <a:schemeClr val="tx1"/>
                </a:solidFill>
              </a:rPr>
              <a:t>	</a:t>
            </a:r>
            <a:endParaRPr lang="es-MX" sz="1600" dirty="0"/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solidFill>
                  <a:schemeClr val="tx1"/>
                </a:solidFill>
              </a:rPr>
              <a:t>66 Audiometrías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solidFill>
                  <a:schemeClr val="tx1"/>
                </a:solidFill>
              </a:rPr>
              <a:t>31 Espirometrías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solidFill>
                  <a:schemeClr val="tx1"/>
                </a:solidFill>
              </a:rPr>
              <a:t>66 Examen Médico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solidFill>
                  <a:schemeClr val="tx1"/>
                </a:solidFill>
              </a:rPr>
              <a:t>13 Electrocardiogramas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solidFill>
                  <a:schemeClr val="tx1"/>
                </a:solidFill>
              </a:rPr>
              <a:t>65 Radiografías De Columna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solidFill>
                  <a:schemeClr val="tx1"/>
                </a:solidFill>
              </a:rPr>
              <a:t>20 Radiografías De Tórax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solidFill>
                  <a:schemeClr val="tx1"/>
                </a:solidFill>
              </a:rPr>
              <a:t>66 Química Sanguínea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solidFill>
                  <a:schemeClr val="tx1"/>
                </a:solidFill>
              </a:rPr>
              <a:t>66 Biometría Hemática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solidFill>
                  <a:schemeClr val="tx1"/>
                </a:solidFill>
              </a:rPr>
              <a:t>33 Examen General De Orina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solidFill>
                  <a:schemeClr val="tx1"/>
                </a:solidFill>
              </a:rPr>
              <a:t>66 </a:t>
            </a:r>
            <a:r>
              <a:rPr lang="es-MX" sz="1600">
                <a:solidFill>
                  <a:schemeClr val="tx1"/>
                </a:solidFill>
              </a:rPr>
              <a:t>hemoglobina Glicosilada</a:t>
            </a:r>
            <a:endParaRPr lang="es-MX" sz="16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s-MX" sz="16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s-MX" sz="16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s-MX" sz="1600" b="1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MX" sz="1600" b="1" dirty="0">
                <a:solidFill>
                  <a:schemeClr val="tx1"/>
                </a:solidFill>
              </a:rPr>
              <a:t>De todos se obtuvieron los siguientes resultados generales:</a:t>
            </a:r>
            <a:endParaRPr lang="es-MX" sz="1600" b="1" dirty="0">
              <a:solidFill>
                <a:srgbClr val="DA291C"/>
              </a:solidFill>
            </a:endParaRPr>
          </a:p>
          <a:p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816895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3EA56E4D-8E3B-4AD2-B0BC-5CFF763D5ECF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839" b="9839"/>
          <a:stretch/>
        </p:blipFill>
        <p:spPr/>
      </p:pic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FBA1BB58-7555-4382-B178-7ED04E13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3</a:t>
            </a:fld>
            <a:endParaRPr lang="es-ES" dirty="0"/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0012F22E-2345-D185-4098-920A55B6AA5B}"/>
              </a:ext>
            </a:extLst>
          </p:cNvPr>
          <p:cNvSpPr txBox="1">
            <a:spLocks/>
          </p:cNvSpPr>
          <p:nvPr/>
        </p:nvSpPr>
        <p:spPr>
          <a:xfrm>
            <a:off x="167199" y="2378392"/>
            <a:ext cx="5800601" cy="3438427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/>
            <a:r>
              <a:rPr lang="es-ES" altLang="es-MX" sz="1800" dirty="0"/>
              <a:t>Se realizaron </a:t>
            </a:r>
            <a:r>
              <a:rPr lang="es-ES" altLang="es-MX" sz="1800" b="1" dirty="0">
                <a:solidFill>
                  <a:srgbClr val="DA291C"/>
                </a:solidFill>
              </a:rPr>
              <a:t>66</a:t>
            </a:r>
            <a:r>
              <a:rPr lang="es-ES" altLang="es-MX" sz="1800" dirty="0"/>
              <a:t> exámenes médicos, que consistió en: </a:t>
            </a:r>
          </a:p>
          <a:p>
            <a:pPr defTabSz="912813">
              <a:buFont typeface="Arial" panose="020B0604020202020204" pitchFamily="34" charset="0"/>
              <a:buNone/>
            </a:pPr>
            <a:endParaRPr lang="es-ES" altLang="es-MX" sz="700" dirty="0"/>
          </a:p>
          <a:p>
            <a:pPr lvl="1" defTabSz="912813">
              <a:buFont typeface="Arial" panose="020B0604020202020204" pitchFamily="34" charset="0"/>
              <a:buNone/>
            </a:pPr>
            <a:r>
              <a:rPr lang="es-ES" altLang="es-MX" sz="1800" dirty="0"/>
              <a:t>	1.- Cuestionario de Antecedentes (personales, laborales, no patológicos, patológicos y reproductivos)</a:t>
            </a:r>
          </a:p>
          <a:p>
            <a:pPr lvl="1" defTabSz="912813">
              <a:buFont typeface="Arial" panose="020B0604020202020204" pitchFamily="34" charset="0"/>
              <a:buNone/>
            </a:pPr>
            <a:r>
              <a:rPr lang="es-ES" altLang="es-MX" sz="1800" dirty="0"/>
              <a:t>	2.- Exploración física general</a:t>
            </a:r>
          </a:p>
          <a:p>
            <a:pPr lvl="1" defTabSz="912813">
              <a:buFont typeface="Arial" panose="020B0604020202020204" pitchFamily="34" charset="0"/>
              <a:buNone/>
            </a:pPr>
            <a:r>
              <a:rPr lang="es-ES" altLang="es-MX" sz="1800" dirty="0"/>
              <a:t>   3.- Diagnóstico, Aptitud y Recomendaciones</a:t>
            </a:r>
          </a:p>
          <a:p>
            <a:pPr lvl="1" defTabSz="912813">
              <a:buFont typeface="Arial" panose="020B0604020202020204" pitchFamily="34" charset="0"/>
              <a:buNone/>
            </a:pPr>
            <a:endParaRPr lang="es-ES" altLang="es-MX" sz="1800" dirty="0"/>
          </a:p>
          <a:p>
            <a:pPr lvl="1" defTabSz="912813">
              <a:buFont typeface="Arial" panose="020B0604020202020204" pitchFamily="34" charset="0"/>
              <a:buNone/>
            </a:pPr>
            <a:r>
              <a:rPr lang="es-ES" altLang="es-MX" sz="1800" dirty="0"/>
              <a:t>Mediante el cual se obtuvieron los siguientes resultados generales</a:t>
            </a:r>
            <a:r>
              <a:rPr lang="es-ES" altLang="es-MX" sz="1600" dirty="0"/>
              <a:t>:</a:t>
            </a:r>
          </a:p>
          <a:p>
            <a:endParaRPr lang="es-MX" sz="1800" dirty="0"/>
          </a:p>
        </p:txBody>
      </p:sp>
      <p:sp>
        <p:nvSpPr>
          <p:cNvPr id="17" name="Título 16">
            <a:extLst>
              <a:ext uri="{FF2B5EF4-FFF2-40B4-BE49-F238E27FC236}">
                <a16:creationId xmlns:a16="http://schemas.microsoft.com/office/drawing/2014/main" id="{98FAD622-0F21-5CEE-AD1E-A4183BDF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851" y="1041181"/>
            <a:ext cx="4503295" cy="782638"/>
          </a:xfrm>
        </p:spPr>
        <p:txBody>
          <a:bodyPr>
            <a:normAutofit fontScale="90000"/>
          </a:bodyPr>
          <a:lstStyle/>
          <a:p>
            <a:r>
              <a:rPr lang="es-MX" dirty="0"/>
              <a:t>VALORACIÓN EXAMEN MÉDICO</a:t>
            </a:r>
          </a:p>
        </p:txBody>
      </p:sp>
    </p:spTree>
    <p:extLst>
      <p:ext uri="{BB962C8B-B14F-4D97-AF65-F5344CB8AC3E}">
        <p14:creationId xmlns:p14="http://schemas.microsoft.com/office/powerpoint/2010/main" val="972005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763B5C-F0CE-43BF-B5C3-7E4600474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4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57E88F9-D908-48CE-A97B-0E0D77033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PIRAMIDE DE EDAD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8459FA59-3829-E40A-0C12-6EF409C4B3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0249861"/>
              </p:ext>
            </p:extLst>
          </p:nvPr>
        </p:nvGraphicFramePr>
        <p:xfrm>
          <a:off x="1475874" y="1668380"/>
          <a:ext cx="9050518" cy="4940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89502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02F402A-661A-A824-937B-A775E9A3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5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D6A6C1D-2902-384B-4ADA-FDB1251DC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DISTRIBUCIÓN POR SEXO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4C72438B-C684-87FD-4246-FCBACEF080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2879526"/>
              </p:ext>
            </p:extLst>
          </p:nvPr>
        </p:nvGraphicFramePr>
        <p:xfrm>
          <a:off x="1989221" y="1684420"/>
          <a:ext cx="8582526" cy="4808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94314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BA029B-FD18-69F6-8AE4-F1E1D55A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6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752B6C0A-BC7F-2464-6AD4-F79736C1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ANTECEDENTES HEREDO-FAMILIARES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364C64-AE38-8AA3-460D-D02B3453F0B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8200" y="1168400"/>
            <a:ext cx="1908175" cy="608013"/>
          </a:xfrm>
        </p:spPr>
        <p:txBody>
          <a:bodyPr>
            <a:normAutofit fontScale="77500" lnSpcReduction="20000"/>
          </a:bodyPr>
          <a:lstStyle/>
          <a:p>
            <a:r>
              <a:rPr lang="es-MX" dirty="0"/>
              <a:t>DIABETES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96AA09D1-1B9A-183A-8165-7797C06318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5758623"/>
              </p:ext>
            </p:extLst>
          </p:nvPr>
        </p:nvGraphicFramePr>
        <p:xfrm>
          <a:off x="1732547" y="1620252"/>
          <a:ext cx="8807116" cy="51174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58070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D7F91DD-95FC-2DAA-8193-4153AB57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7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1154427-8793-F6C5-8236-1DCD7B2BF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80" y="80210"/>
            <a:ext cx="9050518" cy="945498"/>
          </a:xfrm>
        </p:spPr>
        <p:txBody>
          <a:bodyPr>
            <a:normAutofit/>
          </a:bodyPr>
          <a:lstStyle/>
          <a:p>
            <a:r>
              <a:rPr lang="es-MX" dirty="0"/>
              <a:t>ANTECEDENTES HEREDO-FAMILIARES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E04D2F-CF3C-5A77-38E4-B464D9FDFD3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1257" y="930442"/>
            <a:ext cx="7367588" cy="608013"/>
          </a:xfrm>
        </p:spPr>
        <p:txBody>
          <a:bodyPr/>
          <a:lstStyle/>
          <a:p>
            <a:r>
              <a:rPr lang="es-MX" dirty="0"/>
              <a:t>HAS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EE810D5B-B2F3-E8FC-6C97-0A787734E4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269963"/>
              </p:ext>
            </p:extLst>
          </p:nvPr>
        </p:nvGraphicFramePr>
        <p:xfrm>
          <a:off x="1748589" y="1538454"/>
          <a:ext cx="8662737" cy="5239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45283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FABCF04-74F9-FA6B-8A3A-EA7B95E6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8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4C4EA8A4-FC19-70D1-1FD9-E1DCDB3CD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&amp; ALIMENTACIÓN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6F961B64-5575-8E0D-DA28-911349615D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5751937"/>
              </p:ext>
            </p:extLst>
          </p:nvPr>
        </p:nvGraphicFramePr>
        <p:xfrm>
          <a:off x="838199" y="1949415"/>
          <a:ext cx="4792579" cy="38674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BB42924A-5237-F52F-6D36-5CCE2551E1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9611502"/>
              </p:ext>
            </p:extLst>
          </p:nvPr>
        </p:nvGraphicFramePr>
        <p:xfrm>
          <a:off x="5566814" y="1949414"/>
          <a:ext cx="4138660" cy="38674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77300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499976-0C21-1539-0C62-DD359C7A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9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4A2E9658-E6A6-09BB-7B82-D9CC21BED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MÉTODO DE PLANIFICACIÓN FAMILIAR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62BD50A5-1539-54EB-352F-FC226B3167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5518632"/>
              </p:ext>
            </p:extLst>
          </p:nvPr>
        </p:nvGraphicFramePr>
        <p:xfrm>
          <a:off x="2085473" y="1604210"/>
          <a:ext cx="8390021" cy="5085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91154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499976-0C21-1539-0C62-DD359C7A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10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4A2E9658-E6A6-09BB-7B82-D9CC21BED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CIRCULACIÓN VENOSA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FE1CD23D-A72F-3DEB-CD4A-1520F9351E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122757"/>
              </p:ext>
            </p:extLst>
          </p:nvPr>
        </p:nvGraphicFramePr>
        <p:xfrm>
          <a:off x="1491916" y="1540042"/>
          <a:ext cx="8807116" cy="5069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83892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158FFC3-0205-5B40-64F7-E99FA57E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Agregue un pie de página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687AA-1A04-1BAF-20EE-D8BA335A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11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A536509-9C8E-053A-A6B7-DBA09C999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PESO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F4AFE3-CC29-9CC2-81E7-1667DDCEA854}"/>
              </a:ext>
            </a:extLst>
          </p:cNvPr>
          <p:cNvSpPr txBox="1"/>
          <p:nvPr/>
        </p:nvSpPr>
        <p:spPr>
          <a:xfrm>
            <a:off x="338530" y="1797784"/>
            <a:ext cx="35328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sz="2000" b="1" dirty="0">
                <a:latin typeface="Century Gothic" panose="020B0502020202020204" pitchFamily="34" charset="0"/>
              </a:rPr>
              <a:t>30</a:t>
            </a:r>
            <a:r>
              <a:rPr lang="es-MX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% Peso Normal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38% Sobrepeso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25% Obesidad Grado 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sz="2000" b="1" dirty="0">
                <a:latin typeface="Century Gothic" panose="020B0502020202020204" pitchFamily="34" charset="0"/>
              </a:rPr>
              <a:t>5% Obesidad Grado II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sz="2000" b="1" dirty="0">
                <a:latin typeface="Century Gothic" panose="020B0502020202020204" pitchFamily="34" charset="0"/>
              </a:rPr>
              <a:t>2% Obesidad Grado II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MX" sz="20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2D677846-BCAD-08D8-367C-652C007832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2322576"/>
              </p:ext>
            </p:extLst>
          </p:nvPr>
        </p:nvGraphicFramePr>
        <p:xfrm>
          <a:off x="5507837" y="1944737"/>
          <a:ext cx="4678899" cy="45481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00380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267E8FC-564E-551C-E838-6F5B823F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Agregue un pie de página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41B8BD-A88F-0D15-FF1E-C922C945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12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B67FC23-D0B4-4BBF-7F09-4560A3C0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RECOMENDACIONES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C9E25D2-A9F8-B91B-9569-7679D5B648DE}"/>
              </a:ext>
            </a:extLst>
          </p:cNvPr>
          <p:cNvSpPr txBox="1"/>
          <p:nvPr/>
        </p:nvSpPr>
        <p:spPr>
          <a:xfrm>
            <a:off x="899640" y="1765584"/>
            <a:ext cx="10454160" cy="377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Century Gothic" panose="020B0502020202020204" pitchFamily="34" charset="0"/>
              </a:rPr>
              <a:t>En la actualidad el sobrepeso y la obesidad de cualquier 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Century Gothic" panose="020B0502020202020204" pitchFamily="34" charset="0"/>
              </a:rPr>
              <a:t>tipo se considera una enfermedad con un riesgo importante 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Century Gothic" panose="020B0502020202020204" pitchFamily="34" charset="0"/>
              </a:rPr>
              <a:t>para desarrollar otro tipo de enfermedades crónico-degenerativas o complicaciones, a continuación las siguientes recomendaciones: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Century Gothic" panose="020B0502020202020204" pitchFamily="34" charset="0"/>
              </a:rPr>
              <a:t>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rPr>
              <a:t>Concientización al personal que el sobrepeso y la obesidad es una enfermedad.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7030A0"/>
                </a:solidFill>
                <a:latin typeface="Century Gothic" panose="020B0502020202020204" pitchFamily="34" charset="0"/>
              </a:rPr>
              <a:t> Información sobre estos temas y beneficios del ejercicio.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Century Gothic" panose="020B0502020202020204" pitchFamily="34" charset="0"/>
              </a:rPr>
              <a:t>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rPr>
              <a:t>Apoyos nutricionales o campañas en el comedor.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7030A0"/>
                </a:solidFill>
                <a:latin typeface="Century Gothic" panose="020B0502020202020204" pitchFamily="34" charset="0"/>
              </a:rPr>
              <a:t> Se sugiere manejo individualizado con Nutriólogo a las personas que resultaron con sobrepeso y/o algún tipo de obesidad.</a:t>
            </a:r>
          </a:p>
        </p:txBody>
      </p:sp>
    </p:spTree>
    <p:extLst>
      <p:ext uri="{BB962C8B-B14F-4D97-AF65-F5344CB8AC3E}">
        <p14:creationId xmlns:p14="http://schemas.microsoft.com/office/powerpoint/2010/main" val="994487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576C0CB-958E-E069-DC27-3813616B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13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16AC0B29-0318-711B-9E29-EC85D71B3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VALORACIÓN OFTALMOLÓGICA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D84B3E8-3814-CBAB-E8F4-6D5A8F0DB8CB}"/>
              </a:ext>
            </a:extLst>
          </p:cNvPr>
          <p:cNvSpPr txBox="1"/>
          <p:nvPr/>
        </p:nvSpPr>
        <p:spPr>
          <a:xfrm>
            <a:off x="1368472" y="1841242"/>
            <a:ext cx="406505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sz="2000" dirty="0">
                <a:latin typeface="Century Gothic" panose="020B0502020202020204" pitchFamily="34" charset="0"/>
              </a:rPr>
              <a:t>El </a:t>
            </a:r>
            <a:r>
              <a:rPr lang="es-MX" sz="2000" b="1" dirty="0">
                <a:solidFill>
                  <a:srgbClr val="DA291C"/>
                </a:solidFill>
                <a:latin typeface="Century Gothic" panose="020B0502020202020204" pitchFamily="34" charset="0"/>
              </a:rPr>
              <a:t>52%</a:t>
            </a:r>
            <a:r>
              <a:rPr lang="es-MX" sz="2000" dirty="0">
                <a:latin typeface="Century Gothic" panose="020B0502020202020204" pitchFamily="34" charset="0"/>
              </a:rPr>
              <a:t> presentó datos de agudeza visual dentro de parámetros normales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sz="2000" dirty="0">
                <a:latin typeface="Century Gothic" panose="020B0502020202020204" pitchFamily="34" charset="0"/>
              </a:rPr>
              <a:t>El </a:t>
            </a:r>
            <a:r>
              <a:rPr lang="es-MX" sz="2000" b="1" dirty="0">
                <a:solidFill>
                  <a:srgbClr val="DA291C"/>
                </a:solidFill>
                <a:latin typeface="Century Gothic" panose="020B0502020202020204" pitchFamily="34" charset="0"/>
              </a:rPr>
              <a:t>0%</a:t>
            </a:r>
            <a:r>
              <a:rPr lang="es-MX" sz="2000" dirty="0">
                <a:latin typeface="Century Gothic" panose="020B0502020202020204" pitchFamily="34" charset="0"/>
              </a:rPr>
              <a:t> presentó datos de disminución de agudeza visual (sin uso de lentes)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sz="2000" dirty="0">
                <a:latin typeface="Century Gothic" panose="020B0502020202020204" pitchFamily="34" charset="0"/>
              </a:rPr>
              <a:t>El </a:t>
            </a:r>
            <a:r>
              <a:rPr lang="es-MX" sz="2000" b="1" dirty="0">
                <a:solidFill>
                  <a:srgbClr val="DA291C"/>
                </a:solidFill>
                <a:latin typeface="Century Gothic" panose="020B0502020202020204" pitchFamily="34" charset="0"/>
              </a:rPr>
              <a:t>38%</a:t>
            </a:r>
            <a:r>
              <a:rPr lang="es-MX" sz="2000" dirty="0">
                <a:latin typeface="Century Gothic" panose="020B0502020202020204" pitchFamily="34" charset="0"/>
              </a:rPr>
              <a:t> presentó datos de disminución de agudeza visual corregida (con uso de lentes)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sz="2000" dirty="0">
                <a:latin typeface="Century Gothic" panose="020B0502020202020204" pitchFamily="34" charset="0"/>
              </a:rPr>
              <a:t>El </a:t>
            </a:r>
            <a:r>
              <a:rPr lang="es-MX" sz="2000" b="1" dirty="0">
                <a:solidFill>
                  <a:srgbClr val="DA291C"/>
                </a:solidFill>
                <a:latin typeface="Century Gothic" panose="020B0502020202020204" pitchFamily="34" charset="0"/>
              </a:rPr>
              <a:t>10%</a:t>
            </a:r>
            <a:r>
              <a:rPr lang="es-MX" sz="2000" dirty="0">
                <a:latin typeface="Century Gothic" panose="020B0502020202020204" pitchFamily="34" charset="0"/>
              </a:rPr>
              <a:t> presentó datos de disminución de agudeza visual no corregida (con uso de lentes)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MX" sz="2000" dirty="0">
              <a:latin typeface="Century Gothic" panose="020B0502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MX" sz="2000" dirty="0"/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81744772-7E9D-ED5C-FABF-E12EE84287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9580843"/>
              </p:ext>
            </p:extLst>
          </p:nvPr>
        </p:nvGraphicFramePr>
        <p:xfrm>
          <a:off x="6261433" y="1954028"/>
          <a:ext cx="4791577" cy="43986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7732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048DAD-937F-A323-ACE2-90827F1F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14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BEEDA97-3415-9120-8725-54144FF6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RECOMENDACIONES – Agudeza visual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614B1E9-B33A-AA87-8F8A-611E06CD63B0}"/>
              </a:ext>
            </a:extLst>
          </p:cNvPr>
          <p:cNvSpPr txBox="1">
            <a:spLocks/>
          </p:cNvSpPr>
          <p:nvPr/>
        </p:nvSpPr>
        <p:spPr>
          <a:xfrm>
            <a:off x="1079161" y="1822832"/>
            <a:ext cx="10709563" cy="5264728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2813"/>
            <a:r>
              <a:rPr lang="es-ES_tradnl" altLang="es-MX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Casos de Disminución de Agudeza visual NO corregida</a:t>
            </a:r>
          </a:p>
          <a:p>
            <a:pPr lvl="1" algn="just" defTabSz="912813"/>
            <a:r>
              <a:rPr lang="es-ES_tradnl" altLang="es-MX" sz="1600" dirty="0">
                <a:latin typeface="Century Gothic" panose="020B0502020202020204" pitchFamily="34" charset="0"/>
              </a:rPr>
              <a:t>Gestionar campaña para adquirir y hacer uso de lentes para corrección de agudeza visual</a:t>
            </a:r>
          </a:p>
          <a:p>
            <a:pPr lvl="1" algn="just" defTabSz="912813"/>
            <a:r>
              <a:rPr lang="es-ES_tradnl" altLang="es-MX" sz="1600" dirty="0">
                <a:latin typeface="Century Gothic" panose="020B0502020202020204" pitchFamily="34" charset="0"/>
              </a:rPr>
              <a:t>Valoración visual en 6 meses </a:t>
            </a:r>
          </a:p>
          <a:p>
            <a:pPr lvl="1" algn="just" defTabSz="912813"/>
            <a:r>
              <a:rPr lang="es-ES_tradnl" altLang="es-MX" sz="1600" dirty="0">
                <a:latin typeface="Century Gothic" panose="020B0502020202020204" pitchFamily="34" charset="0"/>
              </a:rPr>
              <a:t>Capacitación y concientización en temas de salud y cuidado visual</a:t>
            </a:r>
          </a:p>
          <a:p>
            <a:pPr algn="just" defTabSz="912813"/>
            <a:endParaRPr lang="es-ES_tradnl" altLang="es-MX" sz="1800" b="1" dirty="0">
              <a:solidFill>
                <a:srgbClr val="FFFF00"/>
              </a:solidFill>
              <a:latin typeface="Century Gothic" panose="020B0502020202020204" pitchFamily="34" charset="0"/>
            </a:endParaRPr>
          </a:p>
          <a:p>
            <a:pPr algn="just" defTabSz="912813"/>
            <a:r>
              <a:rPr lang="es-ES_tradnl" altLang="es-MX" sz="18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Casos de Disminución de Agudeza visual Corregida:</a:t>
            </a:r>
          </a:p>
          <a:p>
            <a:pPr lvl="1" algn="just" defTabSz="912813"/>
            <a:r>
              <a:rPr lang="es-ES_tradnl" altLang="es-MX" sz="1600" dirty="0">
                <a:latin typeface="Century Gothic" panose="020B0502020202020204" pitchFamily="34" charset="0"/>
              </a:rPr>
              <a:t>Valoración visual en 1 año</a:t>
            </a:r>
          </a:p>
          <a:p>
            <a:pPr lvl="1" algn="just" defTabSz="912813"/>
            <a:r>
              <a:rPr lang="es-ES_tradnl" altLang="es-MX" sz="1600" dirty="0">
                <a:latin typeface="Century Gothic" panose="020B0502020202020204" pitchFamily="34" charset="0"/>
              </a:rPr>
              <a:t>Capacitación y concientización en temas de salud y cuidado visual</a:t>
            </a:r>
          </a:p>
          <a:p>
            <a:endParaRPr lang="es-MX" sz="1800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s-MX" sz="18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Casos en normalidad:</a:t>
            </a:r>
          </a:p>
          <a:p>
            <a:pPr lvl="1" algn="just" defTabSz="912813"/>
            <a:r>
              <a:rPr lang="es-ES_tradnl" altLang="es-MX" sz="1600" dirty="0">
                <a:latin typeface="Century Gothic" panose="020B0502020202020204" pitchFamily="34" charset="0"/>
              </a:rPr>
              <a:t>Valoración visual en 1 año</a:t>
            </a:r>
          </a:p>
          <a:p>
            <a:pPr lvl="1" algn="just" defTabSz="912813"/>
            <a:r>
              <a:rPr lang="es-ES_tradnl" altLang="es-MX" sz="1600" dirty="0">
                <a:latin typeface="Century Gothic" panose="020B0502020202020204" pitchFamily="34" charset="0"/>
              </a:rPr>
              <a:t>Capacitación y concientización en temas de salud y cuidado visual</a:t>
            </a:r>
          </a:p>
          <a:p>
            <a:pPr marL="0" indent="0">
              <a:buNone/>
            </a:pPr>
            <a:endParaRPr lang="es-ES_tradnl" altLang="es-MX" sz="1800" dirty="0">
              <a:latin typeface="Century Gothic" panose="020B0502020202020204" pitchFamily="34" charset="0"/>
            </a:endParaRPr>
          </a:p>
          <a:p>
            <a:pPr marL="457189" lvl="1" indent="0" algn="just" defTabSz="912813">
              <a:buNone/>
            </a:pPr>
            <a:endParaRPr lang="es-ES_tradnl" altLang="es-MX" sz="16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s-MX" sz="1800" dirty="0">
              <a:latin typeface="Century Gothic" panose="020B0502020202020204" pitchFamily="34" charset="0"/>
            </a:endParaRPr>
          </a:p>
          <a:p>
            <a:pPr lvl="1"/>
            <a:endParaRPr lang="es-MX" sz="1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646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6887503-AB3F-9A76-E6F5-7808E794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15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BF998E96-8005-382F-9D04-38B0B5DF3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SALUD BUCAL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BB16E68-1C5E-F5EE-FECD-D0331F5FEE75}"/>
              </a:ext>
            </a:extLst>
          </p:cNvPr>
          <p:cNvSpPr txBox="1"/>
          <p:nvPr/>
        </p:nvSpPr>
        <p:spPr>
          <a:xfrm>
            <a:off x="1326642" y="1846501"/>
            <a:ext cx="333770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dirty="0">
                <a:latin typeface="Century Gothic" panose="020B0502020202020204" pitchFamily="34" charset="0"/>
              </a:rPr>
              <a:t>El </a:t>
            </a:r>
            <a:r>
              <a:rPr lang="es-MX" b="1" dirty="0">
                <a:solidFill>
                  <a:srgbClr val="DA291C"/>
                </a:solidFill>
                <a:latin typeface="Century Gothic" panose="020B0502020202020204" pitchFamily="34" charset="0"/>
              </a:rPr>
              <a:t>32%</a:t>
            </a:r>
            <a:r>
              <a:rPr lang="es-MX" dirty="0">
                <a:latin typeface="Century Gothic" panose="020B0502020202020204" pitchFamily="34" charset="0"/>
              </a:rPr>
              <a:t> de la población examinada no presentó datos de caries y/o sarro dental.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dirty="0">
                <a:latin typeface="Century Gothic" panose="020B0502020202020204" pitchFamily="34" charset="0"/>
              </a:rPr>
              <a:t>El </a:t>
            </a:r>
            <a:r>
              <a:rPr lang="es-MX" b="1" dirty="0">
                <a:solidFill>
                  <a:srgbClr val="DA291C"/>
                </a:solidFill>
                <a:latin typeface="Century Gothic" panose="020B0502020202020204" pitchFamily="34" charset="0"/>
              </a:rPr>
              <a:t>68%</a:t>
            </a:r>
            <a:r>
              <a:rPr lang="es-MX" dirty="0">
                <a:latin typeface="Century Gothic" panose="020B0502020202020204" pitchFamily="34" charset="0"/>
              </a:rPr>
              <a:t> de la población examinada presentó datos de caries y/o sarro dental.</a:t>
            </a:r>
          </a:p>
          <a:p>
            <a:endParaRPr lang="es-MX" dirty="0">
              <a:latin typeface="Century Gothic" panose="020B0502020202020204" pitchFamily="34" charset="0"/>
            </a:endParaRPr>
          </a:p>
          <a:p>
            <a:endParaRPr lang="es-MX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MX" b="1" u="sng" dirty="0">
                <a:solidFill>
                  <a:schemeClr val="accent1"/>
                </a:solidFill>
                <a:latin typeface="Century Gothic" panose="020B0502020202020204" pitchFamily="34" charset="0"/>
              </a:rPr>
              <a:t>Recomendación:</a:t>
            </a:r>
          </a:p>
          <a:p>
            <a:pPr marL="0" indent="0">
              <a:buNone/>
            </a:pPr>
            <a:r>
              <a:rPr lang="es-MX" dirty="0">
                <a:latin typeface="Century Gothic" panose="020B0502020202020204" pitchFamily="34" charset="0"/>
              </a:rPr>
              <a:t>Se sugiere referir a unidad odontológica para manejo de caries y limpieza dental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20DEEA59-A31F-6AF8-C937-9B159821E0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1241723"/>
              </p:ext>
            </p:extLst>
          </p:nvPr>
        </p:nvGraphicFramePr>
        <p:xfrm>
          <a:off x="5769612" y="1984494"/>
          <a:ext cx="4529419" cy="4508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49594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A09267-9BB0-9CDD-6C68-E71D118C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16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40538D11-2F6B-1D96-70C3-EF91B004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VALORACIÓN DE PRESIÓN ARTERIAL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3E3880-F1C6-4C94-A376-9CA9D955DB2C}"/>
              </a:ext>
            </a:extLst>
          </p:cNvPr>
          <p:cNvSpPr txBox="1"/>
          <p:nvPr/>
        </p:nvSpPr>
        <p:spPr>
          <a:xfrm>
            <a:off x="518678" y="1797182"/>
            <a:ext cx="3311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b="1" dirty="0">
                <a:solidFill>
                  <a:srgbClr val="FF0000"/>
                </a:solidFill>
                <a:latin typeface="Century Gothic" panose="020B0502020202020204" pitchFamily="34" charset="0"/>
              </a:rPr>
              <a:t>77% </a:t>
            </a:r>
            <a:r>
              <a:rPr lang="es-MX" dirty="0">
                <a:latin typeface="Century Gothic" panose="020B0502020202020204" pitchFamily="34" charset="0"/>
              </a:rPr>
              <a:t>Presión Arterial Normal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b="1" dirty="0">
                <a:solidFill>
                  <a:srgbClr val="FF0000"/>
                </a:solidFill>
                <a:latin typeface="Century Gothic" panose="020B0502020202020204" pitchFamily="34" charset="0"/>
              </a:rPr>
              <a:t>11% </a:t>
            </a:r>
            <a:r>
              <a:rPr lang="es-MX" dirty="0">
                <a:latin typeface="Century Gothic" panose="020B0502020202020204" pitchFamily="34" charset="0"/>
              </a:rPr>
              <a:t>Presión Arterial Normal Alta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b="1" dirty="0">
                <a:solidFill>
                  <a:srgbClr val="FF0000"/>
                </a:solidFill>
                <a:latin typeface="Century Gothic" panose="020B0502020202020204" pitchFamily="34" charset="0"/>
              </a:rPr>
              <a:t>11% </a:t>
            </a:r>
            <a:r>
              <a:rPr lang="es-MX" dirty="0">
                <a:latin typeface="Century Gothic" panose="020B0502020202020204" pitchFamily="34" charset="0"/>
              </a:rPr>
              <a:t>Presión Arterial Alta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b="1" dirty="0">
                <a:solidFill>
                  <a:srgbClr val="FF0000"/>
                </a:solidFill>
                <a:latin typeface="Century Gothic" panose="020B0502020202020204" pitchFamily="34" charset="0"/>
              </a:rPr>
              <a:t>2% </a:t>
            </a:r>
            <a:r>
              <a:rPr lang="es-MX" dirty="0">
                <a:latin typeface="Century Gothic" panose="020B0502020202020204" pitchFamily="34" charset="0"/>
              </a:rPr>
              <a:t>Presión Arterial Alta</a:t>
            </a:r>
          </a:p>
          <a:p>
            <a:endParaRPr lang="es-MX" dirty="0">
              <a:latin typeface="Century Gothic" panose="020B0502020202020204" pitchFamily="34" charset="0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23CD6B5B-DAAB-1C61-E7C9-500B2B5BEE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8629664"/>
              </p:ext>
            </p:extLst>
          </p:nvPr>
        </p:nvGraphicFramePr>
        <p:xfrm>
          <a:off x="5038205" y="1797182"/>
          <a:ext cx="5509479" cy="4503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3576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048DAD-937F-A323-ACE2-90827F1F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17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BEEDA97-3415-9120-8725-54144FF6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RECOMENDACIONES – Presión arterial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614B1E9-B33A-AA87-8F8A-611E06CD63B0}"/>
              </a:ext>
            </a:extLst>
          </p:cNvPr>
          <p:cNvSpPr txBox="1">
            <a:spLocks/>
          </p:cNvSpPr>
          <p:nvPr/>
        </p:nvSpPr>
        <p:spPr>
          <a:xfrm>
            <a:off x="970671" y="1870695"/>
            <a:ext cx="9678570" cy="4292199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2813"/>
            <a:r>
              <a:rPr lang="es-ES_tradnl" altLang="es-MX" b="1" dirty="0">
                <a:solidFill>
                  <a:srgbClr val="FFFF00"/>
                </a:solidFill>
                <a:latin typeface="Century Gothic" panose="020B0502020202020204" pitchFamily="34" charset="0"/>
              </a:rPr>
              <a:t>Casos de seguimiento (presión arterial normal alta):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 </a:t>
            </a:r>
            <a:r>
              <a:rPr lang="es-ES" altLang="es-MX" dirty="0">
                <a:latin typeface="Century Gothic" panose="020B0502020202020204" pitchFamily="34" charset="0"/>
              </a:rPr>
              <a:t>Iniciar protocolo de estudio individualizado a las personas que resultaron con cifras de Presión Arterial fuera de rango normal, este incluye:</a:t>
            </a:r>
          </a:p>
          <a:p>
            <a:pPr lvl="1" algn="just" defTabSz="912813"/>
            <a:r>
              <a:rPr lang="es-ES" altLang="es-MX" dirty="0">
                <a:latin typeface="Century Gothic" panose="020B0502020202020204" pitchFamily="34" charset="0"/>
              </a:rPr>
              <a:t> Toma de presión arterial 3 días consecutivos a la misma hora.</a:t>
            </a:r>
          </a:p>
          <a:p>
            <a:pPr lvl="1" algn="just" defTabSz="912813"/>
            <a:r>
              <a:rPr lang="es-ES" altLang="es-MX" dirty="0">
                <a:latin typeface="Century Gothic" panose="020B0502020202020204" pitchFamily="34" charset="0"/>
              </a:rPr>
              <a:t>Tratamiento (en caso necesario) y/o recomendaciones  integrales.</a:t>
            </a:r>
          </a:p>
          <a:p>
            <a:pPr lvl="1" algn="just" defTabSz="912813"/>
            <a:endParaRPr lang="es-MX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s-MX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Casos en normalidad: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Valoración medica en 1 año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Capacitación y concientización en temas de prevención de enfermedades crónico-degenerativas</a:t>
            </a:r>
          </a:p>
          <a:p>
            <a:pPr marL="457189" lvl="1" indent="0" algn="just" defTabSz="912813">
              <a:buNone/>
            </a:pPr>
            <a:endParaRPr lang="es-ES_tradnl" altLang="es-MX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s-MX" dirty="0">
              <a:latin typeface="Century Gothic" panose="020B0502020202020204" pitchFamily="34" charset="0"/>
            </a:endParaRPr>
          </a:p>
          <a:p>
            <a:pPr lvl="1"/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543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2E803BD-1599-137F-8FB5-AB94DD78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18</a:t>
            </a:fld>
            <a:endParaRPr lang="es-ES" noProof="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6B80B7-C7B0-6761-D625-1F324EBA40F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814965"/>
            <a:ext cx="10515600" cy="60801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>
                <a:solidFill>
                  <a:schemeClr val="tx1"/>
                </a:solidFill>
                <a:latin typeface="+mj-lt"/>
              </a:rPr>
              <a:t>Se realizaron </a:t>
            </a:r>
            <a:r>
              <a:rPr lang="es-MX" b="1" dirty="0">
                <a:solidFill>
                  <a:srgbClr val="FF0000"/>
                </a:solidFill>
                <a:latin typeface="+mj-lt"/>
              </a:rPr>
              <a:t>21</a:t>
            </a:r>
            <a:r>
              <a:rPr lang="es-MX" dirty="0">
                <a:solidFill>
                  <a:schemeClr val="tx1"/>
                </a:solidFill>
                <a:latin typeface="+mj-lt"/>
              </a:rPr>
              <a:t> audiometrías de los cuales se  obtuvieron los siguientes datos:</a:t>
            </a:r>
          </a:p>
          <a:p>
            <a:endParaRPr lang="es-MX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5565B57-63C7-9F2F-AED8-F5A2A30845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3440"/>
            <a:ext cx="8734570" cy="771525"/>
          </a:xfrm>
        </p:spPr>
        <p:txBody>
          <a:bodyPr/>
          <a:lstStyle/>
          <a:p>
            <a:r>
              <a:rPr lang="es-MX" dirty="0"/>
              <a:t>AUDIOMETRÍAS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DDE06FCB-F48A-4AD5-A6D3-5685210E63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2743508"/>
              </p:ext>
            </p:extLst>
          </p:nvPr>
        </p:nvGraphicFramePr>
        <p:xfrm>
          <a:off x="1395663" y="1586490"/>
          <a:ext cx="9256295" cy="4862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84541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77F2E9-9FB5-C6F9-FBB9-CDB13421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19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78626526-286A-7972-6FB1-39B3A6914E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57150"/>
            <a:ext cx="8332788" cy="1147763"/>
          </a:xfrm>
        </p:spPr>
        <p:txBody>
          <a:bodyPr>
            <a:normAutofit/>
          </a:bodyPr>
          <a:lstStyle/>
          <a:p>
            <a:r>
              <a:rPr lang="es-MX" dirty="0"/>
              <a:t>% Hipoacusia Bilateral Combina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0EEEAB72-29C7-424B-9FA1-E5E6A7F8F8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9145346"/>
              </p:ext>
            </p:extLst>
          </p:nvPr>
        </p:nvGraphicFramePr>
        <p:xfrm>
          <a:off x="1315453" y="1283368"/>
          <a:ext cx="8967536" cy="4684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79725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E00852-9E2A-9ADF-3C5C-80911B35A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20</a:t>
            </a:fld>
            <a:endParaRPr lang="es-ES" noProof="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71C89E-4669-3464-199D-C0C11E199EE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602712"/>
            <a:ext cx="7369175" cy="608013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ÁREA Y ANTIGUEDAD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54025199-A763-9695-70F8-65EBB2D92A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236538"/>
            <a:ext cx="8332788" cy="1147763"/>
          </a:xfrm>
        </p:spPr>
        <p:txBody>
          <a:bodyPr/>
          <a:lstStyle/>
          <a:p>
            <a:r>
              <a:rPr lang="es-MX" dirty="0"/>
              <a:t>CASOS DE TRAUMA ACÚSTICO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4FAE0BD9-222F-41B7-820A-6B24BB6A26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3922159"/>
              </p:ext>
            </p:extLst>
          </p:nvPr>
        </p:nvGraphicFramePr>
        <p:xfrm>
          <a:off x="536532" y="1210725"/>
          <a:ext cx="5559468" cy="48371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EEF1DC6B-FEEC-492F-8153-18AB839DA3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9979576"/>
              </p:ext>
            </p:extLst>
          </p:nvPr>
        </p:nvGraphicFramePr>
        <p:xfrm>
          <a:off x="6096000" y="1296201"/>
          <a:ext cx="4708358" cy="4520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1973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6D18CAF-0DF5-8357-0AF8-4A66647F7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Agregue un pie de página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31B7DF2-6358-EA94-92E9-A9C040B6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21</a:t>
            </a:fld>
            <a:endParaRPr lang="es-ES" noProof="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3E01657-863C-2221-1511-EA4AA3E129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589199" cy="1280890"/>
          </a:xfrm>
          <a:prstGeom prst="rect">
            <a:avLst/>
          </a:prstGeom>
        </p:spPr>
        <p:txBody>
          <a:bodyPr vert="horz" lIns="91440" tIns="45720" rIns="91440" bIns="0" rtlCol="0" anchor="b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altLang="es-MX" sz="2000" dirty="0"/>
              <a:t>Ley Federal del Trabajo</a:t>
            </a:r>
            <a:br>
              <a:rPr lang="es-MX" altLang="es-MX" sz="2000" dirty="0"/>
            </a:br>
            <a:r>
              <a:rPr lang="es-MX" altLang="es-MX" sz="2000" dirty="0"/>
              <a:t>Sorderas e hipoacusias profesionales Fracción 351. </a:t>
            </a:r>
          </a:p>
          <a:p>
            <a:endParaRPr lang="es-MX" altLang="es-MX" sz="2000" b="0" dirty="0"/>
          </a:p>
          <a:p>
            <a:r>
              <a:rPr lang="es-MX" altLang="es-MX" sz="2000" b="0" dirty="0"/>
              <a:t>Se valuarán siguiendo las normas de la tabla siguiente:</a:t>
            </a:r>
            <a:endParaRPr lang="es-MX" sz="2000" b="0" dirty="0"/>
          </a:p>
        </p:txBody>
      </p:sp>
      <p:graphicFrame>
        <p:nvGraphicFramePr>
          <p:cNvPr id="8" name="5 Tabla">
            <a:extLst>
              <a:ext uri="{FF2B5EF4-FFF2-40B4-BE49-F238E27FC236}">
                <a16:creationId xmlns:a16="http://schemas.microsoft.com/office/drawing/2014/main" id="{F7F4182F-0066-E075-8DAF-FCC27861F5B3}"/>
              </a:ext>
            </a:extLst>
          </p:cNvPr>
          <p:cNvGraphicFramePr>
            <a:graphicFrameLocks noGrp="1"/>
          </p:cNvGraphicFramePr>
          <p:nvPr/>
        </p:nvGraphicFramePr>
        <p:xfrm>
          <a:off x="1539837" y="1453683"/>
          <a:ext cx="3687580" cy="5267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49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% de Hipoacusia bilateral</a:t>
                      </a:r>
                    </a:p>
                    <a:p>
                      <a:pPr algn="ctr"/>
                      <a:r>
                        <a:rPr lang="es-MX" sz="1200" dirty="0"/>
                        <a:t>combinada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% de incapacidad</a:t>
                      </a:r>
                    </a:p>
                    <a:p>
                      <a:pPr algn="ctr"/>
                      <a:r>
                        <a:rPr lang="es-MX" sz="1200" dirty="0"/>
                        <a:t>permanente</a:t>
                      </a:r>
                    </a:p>
                    <a:p>
                      <a:pPr algn="ctr"/>
                      <a:endParaRPr lang="es-MX" sz="1200" dirty="0"/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36"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10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10</a:t>
                      </a:r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236"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15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14</a:t>
                      </a:r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236"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20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17</a:t>
                      </a:r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236"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25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20</a:t>
                      </a:r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236"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30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25</a:t>
                      </a:r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236"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35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30</a:t>
                      </a:r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236"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40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35</a:t>
                      </a:r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236"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45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40</a:t>
                      </a:r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236"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50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45</a:t>
                      </a:r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236"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55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50</a:t>
                      </a:r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236"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60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55</a:t>
                      </a:r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236"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65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60</a:t>
                      </a:r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236"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70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65</a:t>
                      </a:r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9236"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75 A 100</a:t>
                      </a:r>
                    </a:p>
                  </a:txBody>
                  <a:tcPr marL="91447" marR="9144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500" dirty="0"/>
                        <a:t>70</a:t>
                      </a:r>
                    </a:p>
                  </a:txBody>
                  <a:tcPr marL="91447" marR="91447" marT="45711" marB="45711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E6F400E8-5135-451C-AE3E-75E4D5E6C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0097941"/>
              </p:ext>
            </p:extLst>
          </p:nvPr>
        </p:nvGraphicFramePr>
        <p:xfrm>
          <a:off x="5954964" y="1999544"/>
          <a:ext cx="4154905" cy="416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5715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048DAD-937F-A323-ACE2-90827F1F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22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BEEDA97-3415-9120-8725-54144FF6297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233363"/>
            <a:ext cx="8332788" cy="1147763"/>
          </a:xfrm>
        </p:spPr>
        <p:txBody>
          <a:bodyPr>
            <a:normAutofit fontScale="90000"/>
          </a:bodyPr>
          <a:lstStyle/>
          <a:p>
            <a:r>
              <a:rPr lang="es-MX" dirty="0"/>
              <a:t>RECOMENDACIONES – Audiometría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614B1E9-B33A-AA87-8F8A-611E06CD63B0}"/>
              </a:ext>
            </a:extLst>
          </p:cNvPr>
          <p:cNvSpPr txBox="1">
            <a:spLocks/>
          </p:cNvSpPr>
          <p:nvPr/>
        </p:nvSpPr>
        <p:spPr>
          <a:xfrm>
            <a:off x="1385455" y="914400"/>
            <a:ext cx="10709563" cy="5863706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2813"/>
            <a:r>
              <a:rPr lang="es-ES_tradnl" altLang="es-MX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Casos de riesgo Alto o </a:t>
            </a:r>
            <a:r>
              <a:rPr lang="es-ES_tradnl" altLang="es-MX" sz="20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Muy Alto</a:t>
            </a:r>
          </a:p>
          <a:p>
            <a:pPr lvl="1" algn="just" defTabSz="912813"/>
            <a:r>
              <a:rPr lang="es-ES_tradnl" altLang="es-MX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Ingresar al programa de conservación auditiva</a:t>
            </a:r>
          </a:p>
          <a:p>
            <a:pPr lvl="1" algn="just" defTabSz="912813"/>
            <a:r>
              <a:rPr lang="es-ES_tradnl" altLang="es-MX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Seguimiento con realización de audiometría en 6 meses</a:t>
            </a:r>
          </a:p>
          <a:p>
            <a:pPr lvl="1" algn="just" defTabSz="912813"/>
            <a:r>
              <a:rPr lang="es-ES_tradnl" altLang="es-MX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los casos con exposición al factor de ruido mayor a 85 dB, validar reubicación para no continuar con exposición a riesgos auditivos</a:t>
            </a:r>
          </a:p>
          <a:p>
            <a:pPr lvl="1" algn="just" defTabSz="912813"/>
            <a:r>
              <a:rPr lang="es-ES_tradnl" altLang="es-MX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Vigilancia del uso adecuado del protector auditivo</a:t>
            </a:r>
          </a:p>
          <a:p>
            <a:pPr lvl="1" algn="just" defTabSz="912813"/>
            <a:r>
              <a:rPr lang="es-ES_tradnl" altLang="es-MX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Capacitación y concientización en temas de cuidado auditivo</a:t>
            </a:r>
          </a:p>
          <a:p>
            <a:pPr algn="just" defTabSz="912813"/>
            <a:r>
              <a:rPr lang="es-ES_tradnl" altLang="es-MX" sz="2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Casos de seguimiento:</a:t>
            </a:r>
          </a:p>
          <a:p>
            <a:pPr lvl="1" algn="just" defTabSz="912813"/>
            <a:r>
              <a:rPr lang="es-ES_tradnl" altLang="es-MX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Valoración con audiometría en 1 año</a:t>
            </a:r>
          </a:p>
          <a:p>
            <a:pPr lvl="1" algn="just" defTabSz="912813"/>
            <a:r>
              <a:rPr lang="es-ES_tradnl" altLang="es-MX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Vigilancia del uso adecuado del protector auditivo</a:t>
            </a:r>
          </a:p>
          <a:p>
            <a:pPr lvl="1" algn="just" defTabSz="912813"/>
            <a:r>
              <a:rPr lang="es-ES_tradnl" altLang="es-MX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Capacitación y concientización en temas de cuidado auditivo</a:t>
            </a:r>
          </a:p>
          <a:p>
            <a:r>
              <a:rPr lang="es-MX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Casos en normalidad:</a:t>
            </a:r>
          </a:p>
          <a:p>
            <a:pPr lvl="1" algn="just" defTabSz="912813"/>
            <a:r>
              <a:rPr lang="es-ES_tradnl" altLang="es-MX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Valoración con audiometría en 1 año</a:t>
            </a:r>
          </a:p>
          <a:p>
            <a:pPr lvl="1" algn="just" defTabSz="912813"/>
            <a:r>
              <a:rPr lang="es-ES_tradnl" altLang="es-MX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Capacitación y concientización en temas de salud y cuidado auditivo</a:t>
            </a:r>
          </a:p>
          <a:p>
            <a:pPr marL="457189" lvl="1" indent="0" algn="just" defTabSz="912813">
              <a:buNone/>
            </a:pPr>
            <a:endParaRPr lang="es-ES_tradnl" altLang="es-MX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 defTabSz="912813"/>
            <a:r>
              <a:rPr lang="es-ES_tradnl" altLang="es-MX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OTRAS ACTIVIDADES SUGERIDAS:</a:t>
            </a:r>
          </a:p>
          <a:p>
            <a:pPr lvl="1" algn="just" defTabSz="912813">
              <a:buFontTx/>
              <a:buChar char="-"/>
            </a:pPr>
            <a:r>
              <a:rPr lang="es-ES_tradnl" altLang="es-MX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Mantener identificadas las áreas con ruido mayor a 85 dB</a:t>
            </a:r>
          </a:p>
          <a:p>
            <a:pPr lvl="1" algn="just" defTabSz="912813">
              <a:buFontTx/>
              <a:buChar char="-"/>
            </a:pPr>
            <a:r>
              <a:rPr lang="es-ES_tradnl" altLang="es-MX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Realizar audiometrías a personal de nuevo ingreso</a:t>
            </a:r>
          </a:p>
          <a:p>
            <a:pPr marL="0" indent="0">
              <a:buNone/>
            </a:pPr>
            <a:endParaRPr lang="es-ES_tradnl" altLang="es-MX" sz="2000" dirty="0">
              <a:latin typeface="Century Gothic" panose="020B0502020202020204" pitchFamily="34" charset="0"/>
            </a:endParaRPr>
          </a:p>
          <a:p>
            <a:pPr marL="457189" lvl="1" indent="0" algn="just" defTabSz="912813">
              <a:buNone/>
            </a:pPr>
            <a:endParaRPr lang="es-ES_tradnl" altLang="es-MX" sz="1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s-MX" sz="2000" dirty="0">
              <a:latin typeface="Century Gothic" panose="020B0502020202020204" pitchFamily="34" charset="0"/>
            </a:endParaRPr>
          </a:p>
          <a:p>
            <a:pPr lvl="1"/>
            <a:endParaRPr lang="es-MX" sz="1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508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C6D02D1-C975-3D53-697E-31D0742E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23</a:t>
            </a:fld>
            <a:endParaRPr lang="es-ES" noProof="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BF371B-00FC-D4CD-BD90-FA4FEA233AE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862013"/>
            <a:ext cx="7367588" cy="609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>
                <a:solidFill>
                  <a:schemeClr val="tx1"/>
                </a:solidFill>
                <a:latin typeface="+mj-lt"/>
              </a:rPr>
              <a:t>Se realizaron </a:t>
            </a:r>
            <a:r>
              <a:rPr lang="es-MX" b="1" dirty="0">
                <a:solidFill>
                  <a:srgbClr val="FF0000"/>
                </a:solidFill>
                <a:latin typeface="+mj-lt"/>
              </a:rPr>
              <a:t>31</a:t>
            </a:r>
            <a:r>
              <a:rPr lang="es-MX" dirty="0">
                <a:solidFill>
                  <a:schemeClr val="tx1"/>
                </a:solidFill>
                <a:latin typeface="+mj-lt"/>
              </a:rPr>
              <a:t> espirometrías de los cuales se  obtuvieron los siguientes datos:</a:t>
            </a:r>
          </a:p>
          <a:p>
            <a:endParaRPr lang="es-MX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2D6E5C3-5380-0334-47BB-CD4D544830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93663"/>
            <a:ext cx="6096000" cy="768350"/>
          </a:xfrm>
        </p:spPr>
        <p:txBody>
          <a:bodyPr/>
          <a:lstStyle/>
          <a:p>
            <a:r>
              <a:rPr lang="es-MX" dirty="0"/>
              <a:t>ESPIROMETRÍAS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4BB1A20D-4613-4EEC-9061-06AF810356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475244"/>
              </p:ext>
            </p:extLst>
          </p:nvPr>
        </p:nvGraphicFramePr>
        <p:xfrm>
          <a:off x="1973179" y="1796716"/>
          <a:ext cx="8534400" cy="4668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87991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07A5292-94A4-5FEF-2C12-A44EC1FCF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24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45009EEA-65F1-D8ED-B4EB-77AA0ADC61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217488"/>
            <a:ext cx="8332788" cy="1147763"/>
          </a:xfrm>
        </p:spPr>
        <p:txBody>
          <a:bodyPr/>
          <a:lstStyle/>
          <a:p>
            <a:r>
              <a:rPr lang="es-MX" dirty="0"/>
              <a:t>TABAQUISMO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455533DA-4ED7-4F43-9932-2CB30C0F86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4463649"/>
              </p:ext>
            </p:extLst>
          </p:nvPr>
        </p:nvGraphicFramePr>
        <p:xfrm>
          <a:off x="1491916" y="1074822"/>
          <a:ext cx="8871283" cy="5309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70549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048DAD-937F-A323-ACE2-90827F1F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25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BEEDA97-3415-9120-8725-54144FF6297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233363"/>
            <a:ext cx="8332788" cy="1147763"/>
          </a:xfrm>
        </p:spPr>
        <p:txBody>
          <a:bodyPr>
            <a:normAutofit/>
          </a:bodyPr>
          <a:lstStyle/>
          <a:p>
            <a:r>
              <a:rPr lang="es-MX" dirty="0"/>
              <a:t>RECOMENDACIONES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614B1E9-B33A-AA87-8F8A-611E06CD63B0}"/>
              </a:ext>
            </a:extLst>
          </p:cNvPr>
          <p:cNvSpPr txBox="1">
            <a:spLocks/>
          </p:cNvSpPr>
          <p:nvPr/>
        </p:nvSpPr>
        <p:spPr>
          <a:xfrm>
            <a:off x="139677" y="773764"/>
            <a:ext cx="11214123" cy="509847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2813"/>
            <a:r>
              <a:rPr lang="es-ES_tradnl" altLang="es-MX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Casos de alto riesgo</a:t>
            </a:r>
          </a:p>
          <a:p>
            <a:pPr lvl="1" algn="just" defTabSz="912813"/>
            <a:r>
              <a:rPr lang="es-ES_tradnl" altLang="es-MX" sz="1800" dirty="0">
                <a:latin typeface="Century Gothic" panose="020B0502020202020204" pitchFamily="34" charset="0"/>
              </a:rPr>
              <a:t>Se sugiere referir con especialista para realización de espirometría con broncodilatador</a:t>
            </a:r>
          </a:p>
          <a:p>
            <a:pPr lvl="1" algn="just" defTabSz="912813"/>
            <a:r>
              <a:rPr lang="es-ES_tradnl" altLang="es-MX" sz="1800" dirty="0">
                <a:latin typeface="Century Gothic" panose="020B0502020202020204" pitchFamily="34" charset="0"/>
              </a:rPr>
              <a:t>Seguimiento con realización de espirometría  en 6 meses</a:t>
            </a:r>
          </a:p>
          <a:p>
            <a:pPr lvl="1" algn="just" defTabSz="912813"/>
            <a:r>
              <a:rPr lang="es-ES_tradnl" altLang="es-MX" sz="1800" dirty="0">
                <a:latin typeface="Century Gothic" panose="020B0502020202020204" pitchFamily="34" charset="0"/>
              </a:rPr>
              <a:t>Uso adecuado de Equipo de protección respiratoria</a:t>
            </a:r>
          </a:p>
          <a:p>
            <a:pPr lvl="1" algn="just" defTabSz="912813"/>
            <a:r>
              <a:rPr lang="es-ES_tradnl" altLang="es-MX" sz="1800" dirty="0">
                <a:latin typeface="Century Gothic" panose="020B0502020202020204" pitchFamily="34" charset="0"/>
              </a:rPr>
              <a:t>No exponer a agentes químicos, irritantes o sensibilizantes</a:t>
            </a:r>
          </a:p>
          <a:p>
            <a:pPr algn="just" defTabSz="912813"/>
            <a:r>
              <a:rPr lang="es-ES_tradnl" altLang="es-MX" sz="20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Casos de seguimiento:</a:t>
            </a:r>
          </a:p>
          <a:p>
            <a:pPr lvl="1" algn="just" defTabSz="912813"/>
            <a:r>
              <a:rPr lang="es-ES_tradnl" altLang="es-MX" sz="1800" dirty="0">
                <a:latin typeface="Century Gothic" panose="020B0502020202020204" pitchFamily="34" charset="0"/>
              </a:rPr>
              <a:t>Seguimiento con realización de espirometría en 1 año</a:t>
            </a:r>
          </a:p>
          <a:p>
            <a:pPr lvl="1" algn="just" defTabSz="912813"/>
            <a:r>
              <a:rPr lang="es-ES_tradnl" altLang="es-MX" sz="1800" dirty="0">
                <a:latin typeface="Century Gothic" panose="020B0502020202020204" pitchFamily="34" charset="0"/>
              </a:rPr>
              <a:t>Uso adecuado de Equipo de protección respiratoria</a:t>
            </a:r>
          </a:p>
          <a:p>
            <a:pPr lvl="1" algn="just" defTabSz="912813"/>
            <a:r>
              <a:rPr lang="es-ES_tradnl" altLang="es-MX" sz="1800" dirty="0">
                <a:latin typeface="Century Gothic" panose="020B0502020202020204" pitchFamily="34" charset="0"/>
              </a:rPr>
              <a:t>Capacitación y concientización en temas de salud y cuidado del aparato respiratorio (uso de EPP, prevención de tabaquismo, </a:t>
            </a:r>
            <a:r>
              <a:rPr lang="es-ES_tradnl" altLang="es-MX" sz="1800" dirty="0" err="1">
                <a:latin typeface="Century Gothic" panose="020B0502020202020204" pitchFamily="34" charset="0"/>
              </a:rPr>
              <a:t>etc</a:t>
            </a:r>
            <a:r>
              <a:rPr lang="es-ES_tradnl" altLang="es-MX" sz="1800" dirty="0">
                <a:latin typeface="Century Gothic" panose="020B0502020202020204" pitchFamily="34" charset="0"/>
              </a:rPr>
              <a:t>)</a:t>
            </a:r>
          </a:p>
          <a:p>
            <a:r>
              <a:rPr lang="es-MX" sz="20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Casos en normalidad:</a:t>
            </a:r>
          </a:p>
          <a:p>
            <a:pPr lvl="1" algn="just" defTabSz="912813"/>
            <a:r>
              <a:rPr lang="es-ES_tradnl" altLang="es-MX" sz="1800" dirty="0">
                <a:latin typeface="Century Gothic" panose="020B0502020202020204" pitchFamily="34" charset="0"/>
              </a:rPr>
              <a:t>Seguimiento con realización de espirometría en 1 año</a:t>
            </a:r>
          </a:p>
          <a:p>
            <a:pPr lvl="1" algn="just" defTabSz="912813"/>
            <a:r>
              <a:rPr lang="es-ES_tradnl" altLang="es-MX" sz="1800" dirty="0">
                <a:latin typeface="Century Gothic" panose="020B0502020202020204" pitchFamily="34" charset="0"/>
              </a:rPr>
              <a:t>Capacitación y concientización en temas de salud y cuidado del aparato respiratorio (uso de EPP, prevención de tabaquismo, </a:t>
            </a:r>
            <a:r>
              <a:rPr lang="es-ES_tradnl" altLang="es-MX" sz="1800" dirty="0" err="1">
                <a:latin typeface="Century Gothic" panose="020B0502020202020204" pitchFamily="34" charset="0"/>
              </a:rPr>
              <a:t>etc</a:t>
            </a:r>
            <a:r>
              <a:rPr lang="es-ES_tradnl" altLang="es-MX" sz="1800" dirty="0">
                <a:latin typeface="Century Gothic" panose="020B0502020202020204" pitchFamily="34" charset="0"/>
              </a:rPr>
              <a:t>)</a:t>
            </a:r>
          </a:p>
          <a:p>
            <a:pPr marL="457189" lvl="1" indent="0" algn="just" defTabSz="912813">
              <a:buNone/>
            </a:pPr>
            <a:endParaRPr lang="es-ES_tradnl" altLang="es-MX" sz="1800" dirty="0">
              <a:latin typeface="Century Gothic" panose="020B0502020202020204" pitchFamily="34" charset="0"/>
            </a:endParaRPr>
          </a:p>
          <a:p>
            <a:pPr marL="457189" lvl="1" indent="0" algn="just" defTabSz="912813">
              <a:buNone/>
            </a:pPr>
            <a:r>
              <a:rPr lang="es-ES_tradnl" altLang="es-MX" sz="1800" b="1" dirty="0">
                <a:latin typeface="Century Gothic" panose="020B0502020202020204" pitchFamily="34" charset="0"/>
              </a:rPr>
              <a:t>Otras acciones: </a:t>
            </a:r>
          </a:p>
          <a:p>
            <a:pPr marL="457189" lvl="1" indent="0" algn="just" defTabSz="912813">
              <a:buNone/>
            </a:pPr>
            <a:r>
              <a:rPr lang="es-ES_tradnl" altLang="es-MX" sz="1800" dirty="0">
                <a:latin typeface="Century Gothic" panose="020B0502020202020204" pitchFamily="34" charset="0"/>
              </a:rPr>
              <a:t>- Se sugiere realizar espirometrías de ingreso</a:t>
            </a:r>
          </a:p>
          <a:p>
            <a:pPr marL="0" indent="0">
              <a:buNone/>
            </a:pPr>
            <a:endParaRPr lang="es-MX" sz="2000" dirty="0">
              <a:latin typeface="Century Gothic" panose="020B0502020202020204" pitchFamily="34" charset="0"/>
            </a:endParaRPr>
          </a:p>
          <a:p>
            <a:pPr lvl="1"/>
            <a:endParaRPr lang="es-MX" sz="1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393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7DDD5-F0E1-46C0-EDC5-A9D67AAB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310C4B7-21CF-299C-96BC-620034609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26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C631A62-FE8E-A657-8DF2-AE6984913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14" y="439638"/>
            <a:ext cx="9050518" cy="945498"/>
          </a:xfrm>
        </p:spPr>
        <p:txBody>
          <a:bodyPr/>
          <a:lstStyle/>
          <a:p>
            <a:r>
              <a:rPr lang="es-MX" dirty="0"/>
              <a:t>ELECTROCARDIOGRAMAS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B401574F-DF2B-494E-B4E9-887524E4DE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3226415"/>
              </p:ext>
            </p:extLst>
          </p:nvPr>
        </p:nvGraphicFramePr>
        <p:xfrm>
          <a:off x="1844841" y="1684421"/>
          <a:ext cx="8678779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7228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B93386E-15DB-F7F1-F316-A018480D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27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C530A05-5AAF-769D-1A7E-F177531C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56" y="54627"/>
            <a:ext cx="9050518" cy="945498"/>
          </a:xfrm>
        </p:spPr>
        <p:txBody>
          <a:bodyPr/>
          <a:lstStyle/>
          <a:p>
            <a:r>
              <a:rPr lang="es-MX" dirty="0"/>
              <a:t>RADIOGRAFÍA COLUMNA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A25A75-D58C-FAF4-D932-1AC2BC883B9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000125"/>
            <a:ext cx="7369175" cy="608013"/>
          </a:xfrm>
        </p:spPr>
        <p:txBody>
          <a:bodyPr/>
          <a:lstStyle/>
          <a:p>
            <a:r>
              <a:rPr lang="es-MX" dirty="0"/>
              <a:t>GRADO DE ESCOLIOSIS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FDD0FCA9-87BB-48D1-966B-A499D826B6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2122470"/>
              </p:ext>
            </p:extLst>
          </p:nvPr>
        </p:nvGraphicFramePr>
        <p:xfrm>
          <a:off x="1941095" y="1608138"/>
          <a:ext cx="8422105" cy="5001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43111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085ADDD-DA38-A50A-1F55-14FDFA0FB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28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7F13062B-AE43-B927-C7D1-8CDDC1BDB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177"/>
            <a:ext cx="9050518" cy="945498"/>
          </a:xfrm>
        </p:spPr>
        <p:txBody>
          <a:bodyPr/>
          <a:lstStyle/>
          <a:p>
            <a:r>
              <a:rPr lang="es-MX" dirty="0"/>
              <a:t>RADIOGRAFÍA COLUMNA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7F09CE-8081-669C-4C98-85A5306D0BA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955675"/>
            <a:ext cx="7369175" cy="609600"/>
          </a:xfrm>
        </p:spPr>
        <p:txBody>
          <a:bodyPr/>
          <a:lstStyle/>
          <a:p>
            <a:r>
              <a:rPr lang="es-MX" dirty="0"/>
              <a:t>GRADO DE LORDOSIS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34E6DB3B-EFD9-4A5E-9EED-AE47D0DAFD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1343367"/>
              </p:ext>
            </p:extLst>
          </p:nvPr>
        </p:nvGraphicFramePr>
        <p:xfrm>
          <a:off x="1475874" y="1764632"/>
          <a:ext cx="8935452" cy="49249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98387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0226862-62DA-09AD-D2F8-E1759DA2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29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021DA72-19AD-A337-2F8A-9629CB3F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50518" cy="945498"/>
          </a:xfrm>
        </p:spPr>
        <p:txBody>
          <a:bodyPr/>
          <a:lstStyle/>
          <a:p>
            <a:r>
              <a:rPr lang="es-MX" dirty="0"/>
              <a:t>RADIOGRAFÍA COLUMNA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B583CE-D6B1-4180-274F-3CA569C8A98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847725"/>
            <a:ext cx="7367588" cy="609600"/>
          </a:xfrm>
        </p:spPr>
        <p:txBody>
          <a:bodyPr/>
          <a:lstStyle/>
          <a:p>
            <a:r>
              <a:rPr lang="es-MX" dirty="0"/>
              <a:t>BASCULACIÓN PÉLVICA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8B95AFAF-21A9-457C-93DA-FE11D4B17C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8393827"/>
              </p:ext>
            </p:extLst>
          </p:nvPr>
        </p:nvGraphicFramePr>
        <p:xfrm>
          <a:off x="1652338" y="1793223"/>
          <a:ext cx="8803104" cy="4735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56640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048DAD-937F-A323-ACE2-90827F1F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30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BEEDA97-3415-9120-8725-54144FF6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RECOMENDACIONES – Radiografías Columna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614B1E9-B33A-AA87-8F8A-611E06CD63B0}"/>
              </a:ext>
            </a:extLst>
          </p:cNvPr>
          <p:cNvSpPr txBox="1">
            <a:spLocks/>
          </p:cNvSpPr>
          <p:nvPr/>
        </p:nvSpPr>
        <p:spPr>
          <a:xfrm>
            <a:off x="838199" y="1842654"/>
            <a:ext cx="10120745" cy="397416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2813"/>
            <a:r>
              <a:rPr lang="es-ES_tradnl" altLang="es-MX" b="1" dirty="0">
                <a:solidFill>
                  <a:srgbClr val="CC0099"/>
                </a:solidFill>
                <a:latin typeface="Century Gothic" panose="020B0502020202020204" pitchFamily="34" charset="0"/>
              </a:rPr>
              <a:t>Casos de riesgo Muy Alto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Ingresar al programa de Cuidado de espalda (NOM-036-1-STPS-2018)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Validar la reubicación de estos casos en actividades donde no exista la exposición a manejo manual de cargas (mas de 5 kilos) 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Seguimiento con realización de Radiografía de columna en 1 año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Corroborar cada caso con antecedentes laborales, patológicos y clínica actual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Capacitación y concientización en temas de salud y cuidado de espalda</a:t>
            </a:r>
            <a:endParaRPr lang="es-ES_tradnl" altLang="es-MX" sz="1500" b="1" dirty="0">
              <a:solidFill>
                <a:srgbClr val="FFFF00"/>
              </a:solidFill>
              <a:latin typeface="Century Gothic" panose="020B0502020202020204" pitchFamily="34" charset="0"/>
            </a:endParaRPr>
          </a:p>
          <a:p>
            <a:r>
              <a:rPr lang="es-ES_tradnl" altLang="es-MX" b="1" dirty="0">
                <a:solidFill>
                  <a:srgbClr val="FF0000"/>
                </a:solidFill>
                <a:latin typeface="Century Gothic" panose="020B0502020202020204" pitchFamily="34" charset="0"/>
              </a:rPr>
              <a:t>Casos de riesgo Alto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Ingresar al programa de Cuidado de espalda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Seguimiento con realización de Radiografía de columna en 1 año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Corroborar cada caso con antecedentes laborales, patológicos y clínica actual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Capacitación y concientización en temas de salud y cuidado de espalda</a:t>
            </a:r>
            <a:endParaRPr lang="es-ES_tradnl" altLang="es-MX" sz="2000" b="1" dirty="0">
              <a:solidFill>
                <a:srgbClr val="FFFF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s-ES_tradnl" altLang="es-MX" dirty="0">
              <a:latin typeface="Century Gothic" panose="020B0502020202020204" pitchFamily="34" charset="0"/>
            </a:endParaRPr>
          </a:p>
          <a:p>
            <a:pPr marL="457189" lvl="1" indent="0" algn="just" defTabSz="912813">
              <a:buNone/>
            </a:pPr>
            <a:endParaRPr lang="es-ES_tradnl" altLang="es-MX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s-MX" dirty="0">
              <a:latin typeface="Century Gothic" panose="020B0502020202020204" pitchFamily="34" charset="0"/>
            </a:endParaRPr>
          </a:p>
          <a:p>
            <a:pPr lvl="1"/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73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048DAD-937F-A323-ACE2-90827F1F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31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BEEDA97-3415-9120-8725-54144FF6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RECOMENDACIONES – Radiografías Columna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614B1E9-B33A-AA87-8F8A-611E06CD63B0}"/>
              </a:ext>
            </a:extLst>
          </p:cNvPr>
          <p:cNvSpPr txBox="1">
            <a:spLocks/>
          </p:cNvSpPr>
          <p:nvPr/>
        </p:nvSpPr>
        <p:spPr>
          <a:xfrm>
            <a:off x="838199" y="1828799"/>
            <a:ext cx="10065327" cy="3988019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2813"/>
            <a:r>
              <a:rPr lang="es-ES_tradnl" altLang="es-MX" b="1" dirty="0">
                <a:solidFill>
                  <a:srgbClr val="FFFF00"/>
                </a:solidFill>
                <a:latin typeface="Century Gothic" panose="020B0502020202020204" pitchFamily="34" charset="0"/>
              </a:rPr>
              <a:t>Casos de seguimiento: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Ingresar al programa de Cuidado de espalda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Valoración con Rx de columna en 1 año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Corroborar cada caso con antecedentes laborales, patológicos y clínica actual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Capacitación y concientización en temas de salud y cuidado de espalda</a:t>
            </a:r>
            <a:endParaRPr lang="es-ES_tradnl" altLang="es-MX" sz="1800" b="1" dirty="0">
              <a:solidFill>
                <a:srgbClr val="FFFF00"/>
              </a:solidFill>
              <a:latin typeface="Century Gothic" panose="020B0502020202020204" pitchFamily="34" charset="0"/>
            </a:endParaRPr>
          </a:p>
          <a:p>
            <a:r>
              <a:rPr lang="es-MX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Casos en normalidad: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Valoración con Rx de columna en 1 año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Capacitación y concientización en temas de salud y cuidado de espalda</a:t>
            </a:r>
            <a:endParaRPr lang="es-ES_tradnl" altLang="es-MX" sz="2000" b="1" dirty="0">
              <a:solidFill>
                <a:srgbClr val="FFFF00"/>
              </a:solidFill>
              <a:latin typeface="Century Gothic" panose="020B0502020202020204" pitchFamily="34" charset="0"/>
            </a:endParaRPr>
          </a:p>
          <a:p>
            <a:pPr marL="457189" lvl="1" indent="0" algn="just" defTabSz="912813">
              <a:buNone/>
            </a:pPr>
            <a:endParaRPr lang="es-ES_tradnl" altLang="es-MX" dirty="0">
              <a:latin typeface="Century Gothic" panose="020B0502020202020204" pitchFamily="34" charset="0"/>
            </a:endParaRPr>
          </a:p>
          <a:p>
            <a:pPr lvl="1" algn="just" defTabSz="912813"/>
            <a:r>
              <a:rPr lang="es-ES_tradnl" altLang="es-MX" b="1" dirty="0">
                <a:latin typeface="Century Gothic" panose="020B0502020202020204" pitchFamily="34" charset="0"/>
              </a:rPr>
              <a:t>OTRAS ACTIVIDADES SUGERIDAS:</a:t>
            </a:r>
            <a:endParaRPr lang="es-ES_tradnl" altLang="es-MX" dirty="0">
              <a:latin typeface="Century Gothic" panose="020B0502020202020204" pitchFamily="34" charset="0"/>
            </a:endParaRPr>
          </a:p>
          <a:p>
            <a:pPr lvl="1" algn="just" defTabSz="912813">
              <a:buFontTx/>
              <a:buChar char="-"/>
            </a:pPr>
            <a:r>
              <a:rPr lang="es-ES_tradnl" altLang="es-MX" dirty="0">
                <a:latin typeface="Century Gothic" panose="020B0502020202020204" pitchFamily="34" charset="0"/>
              </a:rPr>
              <a:t>Contar con análisis ergonómico de los puestos de trabajo donde se identifique el factor de manejo manual de cargas</a:t>
            </a:r>
          </a:p>
          <a:p>
            <a:pPr lvl="1" algn="just" defTabSz="912813">
              <a:buFontTx/>
              <a:buChar char="-"/>
            </a:pPr>
            <a:r>
              <a:rPr lang="es-ES_tradnl" altLang="es-MX" dirty="0">
                <a:latin typeface="Century Gothic" panose="020B0502020202020204" pitchFamily="34" charset="0"/>
              </a:rPr>
              <a:t>Realizar Rx de columna al personal de nuevo ingreso</a:t>
            </a:r>
          </a:p>
          <a:p>
            <a:pPr lvl="1" algn="just" defTabSz="912813">
              <a:buFontTx/>
              <a:buChar char="-"/>
            </a:pPr>
            <a:r>
              <a:rPr lang="es-ES_tradnl" altLang="es-MX" dirty="0">
                <a:latin typeface="Century Gothic" panose="020B0502020202020204" pitchFamily="34" charset="0"/>
              </a:rPr>
              <a:t>Capacitación específica en manejo manual de cargas al personal ocupacionalmente expuesto </a:t>
            </a:r>
          </a:p>
          <a:p>
            <a:pPr marL="0" indent="0">
              <a:buNone/>
            </a:pPr>
            <a:endParaRPr lang="es-ES_tradnl" altLang="es-MX" dirty="0">
              <a:latin typeface="Century Gothic" panose="020B0502020202020204" pitchFamily="34" charset="0"/>
            </a:endParaRPr>
          </a:p>
          <a:p>
            <a:pPr marL="457189" lvl="1" indent="0" algn="just" defTabSz="912813">
              <a:buNone/>
            </a:pPr>
            <a:endParaRPr lang="es-ES_tradnl" altLang="es-MX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s-MX" dirty="0">
              <a:latin typeface="Century Gothic" panose="020B0502020202020204" pitchFamily="34" charset="0"/>
            </a:endParaRPr>
          </a:p>
          <a:p>
            <a:pPr lvl="1"/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3363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7A12752-E750-4FC6-56F4-61A4699B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32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194BE4AF-B8B2-8B2E-049A-8DD82136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RADIOGRAFIAS TORAX 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48A1D5D9-A873-473E-8C08-5CDD4F489B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0906464"/>
              </p:ext>
            </p:extLst>
          </p:nvPr>
        </p:nvGraphicFramePr>
        <p:xfrm>
          <a:off x="2005262" y="1716505"/>
          <a:ext cx="8406063" cy="50211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810522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048DAD-937F-A323-ACE2-90827F1F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33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BEEDA97-3415-9120-8725-54144FF6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RECOMENDACIONES – Radiografías Tórax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614B1E9-B33A-AA87-8F8A-611E06CD63B0}"/>
              </a:ext>
            </a:extLst>
          </p:cNvPr>
          <p:cNvSpPr txBox="1">
            <a:spLocks/>
          </p:cNvSpPr>
          <p:nvPr/>
        </p:nvSpPr>
        <p:spPr>
          <a:xfrm>
            <a:off x="812290" y="1814945"/>
            <a:ext cx="10118946" cy="412865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altLang="es-MX" b="1" dirty="0">
                <a:solidFill>
                  <a:srgbClr val="FF0000"/>
                </a:solidFill>
                <a:latin typeface="Century Gothic" panose="020B0502020202020204" pitchFamily="34" charset="0"/>
              </a:rPr>
              <a:t>Casos de riesgo Alto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Ingresar al programa de Cuidado de vigilancia respiratoria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Seguimiento con realización de Radiografía de tórax en 1 año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Validar canalizar a casos específicos con Cardiología para corroborar o descartar casos especiales (cardiomegalia, abultamiento aórtico, etc.)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Corroborar cada caso con antecedentes laborales, patológicos y clínica actual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Capacitación y concientización en temas de salud y cuidado del aparato respiratorio (uso de EPP, prevención de tabaquismo, etc.)</a:t>
            </a:r>
          </a:p>
          <a:p>
            <a:pPr algn="just" defTabSz="912813"/>
            <a:r>
              <a:rPr lang="es-ES_tradnl" altLang="es-MX" b="1" dirty="0">
                <a:solidFill>
                  <a:srgbClr val="FFFF00"/>
                </a:solidFill>
                <a:latin typeface="Century Gothic" panose="020B0502020202020204" pitchFamily="34" charset="0"/>
              </a:rPr>
              <a:t>Casos de seguimiento: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Seguimiento con realización de Rx de tórax en 1 año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Uso adecuado de Equipo de protección respiratoria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Capacitación y concientización en temas de salud y cuidado del aparato respiratorio (uso de EPP, prevención de tabaquismo, etc.)</a:t>
            </a:r>
          </a:p>
          <a:p>
            <a:r>
              <a:rPr lang="es-MX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Casos en normalidad: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Seguimiento con realización de Rx de tórax en 1 año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Capacitación y concientización en temas de salud y cuidado del aparato respiratorio (uso de EPP, prevención de tabaquismo, etc.)</a:t>
            </a:r>
          </a:p>
          <a:p>
            <a:pPr marL="0" indent="0">
              <a:buNone/>
            </a:pPr>
            <a:endParaRPr lang="es-ES_tradnl" altLang="es-MX" dirty="0">
              <a:latin typeface="Century Gothic" panose="020B0502020202020204" pitchFamily="34" charset="0"/>
            </a:endParaRPr>
          </a:p>
          <a:p>
            <a:pPr marL="457189" lvl="1" indent="0" algn="just" defTabSz="912813">
              <a:buNone/>
            </a:pPr>
            <a:endParaRPr lang="es-ES_tradnl" altLang="es-MX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s-MX" dirty="0">
              <a:latin typeface="Century Gothic" panose="020B0502020202020204" pitchFamily="34" charset="0"/>
            </a:endParaRPr>
          </a:p>
          <a:p>
            <a:pPr lvl="1"/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2317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3404F4-9B13-D804-B196-F998D63F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34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E587E6B-30C9-78C9-DDAE-7E84EAEE2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LABORATORIOS-QUIMICA SANGUINEA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3C8F875A-2949-4D1D-AA5F-C96B1828F9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934944"/>
              </p:ext>
            </p:extLst>
          </p:nvPr>
        </p:nvGraphicFramePr>
        <p:xfrm>
          <a:off x="1748588" y="1716506"/>
          <a:ext cx="8582527" cy="4776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18389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E6291A-5F27-1B09-B6AC-B3DD2AC508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35</a:t>
            </a:fld>
            <a:endParaRPr lang="es-ES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C5B9A7B-8E9C-6A8C-3C4D-C501AA745458}"/>
              </a:ext>
            </a:extLst>
          </p:cNvPr>
          <p:cNvSpPr txBox="1"/>
          <p:nvPr/>
        </p:nvSpPr>
        <p:spPr>
          <a:xfrm>
            <a:off x="812290" y="1642785"/>
            <a:ext cx="982980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altLang="es-MX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Casos de riesgo Alto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600" dirty="0">
                <a:latin typeface="Century Gothic" panose="020B0502020202020204" pitchFamily="34" charset="0"/>
              </a:rPr>
              <a:t>Ingresar al programa de Cuidado de Crónico-degenerativos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600" dirty="0">
                <a:latin typeface="Century Gothic" panose="020B0502020202020204" pitchFamily="34" charset="0"/>
              </a:rPr>
              <a:t>Seguimiento con monitoreo de glucosa capilar cada mes (servicio médico de la empresa), así como la identificación de signos o síntomas  sugestivas de complicaciones por diabetes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600" dirty="0">
                <a:latin typeface="Century Gothic" panose="020B0502020202020204" pitchFamily="34" charset="0"/>
              </a:rPr>
              <a:t>Canalizar con Medicina familiar para seguimiento y tratamiento medico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600" dirty="0">
                <a:latin typeface="Century Gothic" panose="020B0502020202020204" pitchFamily="34" charset="0"/>
              </a:rPr>
              <a:t>Capacitación y concientización en temas de prevención y control de enfermedades crónico-degenerativas y buenos hábitos de alimentación </a:t>
            </a:r>
          </a:p>
          <a:p>
            <a:pPr algn="just" defTabSz="912813"/>
            <a:r>
              <a:rPr lang="es-ES_tradnl" altLang="es-MX" sz="16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Casos de seguimiento: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600" dirty="0">
                <a:latin typeface="Century Gothic" panose="020B0502020202020204" pitchFamily="34" charset="0"/>
              </a:rPr>
              <a:t>Seguimiento con monitoreo de cifras de glucosa cada 6 meses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600" dirty="0">
                <a:latin typeface="Century Gothic" panose="020B0502020202020204" pitchFamily="34" charset="0"/>
              </a:rPr>
              <a:t>Capacitación y concientización en temas de prevención y control de enfermedades crónico-degenerativas y buenos hábitos de alimentación </a:t>
            </a:r>
          </a:p>
          <a:p>
            <a:r>
              <a:rPr lang="es-MX" sz="1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Casos en normalidad: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600" dirty="0">
                <a:latin typeface="Century Gothic" panose="020B0502020202020204" pitchFamily="34" charset="0"/>
              </a:rPr>
              <a:t>Seguimiento con monitoreo de cifras de glucosa cada año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600" dirty="0">
                <a:latin typeface="Century Gothic" panose="020B0502020202020204" pitchFamily="34" charset="0"/>
              </a:rPr>
              <a:t>Capacitación y concientización en temas de prevención y control de enfermedades crónico-degenerativas y buenos hábitos de alimentación </a:t>
            </a:r>
          </a:p>
        </p:txBody>
      </p:sp>
      <p:sp>
        <p:nvSpPr>
          <p:cNvPr id="9" name="Título 5">
            <a:extLst>
              <a:ext uri="{FF2B5EF4-FFF2-40B4-BE49-F238E27FC236}">
                <a16:creationId xmlns:a16="http://schemas.microsoft.com/office/drawing/2014/main" id="{DB6627CE-F4CC-7D82-5BBA-61B3EB4ADC3B}"/>
              </a:ext>
            </a:extLst>
          </p:cNvPr>
          <p:cNvSpPr txBox="1">
            <a:spLocks/>
          </p:cNvSpPr>
          <p:nvPr/>
        </p:nvSpPr>
        <p:spPr>
          <a:xfrm>
            <a:off x="0" y="-288574"/>
            <a:ext cx="11517085" cy="11479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RECOMENDACIONES – Glucosa</a:t>
            </a:r>
          </a:p>
        </p:txBody>
      </p:sp>
    </p:spTree>
    <p:extLst>
      <p:ext uri="{BB962C8B-B14F-4D97-AF65-F5344CB8AC3E}">
        <p14:creationId xmlns:p14="http://schemas.microsoft.com/office/powerpoint/2010/main" val="25694520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58F15-B0C7-DC1D-B70E-A3CB3BBC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LABORATORIOS-COLESTEROL/TRIGLICERIDOS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ADA3F1-4A28-429A-D5D7-1EC5FE5692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36</a:t>
            </a:fld>
            <a:endParaRPr lang="es-ES" noProof="0" dirty="0"/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28166190-7979-483B-AF95-BD09533E20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7545989"/>
              </p:ext>
            </p:extLst>
          </p:nvPr>
        </p:nvGraphicFramePr>
        <p:xfrm>
          <a:off x="1102528" y="1810156"/>
          <a:ext cx="4688671" cy="4352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32F6DC41-5AFA-4451-BE4E-6665FFEEA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8701411"/>
              </p:ext>
            </p:extLst>
          </p:nvPr>
        </p:nvGraphicFramePr>
        <p:xfrm>
          <a:off x="5607198" y="1728915"/>
          <a:ext cx="4688671" cy="4433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098397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048DAD-937F-A323-ACE2-90827F1F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37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BEEDA97-3415-9120-8725-54144FF6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RECOMENDACIONES – Colesterol y Triglicéridos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614B1E9-B33A-AA87-8F8A-611E06CD63B0}"/>
              </a:ext>
            </a:extLst>
          </p:cNvPr>
          <p:cNvSpPr txBox="1">
            <a:spLocks/>
          </p:cNvSpPr>
          <p:nvPr/>
        </p:nvSpPr>
        <p:spPr>
          <a:xfrm>
            <a:off x="1260764" y="1814944"/>
            <a:ext cx="9725891" cy="410094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altLang="es-MX" sz="1800" b="1" dirty="0">
                <a:solidFill>
                  <a:srgbClr val="CC0099"/>
                </a:solidFill>
                <a:latin typeface="Century Gothic" panose="020B0502020202020204" pitchFamily="34" charset="0"/>
              </a:rPr>
              <a:t>Casos de riesgo Muy Alto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800" dirty="0">
                <a:latin typeface="Century Gothic" panose="020B0502020202020204" pitchFamily="34" charset="0"/>
              </a:rPr>
              <a:t>Ingresar al programa de riesgo cardiovascular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800" dirty="0">
                <a:latin typeface="Century Gothic" panose="020B0502020202020204" pitchFamily="34" charset="0"/>
              </a:rPr>
              <a:t>Canalizar con Medicina familiar para seguimiento y tratamiento medico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800" dirty="0">
                <a:latin typeface="Century Gothic" panose="020B0502020202020204" pitchFamily="34" charset="0"/>
              </a:rPr>
              <a:t>Se sugiere canalizar a Nutrición para complementar acciones en la disminución de cifras de lípidos en sangre</a:t>
            </a:r>
          </a:p>
          <a:p>
            <a:pPr marL="742950" lvl="1" indent="-285750" algn="just" defTabSz="912813"/>
            <a:r>
              <a:rPr lang="es-ES_tradnl" altLang="es-MX" sz="1800" dirty="0">
                <a:latin typeface="Century Gothic" panose="020B0502020202020204" pitchFamily="34" charset="0"/>
              </a:rPr>
              <a:t>Monitoreo de cifras de colesterol y triglicéridos en 3 meses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800" dirty="0">
                <a:latin typeface="Century Gothic" panose="020B0502020202020204" pitchFamily="34" charset="0"/>
              </a:rPr>
              <a:t>Capacitación y concientización en temas de prevención y control de enfermedades crónico-degenerativas y buenos hábitos de alimentación </a:t>
            </a:r>
            <a:endParaRPr lang="es-ES_tradnl" altLang="es-MX" sz="1800" b="1" dirty="0">
              <a:solidFill>
                <a:srgbClr val="CC0099"/>
              </a:solidFill>
              <a:latin typeface="Century Gothic" panose="020B0502020202020204" pitchFamily="34" charset="0"/>
            </a:endParaRPr>
          </a:p>
          <a:p>
            <a:pPr marL="457200" lvl="1" indent="0" algn="just" defTabSz="912813">
              <a:buNone/>
            </a:pPr>
            <a:r>
              <a:rPr lang="es-ES_tradnl" altLang="es-MX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Casos de riesgo Alto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800" dirty="0">
                <a:latin typeface="Century Gothic" panose="020B0502020202020204" pitchFamily="34" charset="0"/>
              </a:rPr>
              <a:t>Ingresar al programa de riesgo cardiovascular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800" dirty="0">
                <a:latin typeface="Century Gothic" panose="020B0502020202020204" pitchFamily="34" charset="0"/>
              </a:rPr>
              <a:t>Canalizar con Medicina familiar para seguimiento y tratamiento medico</a:t>
            </a:r>
          </a:p>
          <a:p>
            <a:pPr marL="742950" lvl="1" indent="-285750" algn="just" defTabSz="912813"/>
            <a:r>
              <a:rPr lang="es-ES_tradnl" altLang="es-MX" sz="1800" dirty="0">
                <a:latin typeface="Century Gothic" panose="020B0502020202020204" pitchFamily="34" charset="0"/>
              </a:rPr>
              <a:t>Monitoreo de cifras de colesterol y triglicéridos en 6 meses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800" dirty="0">
                <a:latin typeface="Century Gothic" panose="020B0502020202020204" pitchFamily="34" charset="0"/>
              </a:rPr>
              <a:t>Capacitación y concientización en temas de prevención y control de enfermedades crónico-degenerativas y buenos hábitos de alimentación </a:t>
            </a:r>
          </a:p>
          <a:p>
            <a:r>
              <a:rPr lang="es-MX" sz="18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Casos en normalidad: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800" dirty="0">
                <a:latin typeface="Century Gothic" panose="020B0502020202020204" pitchFamily="34" charset="0"/>
              </a:rPr>
              <a:t>Seguimiento con monitoreo de cifras de glucosa cada año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800" dirty="0">
                <a:latin typeface="Century Gothic" panose="020B0502020202020204" pitchFamily="34" charset="0"/>
              </a:rPr>
              <a:t>Capacitación y concientización en temas de prevención y control de enfermedades crónico-degenerativas y buenos hábitos de alimentación </a:t>
            </a:r>
          </a:p>
          <a:p>
            <a:pPr marL="0" indent="0">
              <a:buNone/>
            </a:pPr>
            <a:endParaRPr lang="es-ES_tradnl" altLang="es-MX" sz="1800" dirty="0">
              <a:latin typeface="Century Gothic" panose="020B0502020202020204" pitchFamily="34" charset="0"/>
            </a:endParaRPr>
          </a:p>
          <a:p>
            <a:pPr marL="457189" lvl="1" indent="0" algn="just" defTabSz="912813">
              <a:buNone/>
            </a:pPr>
            <a:endParaRPr lang="es-ES_tradnl" altLang="es-MX" sz="1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s-MX" sz="1800" dirty="0">
              <a:latin typeface="Century Gothic" panose="020B0502020202020204" pitchFamily="34" charset="0"/>
            </a:endParaRPr>
          </a:p>
          <a:p>
            <a:pPr lvl="1"/>
            <a:endParaRPr lang="es-MX" sz="1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599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FEF72-8AC9-AD31-EBAF-6AD4C85AB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9" y="10487"/>
            <a:ext cx="8333223" cy="1215566"/>
          </a:xfrm>
        </p:spPr>
        <p:txBody>
          <a:bodyPr>
            <a:normAutofit/>
          </a:bodyPr>
          <a:lstStyle/>
          <a:p>
            <a:r>
              <a:rPr lang="es-MX" dirty="0"/>
              <a:t>LABORATORIOS-QUIMICA SANGUINEA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70CE3CE-22D2-C41F-06C0-03BCFA04CDD6}"/>
              </a:ext>
            </a:extLst>
          </p:cNvPr>
          <p:cNvSpPr txBox="1"/>
          <p:nvPr/>
        </p:nvSpPr>
        <p:spPr>
          <a:xfrm>
            <a:off x="5414159" y="2520187"/>
            <a:ext cx="610292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altLang="es-MX" sz="1600" b="1" dirty="0">
                <a:solidFill>
                  <a:srgbClr val="FF0000"/>
                </a:solidFill>
                <a:latin typeface="+mj-lt"/>
              </a:rPr>
              <a:t>Casos de riesgo Alto</a:t>
            </a:r>
            <a:endParaRPr lang="es-ES_tradnl" altLang="es-MX" sz="1600" dirty="0">
              <a:latin typeface="+mj-lt"/>
            </a:endParaRP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600" dirty="0">
                <a:latin typeface="+mj-lt"/>
              </a:rPr>
              <a:t>Canalizar con Medicina familiar para seguimiento y tratamiento medico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600" dirty="0">
                <a:latin typeface="+mj-lt"/>
              </a:rPr>
              <a:t>Monitoreo de cifras de ácido úrico en 6 meses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600" dirty="0">
                <a:latin typeface="+mj-lt"/>
              </a:rPr>
              <a:t>Capacitación y concientización en temas de prevención y control de enfermedades crónico-degenerativas y buenos hábitos de alimentación </a:t>
            </a:r>
          </a:p>
          <a:p>
            <a:pPr algn="just" defTabSz="912813"/>
            <a:r>
              <a:rPr lang="es-ES_tradnl" altLang="es-MX" sz="1600" b="1" dirty="0">
                <a:solidFill>
                  <a:srgbClr val="FFFF00"/>
                </a:solidFill>
                <a:latin typeface="+mj-lt"/>
              </a:rPr>
              <a:t> </a:t>
            </a:r>
            <a:endParaRPr lang="es-ES_tradnl" altLang="es-MX" sz="1600" dirty="0">
              <a:latin typeface="+mj-lt"/>
            </a:endParaRPr>
          </a:p>
          <a:p>
            <a:r>
              <a:rPr lang="es-MX" sz="16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Casos en normalidad: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600" dirty="0">
                <a:latin typeface="+mj-lt"/>
              </a:rPr>
              <a:t>Seguimiento con monitoreo de cifras de acido úrico cada año</a:t>
            </a:r>
          </a:p>
          <a:p>
            <a:pPr marL="742950" lvl="1" indent="-285750" algn="just" defTabSz="912813">
              <a:buFont typeface="Arial" panose="020B0604020202020204" pitchFamily="34" charset="0"/>
              <a:buChar char="•"/>
            </a:pPr>
            <a:r>
              <a:rPr lang="es-ES_tradnl" altLang="es-MX" sz="1600" dirty="0">
                <a:latin typeface="+mj-lt"/>
              </a:rPr>
              <a:t>Capacitación y concientización en temas de prevención y control de enfermedades crónico-degenerativas y buenos hábitos de alimentación 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A613B8F3-F367-44DD-949F-0859807F65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8662822"/>
              </p:ext>
            </p:extLst>
          </p:nvPr>
        </p:nvGraphicFramePr>
        <p:xfrm>
          <a:off x="971192" y="1828296"/>
          <a:ext cx="4178324" cy="398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789961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3404F4-9B13-D804-B196-F998D63F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39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E587E6B-30C9-78C9-DDAE-7E84EAEE2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LABORATORIOS-BH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D626DF94-5A17-4C24-AFDD-6B791C9808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1347532"/>
              </p:ext>
            </p:extLst>
          </p:nvPr>
        </p:nvGraphicFramePr>
        <p:xfrm>
          <a:off x="1152757" y="1866056"/>
          <a:ext cx="4550684" cy="4315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F805649E-4BD3-4949-B9BD-A9D69D992D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9796340"/>
              </p:ext>
            </p:extLst>
          </p:nvPr>
        </p:nvGraphicFramePr>
        <p:xfrm>
          <a:off x="6096000" y="1866056"/>
          <a:ext cx="4145646" cy="4315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375832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048DAD-937F-A323-ACE2-90827F1F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40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BEEDA97-3415-9120-8725-54144FF6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RECOMENDACIONES – Hemoglobina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614B1E9-B33A-AA87-8F8A-611E06CD63B0}"/>
              </a:ext>
            </a:extLst>
          </p:cNvPr>
          <p:cNvSpPr txBox="1">
            <a:spLocks/>
          </p:cNvSpPr>
          <p:nvPr/>
        </p:nvSpPr>
        <p:spPr>
          <a:xfrm>
            <a:off x="1177636" y="1662544"/>
            <a:ext cx="10709563" cy="5195455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altLang="es-MX" b="1" dirty="0">
                <a:solidFill>
                  <a:srgbClr val="FF0000"/>
                </a:solidFill>
                <a:latin typeface="Century Gothic" panose="020B0502020202020204" pitchFamily="34" charset="0"/>
              </a:rPr>
              <a:t>Casos de riesgo Alto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Referir con Medico familiar para iniciar tratamiento médico para manejo de anemia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Seguimiento con toma de Biometría hemática en 6 meses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Capacitación y concientización en temas de buenos hábitos de alimentación y prevención de la anemia</a:t>
            </a:r>
          </a:p>
          <a:p>
            <a:pPr lvl="1" algn="just" defTabSz="912813"/>
            <a:endParaRPr lang="es-ES_tradnl" altLang="es-MX" dirty="0">
              <a:latin typeface="Century Gothic" panose="020B0502020202020204" pitchFamily="34" charset="0"/>
            </a:endParaRPr>
          </a:p>
          <a:p>
            <a:r>
              <a:rPr lang="es-MX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Casos en normalidad: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Seguimiento con monitoreo de biometría hemática en 1 año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Capacitación y concientización en temas de buenos hábitos de alimentación y prevención de la anemia</a:t>
            </a:r>
          </a:p>
          <a:p>
            <a:pPr marL="0" indent="0">
              <a:buNone/>
            </a:pPr>
            <a:endParaRPr lang="es-ES_tradnl" altLang="es-MX" dirty="0">
              <a:latin typeface="Century Gothic" panose="020B0502020202020204" pitchFamily="34" charset="0"/>
            </a:endParaRPr>
          </a:p>
          <a:p>
            <a:pPr marL="457189" lvl="1" indent="0" algn="just" defTabSz="912813">
              <a:buNone/>
            </a:pPr>
            <a:endParaRPr lang="es-ES_tradnl" altLang="es-MX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s-MX" dirty="0">
              <a:latin typeface="Century Gothic" panose="020B0502020202020204" pitchFamily="34" charset="0"/>
            </a:endParaRPr>
          </a:p>
          <a:p>
            <a:pPr lvl="1"/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1963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38A0B9-6FC1-2888-E608-77BB6ED01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41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4A8CD19D-FCC5-4C24-B461-17490CEBC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LABORATORIOS-BH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666DC3A6-F09F-48A5-B77F-94D9126834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391266"/>
              </p:ext>
            </p:extLst>
          </p:nvPr>
        </p:nvGraphicFramePr>
        <p:xfrm>
          <a:off x="1941095" y="1620253"/>
          <a:ext cx="8502315" cy="487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963353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9874A9E-00DF-B768-6B87-CAC7622A1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Agregue un pie de página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048DAD-937F-A323-ACE2-90827F1F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42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BEEDA97-3415-9120-8725-54144FF6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RECOMENDACIONES – Plaquetas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614B1E9-B33A-AA87-8F8A-611E06CD63B0}"/>
              </a:ext>
            </a:extLst>
          </p:cNvPr>
          <p:cNvSpPr txBox="1">
            <a:spLocks/>
          </p:cNvSpPr>
          <p:nvPr/>
        </p:nvSpPr>
        <p:spPr>
          <a:xfrm>
            <a:off x="1177636" y="1981201"/>
            <a:ext cx="10709563" cy="3449782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altLang="es-MX" b="1" dirty="0">
                <a:solidFill>
                  <a:srgbClr val="FF0000"/>
                </a:solidFill>
                <a:latin typeface="Century Gothic" panose="020B0502020202020204" pitchFamily="34" charset="0"/>
              </a:rPr>
              <a:t>Casos de riesgo Alto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Referir con Medico familiar para iniciar protocolo de estudio para plaquetopenia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Seguimiento con toma de Biometría hemática en 1 año</a:t>
            </a:r>
          </a:p>
          <a:p>
            <a:pPr lvl="1" algn="just" defTabSz="912813"/>
            <a:endParaRPr lang="es-ES_tradnl" altLang="es-MX" dirty="0">
              <a:latin typeface="Century Gothic" panose="020B0502020202020204" pitchFamily="34" charset="0"/>
            </a:endParaRPr>
          </a:p>
          <a:p>
            <a:r>
              <a:rPr lang="es-MX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Casos en normalidad:</a:t>
            </a:r>
          </a:p>
          <a:p>
            <a:pPr lvl="1" algn="just" defTabSz="912813"/>
            <a:r>
              <a:rPr lang="es-ES_tradnl" altLang="es-MX" dirty="0">
                <a:latin typeface="Century Gothic" panose="020B0502020202020204" pitchFamily="34" charset="0"/>
              </a:rPr>
              <a:t>Seguimiento con monitoreo de biometría hemática en 1 año</a:t>
            </a:r>
          </a:p>
          <a:p>
            <a:pPr marL="0" indent="0">
              <a:buNone/>
            </a:pPr>
            <a:endParaRPr lang="es-ES_tradnl" altLang="es-MX" dirty="0">
              <a:latin typeface="Century Gothic" panose="020B0502020202020204" pitchFamily="34" charset="0"/>
            </a:endParaRPr>
          </a:p>
          <a:p>
            <a:pPr marL="457189" lvl="1" indent="0" algn="just" defTabSz="912813">
              <a:buNone/>
            </a:pPr>
            <a:endParaRPr lang="es-ES_tradnl" altLang="es-MX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s-MX" dirty="0">
              <a:latin typeface="Century Gothic" panose="020B0502020202020204" pitchFamily="34" charset="0"/>
            </a:endParaRPr>
          </a:p>
          <a:p>
            <a:pPr lvl="1"/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4959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5B8E66D-A4B6-12CD-8BB7-75A9F0C3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495E168-DA5E-4888-8D8A-92B118324C14}" type="slidenum">
              <a:rPr lang="es-MX" noProof="0" smtClean="0"/>
              <a:t>43</a:t>
            </a:fld>
            <a:endParaRPr lang="es-MX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F59F4D2-396E-C11C-806A-2F9F21EEF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6" y="365126"/>
            <a:ext cx="9050518" cy="945498"/>
          </a:xfrm>
        </p:spPr>
        <p:txBody>
          <a:bodyPr/>
          <a:lstStyle/>
          <a:p>
            <a:r>
              <a:rPr lang="es-MX" dirty="0"/>
              <a:t>EXAMEN GENERAL DE ORINA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F6EC051C-87C7-4B13-87DD-CE43263995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2539089"/>
              </p:ext>
            </p:extLst>
          </p:nvPr>
        </p:nvGraphicFramePr>
        <p:xfrm>
          <a:off x="1292361" y="1741683"/>
          <a:ext cx="4434671" cy="4311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8617B9A3-A9E7-4DB7-8A6E-138B1BAF51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5784098"/>
              </p:ext>
            </p:extLst>
          </p:nvPr>
        </p:nvGraphicFramePr>
        <p:xfrm>
          <a:off x="5919537" y="1741683"/>
          <a:ext cx="4299284" cy="44402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323519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2948-1BCF-9835-513E-F0B49CEFB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F0D09F8-6282-1AC8-822C-78B53A22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495E168-DA5E-4888-8D8A-92B118324C14}" type="slidenum">
              <a:rPr lang="es-MX" noProof="0" smtClean="0"/>
              <a:t>44</a:t>
            </a:fld>
            <a:endParaRPr lang="es-MX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89880AF-99DD-70B8-E4BF-DB133CD2F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6" y="365126"/>
            <a:ext cx="9050518" cy="945498"/>
          </a:xfrm>
        </p:spPr>
        <p:txBody>
          <a:bodyPr/>
          <a:lstStyle/>
          <a:p>
            <a:r>
              <a:rPr lang="es-MX" dirty="0"/>
              <a:t>EXAMEN GENERAL DE ORINA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579A20D8-0233-4328-BA5F-121B020D1D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3083949"/>
              </p:ext>
            </p:extLst>
          </p:nvPr>
        </p:nvGraphicFramePr>
        <p:xfrm>
          <a:off x="1344648" y="1916814"/>
          <a:ext cx="4751352" cy="4265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D63E8AAD-5F34-4F1B-8189-2880935823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1338409"/>
              </p:ext>
            </p:extLst>
          </p:nvPr>
        </p:nvGraphicFramePr>
        <p:xfrm>
          <a:off x="6096000" y="1916814"/>
          <a:ext cx="4331368" cy="4265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765343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FA277-F647-8D05-B9A2-36BF1BBE8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5ED1E54-524D-B86A-FACA-B402A5FC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495E168-DA5E-4888-8D8A-92B118324C14}" type="slidenum">
              <a:rPr lang="es-MX" noProof="0" smtClean="0"/>
              <a:t>45</a:t>
            </a:fld>
            <a:endParaRPr lang="es-MX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04BE95D-657D-6B0A-88B2-91788E104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6" y="365126"/>
            <a:ext cx="9050518" cy="945498"/>
          </a:xfrm>
        </p:spPr>
        <p:txBody>
          <a:bodyPr/>
          <a:lstStyle/>
          <a:p>
            <a:r>
              <a:rPr lang="es-MX" dirty="0"/>
              <a:t>EXAMEN GENERAL DE ORINA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ABB08A98-4963-4CBA-8C53-D058310B58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5171953"/>
              </p:ext>
            </p:extLst>
          </p:nvPr>
        </p:nvGraphicFramePr>
        <p:xfrm>
          <a:off x="2354799" y="1744411"/>
          <a:ext cx="7482402" cy="4748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416028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43A1C-11A0-33BD-175C-03EB00A25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04D0ECF-460D-AB49-EDDA-0D83A0F9C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495E168-DA5E-4888-8D8A-92B118324C14}" type="slidenum">
              <a:rPr lang="es-MX" noProof="0" smtClean="0"/>
              <a:t>46</a:t>
            </a:fld>
            <a:endParaRPr lang="es-MX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7510960-21A9-910B-8B69-78DB4B8BD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6" y="365126"/>
            <a:ext cx="9050518" cy="945498"/>
          </a:xfrm>
        </p:spPr>
        <p:txBody>
          <a:bodyPr/>
          <a:lstStyle/>
          <a:p>
            <a:r>
              <a:rPr lang="es-MX" dirty="0"/>
              <a:t>HEMOGLOBINA GLICOSILADA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A6B79624-0452-2079-124F-9CEE752B6A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9605778"/>
              </p:ext>
            </p:extLst>
          </p:nvPr>
        </p:nvGraphicFramePr>
        <p:xfrm>
          <a:off x="1929701" y="1825336"/>
          <a:ext cx="8080573" cy="4667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629761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A8523B3-C602-0043-D561-1C87ACED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47</a:t>
            </a:fld>
            <a:endParaRPr lang="es-ES" noProof="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A2F67C-CC65-BC5D-223D-FE32BD6BEC2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-1" y="1813791"/>
            <a:ext cx="12192001" cy="19300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000" b="1" dirty="0">
                <a:solidFill>
                  <a:srgbClr val="63666A"/>
                </a:solidFill>
                <a:latin typeface="Century Gothic" panose="020B0502020202020204" pitchFamily="34" charset="0"/>
              </a:rPr>
              <a:t>Agradecemos el vernos favorecidos para brindarles  nuestro servicios.</a:t>
            </a:r>
            <a:br>
              <a:rPr lang="es-ES" sz="2000" b="1" dirty="0">
                <a:solidFill>
                  <a:srgbClr val="63666A"/>
                </a:solidFill>
                <a:latin typeface="Century Gothic" panose="020B0502020202020204" pitchFamily="34" charset="0"/>
              </a:rPr>
            </a:br>
            <a:r>
              <a:rPr lang="es-ES" sz="2000" b="1" dirty="0">
                <a:solidFill>
                  <a:srgbClr val="63666A"/>
                </a:solidFill>
                <a:latin typeface="Century Gothic" panose="020B0502020202020204" pitchFamily="34" charset="0"/>
              </a:rPr>
              <a:t>Cualquier comentario o duda referente a este reporte, quedo a sus ordenes.</a:t>
            </a:r>
            <a:endParaRPr lang="es-MX" dirty="0">
              <a:latin typeface="Century Gothic" panose="020B0502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899FC2D-C0BF-79C3-EF30-BFE6BED54799}"/>
              </a:ext>
            </a:extLst>
          </p:cNvPr>
          <p:cNvSpPr txBox="1"/>
          <p:nvPr/>
        </p:nvSpPr>
        <p:spPr>
          <a:xfrm>
            <a:off x="0" y="3917802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b="1" dirty="0">
                <a:latin typeface="Century Gothic" panose="020B0502020202020204" pitchFamily="34" charset="0"/>
              </a:rPr>
              <a:t>Dra. Erika Rodríguez López</a:t>
            </a:r>
            <a:endParaRPr lang="es-MX" dirty="0">
              <a:latin typeface="Century Gothic" panose="020B0502020202020204" pitchFamily="34" charset="0"/>
            </a:endParaRPr>
          </a:p>
          <a:p>
            <a:pPr algn="ctr">
              <a:defRPr/>
            </a:pPr>
            <a:r>
              <a:rPr lang="es-MX" b="1" dirty="0">
                <a:latin typeface="Century Gothic" panose="020B0502020202020204" pitchFamily="34" charset="0"/>
              </a:rPr>
              <a:t>Coordinadora de Medicina Ocupacional</a:t>
            </a:r>
            <a:endParaRPr lang="es-MX" dirty="0">
              <a:latin typeface="Century Gothic" panose="020B0502020202020204" pitchFamily="34" charset="0"/>
            </a:endParaRPr>
          </a:p>
          <a:p>
            <a:pPr algn="ctr">
              <a:defRPr/>
            </a:pPr>
            <a:r>
              <a:rPr lang="en-US" dirty="0" err="1">
                <a:latin typeface="Century Gothic" panose="020B0502020202020204" pitchFamily="34" charset="0"/>
              </a:rPr>
              <a:t>Certificada</a:t>
            </a:r>
            <a:r>
              <a:rPr lang="en-US" dirty="0">
                <a:latin typeface="Century Gothic" panose="020B0502020202020204" pitchFamily="34" charset="0"/>
              </a:rPr>
              <a:t> por The Council for Accreditation</a:t>
            </a:r>
          </a:p>
          <a:p>
            <a:pPr algn="ctr">
              <a:defRPr/>
            </a:pPr>
            <a:r>
              <a:rPr lang="en-US" dirty="0">
                <a:latin typeface="Century Gothic" panose="020B0502020202020204" pitchFamily="34" charset="0"/>
              </a:rPr>
              <a:t> in Occupational Hearing</a:t>
            </a:r>
            <a:endParaRPr lang="es-MX" dirty="0">
              <a:latin typeface="Century Gothic" panose="020B0502020202020204" pitchFamily="34" charset="0"/>
            </a:endParaRPr>
          </a:p>
          <a:p>
            <a:pPr algn="ctr">
              <a:defRPr/>
            </a:pPr>
            <a:r>
              <a:rPr lang="en-US" dirty="0">
                <a:latin typeface="Century Gothic" panose="020B0502020202020204" pitchFamily="34" charset="0"/>
              </a:rPr>
              <a:t> </a:t>
            </a:r>
            <a:r>
              <a:rPr lang="es-MX" dirty="0" err="1">
                <a:latin typeface="Century Gothic" panose="020B0502020202020204" pitchFamily="34" charset="0"/>
              </a:rPr>
              <a:t>Conservation's</a:t>
            </a:r>
            <a:r>
              <a:rPr lang="es-MX" dirty="0">
                <a:latin typeface="Century Gothic" panose="020B0502020202020204" pitchFamily="34" charset="0"/>
              </a:rPr>
              <a:t> (CAOHC) como Conservacionista Auditivo.</a:t>
            </a:r>
          </a:p>
          <a:p>
            <a:pPr algn="ctr">
              <a:defRPr/>
            </a:pPr>
            <a:r>
              <a:rPr lang="es-MX" dirty="0">
                <a:latin typeface="Century Gothic" panose="020B0502020202020204" pitchFamily="34" charset="0"/>
              </a:rPr>
              <a:t>Tel. 01 (442) 480 05 48 Ext. 116</a:t>
            </a:r>
          </a:p>
          <a:p>
            <a:pPr algn="ctr">
              <a:defRPr/>
            </a:pPr>
            <a:r>
              <a:rPr lang="es-MX" dirty="0">
                <a:latin typeface="Century Gothic" panose="020B0502020202020204" pitchFamily="34" charset="0"/>
              </a:rPr>
              <a:t>Cel.  (044) 442 131 1451</a:t>
            </a:r>
          </a:p>
          <a:p>
            <a:pPr algn="ctr">
              <a:defRPr/>
            </a:pPr>
            <a:r>
              <a:rPr lang="es-MX" u="sng" dirty="0">
                <a:latin typeface="Century Gothic" panose="020B0502020202020204" pitchFamily="34" charset="0"/>
                <a:hlinkClick r:id="rId2" action="ppaction://hlinkfile"/>
              </a:rPr>
              <a:t>www.medicaindustrial.com.mx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1832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1434840-45ED-E940-A5B6-5484EA78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495E168-DA5E-4888-8D8A-92B118324C14}" type="slidenum">
              <a:rPr lang="es-MX" noProof="0" smtClean="0"/>
              <a:t>48</a:t>
            </a:fld>
            <a:endParaRPr lang="es-MX" noProof="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90F3B2-1B58-9CB1-47D7-1036FFA51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62586"/>
            <a:ext cx="5032141" cy="1900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b="1" dirty="0">
                <a:solidFill>
                  <a:srgbClr val="592C81"/>
                </a:solidFill>
                <a:latin typeface="Calibri (Titulos)"/>
              </a:rPr>
              <a:t>Servicio Integral de Salud Ocupacional, contamos con  equipo humano e infraestructura propia al cuidado de la </a:t>
            </a:r>
            <a:r>
              <a:rPr lang="es-ES" sz="2400" b="1" dirty="0">
                <a:solidFill>
                  <a:srgbClr val="E1DE00"/>
                </a:solidFill>
                <a:latin typeface="Calibri (Titulos)"/>
              </a:rPr>
              <a:t>Salud</a:t>
            </a:r>
            <a:r>
              <a:rPr lang="es-ES" sz="2400" b="1" dirty="0">
                <a:latin typeface="Calibri Light" panose="020F0302020204030204" pitchFamily="34" charset="0"/>
              </a:rPr>
              <a:t> </a:t>
            </a:r>
            <a:r>
              <a:rPr lang="es-ES" sz="2400" b="1" dirty="0">
                <a:solidFill>
                  <a:srgbClr val="592C81"/>
                </a:solidFill>
                <a:latin typeface="Calibri (Titulos)"/>
              </a:rPr>
              <a:t>de sus colaboradores y familias.</a:t>
            </a:r>
            <a:endParaRPr lang="es-MX" sz="2400" b="1" dirty="0"/>
          </a:p>
        </p:txBody>
      </p:sp>
      <p:pic>
        <p:nvPicPr>
          <p:cNvPr id="6" name="Marcador de posición de imagen 6">
            <a:extLst>
              <a:ext uri="{FF2B5EF4-FFF2-40B4-BE49-F238E27FC236}">
                <a16:creationId xmlns:a16="http://schemas.microsoft.com/office/drawing/2014/main" id="{F72F388D-C068-449E-0079-77467D961C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44" r="20544"/>
          <a:stretch>
            <a:fillRect/>
          </a:stretch>
        </p:blipFill>
        <p:spPr>
          <a:xfrm>
            <a:off x="6321660" y="207828"/>
            <a:ext cx="5870340" cy="6809598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816499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DAB26C2-AB8C-515E-2514-A4AB8336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495E168-DA5E-4888-8D8A-92B118324C14}" type="slidenum">
              <a:rPr lang="es-MX" noProof="0" smtClean="0"/>
              <a:t>49</a:t>
            </a:fld>
            <a:endParaRPr lang="es-MX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BF601D-1D39-2F3F-87BD-143748AB9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465" y="324686"/>
            <a:ext cx="5569069" cy="297682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7D04987-68C1-D68B-D3DA-B15873B168A4}"/>
              </a:ext>
            </a:extLst>
          </p:cNvPr>
          <p:cNvSpPr txBox="1"/>
          <p:nvPr/>
        </p:nvSpPr>
        <p:spPr>
          <a:xfrm>
            <a:off x="1099965" y="4288030"/>
            <a:ext cx="99920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chemeClr val="accent1">
                    <a:lumMod val="75000"/>
                  </a:schemeClr>
                </a:solidFill>
              </a:rPr>
              <a:t>“Un trabajador sano, es un trabajador productivo y feliz”</a:t>
            </a:r>
          </a:p>
        </p:txBody>
      </p:sp>
    </p:spTree>
    <p:extLst>
      <p:ext uri="{BB962C8B-B14F-4D97-AF65-F5344CB8AC3E}">
        <p14:creationId xmlns:p14="http://schemas.microsoft.com/office/powerpoint/2010/main" val="10361245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7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7030A0"/>
      </a:accent1>
      <a:accent2>
        <a:srgbClr val="1D9AA1"/>
      </a:accent2>
      <a:accent3>
        <a:srgbClr val="D5DA3C"/>
      </a:accent3>
      <a:accent4>
        <a:srgbClr val="A0ACB2"/>
      </a:accent4>
      <a:accent5>
        <a:srgbClr val="7030A0"/>
      </a:accent5>
      <a:accent6>
        <a:srgbClr val="1D9AA1"/>
      </a:accent6>
      <a:hlink>
        <a:srgbClr val="92D050"/>
      </a:hlink>
      <a:folHlink>
        <a:srgbClr val="1D9AA1"/>
      </a:folHlink>
    </a:clrScheme>
    <a:fontScheme name="Custom 7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2000">
              <a:schemeClr val="accent1"/>
            </a:gs>
            <a:gs pos="100000">
              <a:schemeClr val="accent3"/>
            </a:gs>
          </a:gsLst>
          <a:lin ang="0" scaled="1"/>
          <a:tileRect/>
        </a:gra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_30741452_TF55923798.potx" id="{7FBD9E74-63D2-4B93-9483-748F2BDAFFE1}" vid="{274512BD-660F-44C4-86F1-D1792428CF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024DF7-0783-4549-86B7-A48B29FBA9C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750F309C-DE10-4641-9043-BB7E781AC4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393BED-762D-4FA3-96CF-866F426A04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vacaciones divertidas</Template>
  <TotalTime>9507</TotalTime>
  <Words>2079</Words>
  <Application>Microsoft Office PowerPoint</Application>
  <PresentationFormat>Panorámica</PresentationFormat>
  <Paragraphs>391</Paragraphs>
  <Slides>49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7" baseType="lpstr">
      <vt:lpstr>Arial</vt:lpstr>
      <vt:lpstr>Calibri</vt:lpstr>
      <vt:lpstr>Calibri (Titulos)</vt:lpstr>
      <vt:lpstr>Calibri Light</vt:lpstr>
      <vt:lpstr>Century Gothic</vt:lpstr>
      <vt:lpstr>Open Sans</vt:lpstr>
      <vt:lpstr>Wingdings</vt:lpstr>
      <vt:lpstr>Tema de Office</vt:lpstr>
      <vt:lpstr>Grupo  AMI Salud Responsable</vt:lpstr>
      <vt:lpstr>VALIANT DE MEXICO</vt:lpstr>
      <vt:lpstr>VALORACIÓN EXAMEN MÉDICO</vt:lpstr>
      <vt:lpstr>PIRAMIDE DE EDAD</vt:lpstr>
      <vt:lpstr>DISTRIBUCIÓN POR SEXO</vt:lpstr>
      <vt:lpstr>ANTECEDENTES HEREDO-FAMILIARES</vt:lpstr>
      <vt:lpstr>ANTECEDENTES HEREDO-FAMILIARES</vt:lpstr>
      <vt:lpstr>EJERCICIO &amp; ALIMENTACIÓN</vt:lpstr>
      <vt:lpstr>MÉTODO DE PLANIFICACIÓN FAMILIAR</vt:lpstr>
      <vt:lpstr>CIRCULACIÓN VENOSA</vt:lpstr>
      <vt:lpstr>PESO</vt:lpstr>
      <vt:lpstr>RECOMENDACIONES</vt:lpstr>
      <vt:lpstr>VALORACIÓN OFTALMOLÓGICA</vt:lpstr>
      <vt:lpstr>RECOMENDACIONES – Agudeza visual</vt:lpstr>
      <vt:lpstr>SALUD BUCAL</vt:lpstr>
      <vt:lpstr>VALORACIÓN DE PRESIÓN ARTERIAL</vt:lpstr>
      <vt:lpstr>RECOMENDACIONES – Presión arterial</vt:lpstr>
      <vt:lpstr>AUDIOMETRÍAS</vt:lpstr>
      <vt:lpstr>% Hipoacusia Bilateral Combina</vt:lpstr>
      <vt:lpstr>CASOS DE TRAUMA ACÚSTICO</vt:lpstr>
      <vt:lpstr>Presentación de PowerPoint</vt:lpstr>
      <vt:lpstr>RECOMENDACIONES – Audiometría</vt:lpstr>
      <vt:lpstr>ESPIROMETRÍAS</vt:lpstr>
      <vt:lpstr>TABAQUISMO</vt:lpstr>
      <vt:lpstr>RECOMENDACIONES</vt:lpstr>
      <vt:lpstr>ELECTROCARDIOGRAMAS</vt:lpstr>
      <vt:lpstr>RADIOGRAFÍA COLUMNA</vt:lpstr>
      <vt:lpstr>RADIOGRAFÍA COLUMNA</vt:lpstr>
      <vt:lpstr>RADIOGRAFÍA COLUMNA</vt:lpstr>
      <vt:lpstr>RECOMENDACIONES – Radiografías Columna</vt:lpstr>
      <vt:lpstr>RECOMENDACIONES – Radiografías Columna</vt:lpstr>
      <vt:lpstr>RADIOGRAFIAS TORAX </vt:lpstr>
      <vt:lpstr>RECOMENDACIONES – Radiografías Tórax</vt:lpstr>
      <vt:lpstr>LABORATORIOS-QUIMICA SANGUINEA</vt:lpstr>
      <vt:lpstr>Presentación de PowerPoint</vt:lpstr>
      <vt:lpstr>LABORATORIOS-COLESTEROL/TRIGLICERIDOS</vt:lpstr>
      <vt:lpstr>RECOMENDACIONES – Colesterol y Triglicéridos</vt:lpstr>
      <vt:lpstr>LABORATORIOS-QUIMICA SANGUINEA</vt:lpstr>
      <vt:lpstr>LABORATORIOS-BH</vt:lpstr>
      <vt:lpstr>RECOMENDACIONES – Hemoglobina</vt:lpstr>
      <vt:lpstr>LABORATORIOS-BH</vt:lpstr>
      <vt:lpstr>RECOMENDACIONES – Plaquetas</vt:lpstr>
      <vt:lpstr>EXAMEN GENERAL DE ORINA</vt:lpstr>
      <vt:lpstr>EXAMEN GENERAL DE ORINA</vt:lpstr>
      <vt:lpstr>EXAMEN GENERAL DE ORINA</vt:lpstr>
      <vt:lpstr>HEMOGLOBINA GLICOSILADA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 SALUD RESPONSABLE</dc:creator>
  <cp:lastModifiedBy>Medica Industrial</cp:lastModifiedBy>
  <cp:revision>47</cp:revision>
  <dcterms:created xsi:type="dcterms:W3CDTF">2024-12-16T18:36:04Z</dcterms:created>
  <dcterms:modified xsi:type="dcterms:W3CDTF">2025-12-29T21:38:40Z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