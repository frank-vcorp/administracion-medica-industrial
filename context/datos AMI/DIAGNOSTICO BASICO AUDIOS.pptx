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4" r:id="rId1"/>
    <p:sldMasterId id="2147483965" r:id="rId2"/>
  </p:sldMasterIdLst>
  <p:notesMasterIdLst>
    <p:notesMasterId r:id="rId10"/>
  </p:notesMasterIdLst>
  <p:handoutMasterIdLst>
    <p:handoutMasterId r:id="rId11"/>
  </p:handoutMasterIdLst>
  <p:sldIdLst>
    <p:sldId id="627" r:id="rId3"/>
    <p:sldId id="648" r:id="rId4"/>
    <p:sldId id="628" r:id="rId5"/>
    <p:sldId id="645" r:id="rId6"/>
    <p:sldId id="633" r:id="rId7"/>
    <p:sldId id="634" r:id="rId8"/>
    <p:sldId id="567" r:id="rId9"/>
  </p:sldIdLst>
  <p:sldSz cx="9144000" cy="6858000" type="screen4x3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02" autoAdjust="0"/>
    <p:restoredTop sz="95161"/>
  </p:normalViewPr>
  <p:slideViewPr>
    <p:cSldViewPr snapToGrid="0">
      <p:cViewPr varScale="1">
        <p:scale>
          <a:sx n="78" d="100"/>
          <a:sy n="78" d="100"/>
        </p:scale>
        <p:origin x="162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DD6DB940-3CFF-4075-9815-F0DE09B0BF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407A0F-1DB8-45B7-A237-E71C1E1276F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B2915-C598-4E7A-BE78-0543C34A960F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4FEC2AA-4404-4ACA-AFA2-9DAE32E1CD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AC7882-67A8-4A07-BACA-B802CED3602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E64823-BEF1-4701-98ED-F18BF95A764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32854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6587FE2B-CBF3-40AF-A0C5-6E3E0BDAA108}" type="datetimeFigureOut">
              <a:rPr lang="es-MX" smtClean="0"/>
              <a:t>23/03/2026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438275" y="1173163"/>
            <a:ext cx="42259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E5A36C2A-4E5E-4837-BFB2-7AF522D40B6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11069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dicaindustrial.com/" TargetMode="Externa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edicaindustrial.com/" TargetMode="Externa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30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622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226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67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168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50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932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135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4741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383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4789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 panose="020B0503030403020204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09194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CuadroTexto 6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56220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 panose="020B0503030403020204" pitchFamily="34" charset="0"/>
              </a:defRPr>
            </a:lvl1pPr>
          </a:lstStyle>
          <a:p>
            <a:pPr lvl="0"/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166908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 panose="020B0503030403020204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CuadroTexto 8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8916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 panose="020B0503030403020204" pitchFamily="34" charset="0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0009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yriad Pro" panose="020B0503030403020204" pitchFamily="34" charset="0"/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4176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80972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58629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0" name="CuadroTexto 9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3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6814395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3554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9" name="CuadroTexto 8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2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53964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with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6525" y="1981200"/>
            <a:ext cx="5395913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381000" y="1981200"/>
            <a:ext cx="2295525" cy="3429000"/>
          </a:xfrm>
        </p:spPr>
        <p:txBody>
          <a:bodyPr/>
          <a:lstStyle/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ALV_SECTION_TITLE"/>
          <p:cNvSpPr>
            <a:spLocks noGrp="1"/>
          </p:cNvSpPr>
          <p:nvPr>
            <p:ph type="title"/>
          </p:nvPr>
        </p:nvSpPr>
        <p:spPr>
          <a:xfrm>
            <a:off x="2814703" y="2662534"/>
            <a:ext cx="5872097" cy="9144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ALV_SECTION_SUBTITLE"/>
          <p:cNvSpPr>
            <a:spLocks noGrp="1"/>
          </p:cNvSpPr>
          <p:nvPr>
            <p:ph type="body" sz="quarter" idx="10"/>
          </p:nvPr>
        </p:nvSpPr>
        <p:spPr>
          <a:xfrm>
            <a:off x="2814704" y="3576638"/>
            <a:ext cx="5872096" cy="919162"/>
          </a:xfr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129835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hyperlink" Target="http://www.medicaindustrial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3845" y="365760"/>
            <a:ext cx="78867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828801"/>
            <a:ext cx="78867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5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63145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22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2900" y="6400869"/>
            <a:ext cx="9144001" cy="4572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977993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/>
          <p:cNvSpPr txBox="1"/>
          <p:nvPr userDrawn="1"/>
        </p:nvSpPr>
        <p:spPr>
          <a:xfrm>
            <a:off x="339634" y="6457593"/>
            <a:ext cx="84908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600" b="1" dirty="0">
                <a:solidFill>
                  <a:schemeClr val="bg1"/>
                </a:solidFill>
                <a:hlinkClick r:id="rId14"/>
              </a:rPr>
              <a:t>www.medicaindustrial.com</a:t>
            </a:r>
            <a:r>
              <a:rPr lang="es-MX" sz="1600" b="1" dirty="0">
                <a:solidFill>
                  <a:schemeClr val="bg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0509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6" r:id="rId1"/>
    <p:sldLayoutId id="2147483967" r:id="rId2"/>
    <p:sldLayoutId id="2147483968" r:id="rId3"/>
    <p:sldLayoutId id="2147483969" r:id="rId4"/>
    <p:sldLayoutId id="2147483970" r:id="rId5"/>
    <p:sldLayoutId id="2147483971" r:id="rId6"/>
    <p:sldLayoutId id="2147483972" r:id="rId7"/>
    <p:sldLayoutId id="2147483973" r:id="rId8"/>
    <p:sldLayoutId id="2147483974" r:id="rId9"/>
    <p:sldLayoutId id="2147483975" r:id="rId10"/>
    <p:sldLayoutId id="2147483976" r:id="rId11"/>
    <p:sldLayoutId id="2147483977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lang="en-US" sz="4800" kern="1200" spc="-50" baseline="0" dirty="0">
          <a:solidFill>
            <a:schemeClr val="tx1">
              <a:lumMod val="75000"/>
              <a:lumOff val="25000"/>
            </a:schemeClr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Myriad Pro" panose="020B0503030403020204" pitchFamily="34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/>
        </p:nvGraphicFramePr>
        <p:xfrm>
          <a:off x="425734" y="736972"/>
          <a:ext cx="4365270" cy="4336306"/>
        </p:xfrm>
        <a:graphic>
          <a:graphicData uri="http://schemas.openxmlformats.org/drawingml/2006/table">
            <a:tbl>
              <a:tblPr/>
              <a:tblGrid>
                <a:gridCol w="2425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4251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170936">
                <a:tc gridSpan="1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900" b="1" dirty="0">
                          <a:latin typeface="Calibri"/>
                          <a:ea typeface="Times New Roman"/>
                          <a:cs typeface="Times New Roman"/>
                        </a:rPr>
                        <a:t>Frecuencia en Hz</a:t>
                      </a:r>
                      <a:endParaRPr lang="es-ES" sz="9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5295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250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500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1000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2000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3000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4000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6000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8000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295">
                <a:tc rowSpan="25"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es-MX" sz="900" b="1">
                          <a:latin typeface="Arial"/>
                          <a:ea typeface="Times New Roman"/>
                          <a:cs typeface="Times New Roman"/>
                        </a:rPr>
                        <a:t>Intensidad en dB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-15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-10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-5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756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15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756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25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30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35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40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756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45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50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55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60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65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70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75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80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85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90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95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45295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100</a:t>
                      </a:r>
                      <a:endParaRPr lang="es-ES" sz="10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highlight>
                          <a:srgbClr val="000000"/>
                        </a:highlight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8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37392" marR="37392" marT="14957" marB="14957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</a:tbl>
          </a:graphicData>
        </a:graphic>
      </p:graphicFrame>
      <p:sp>
        <p:nvSpPr>
          <p:cNvPr id="69635" name="Rectangle 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MX" altLang="es-MX" sz="1200" b="1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PERDIDAS AUDITIVAS (HIPOACUSIAS)</a:t>
            </a:r>
            <a:endParaRPr lang="es-ES" altLang="es-MX" sz="110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s-ES" altLang="es-MX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69636" name="Rectangle 10"/>
          <p:cNvSpPr>
            <a:spLocks noChangeArrowheads="1"/>
          </p:cNvSpPr>
          <p:nvPr/>
        </p:nvSpPr>
        <p:spPr bwMode="auto">
          <a:xfrm>
            <a:off x="0" y="45720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br>
              <a:rPr lang="es-MX" altLang="es-MX" sz="1200" b="1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</a:br>
            <a:endParaRPr lang="es-MX" altLang="es-MX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grpSp>
        <p:nvGrpSpPr>
          <p:cNvPr id="69637" name="11 Grupo"/>
          <p:cNvGrpSpPr>
            <a:grpSpLocks/>
          </p:cNvGrpSpPr>
          <p:nvPr/>
        </p:nvGrpSpPr>
        <p:grpSpPr bwMode="auto">
          <a:xfrm>
            <a:off x="539750" y="3806825"/>
            <a:ext cx="1714500" cy="371475"/>
            <a:chOff x="2786050" y="4214818"/>
            <a:chExt cx="1714512" cy="371476"/>
          </a:xfrm>
        </p:grpSpPr>
        <p:sp>
          <p:nvSpPr>
            <p:cNvPr id="69650" name="AutoShape 2"/>
            <p:cNvSpPr>
              <a:spLocks noChangeArrowheads="1"/>
            </p:cNvSpPr>
            <p:nvPr/>
          </p:nvSpPr>
          <p:spPr bwMode="auto">
            <a:xfrm>
              <a:off x="2786050" y="4214818"/>
              <a:ext cx="1714512" cy="371476"/>
            </a:xfrm>
            <a:prstGeom prst="leftArrowCallout">
              <a:avLst>
                <a:gd name="adj1" fmla="val 25000"/>
                <a:gd name="adj2" fmla="val 25000"/>
                <a:gd name="adj3" fmla="val 116667"/>
                <a:gd name="adj4" fmla="val 6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s-MX" altLang="es-MX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9651" name="8 CuadroTexto"/>
            <p:cNvSpPr txBox="1">
              <a:spLocks noChangeArrowheads="1"/>
            </p:cNvSpPr>
            <p:nvPr/>
          </p:nvSpPr>
          <p:spPr bwMode="auto">
            <a:xfrm>
              <a:off x="3428992" y="4286256"/>
              <a:ext cx="100013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s-ES" altLang="es-MX" sz="800" b="1">
                  <a:solidFill>
                    <a:schemeClr val="tx1"/>
                  </a:solidFill>
                  <a:latin typeface="Arial" panose="020B0604020202020204" pitchFamily="34" charset="0"/>
                </a:rPr>
                <a:t>CONDUCTIVA</a:t>
              </a:r>
            </a:p>
          </p:txBody>
        </p:sp>
      </p:grpSp>
      <p:grpSp>
        <p:nvGrpSpPr>
          <p:cNvPr id="69638" name="10 Grupo"/>
          <p:cNvGrpSpPr>
            <a:grpSpLocks/>
          </p:cNvGrpSpPr>
          <p:nvPr/>
        </p:nvGrpSpPr>
        <p:grpSpPr bwMode="auto">
          <a:xfrm>
            <a:off x="2754313" y="3806825"/>
            <a:ext cx="2171700" cy="357188"/>
            <a:chOff x="4857752" y="4286256"/>
            <a:chExt cx="2171700" cy="357190"/>
          </a:xfrm>
        </p:grpSpPr>
        <p:sp>
          <p:nvSpPr>
            <p:cNvPr id="69648" name="AutoShape 1"/>
            <p:cNvSpPr>
              <a:spLocks noChangeArrowheads="1"/>
            </p:cNvSpPr>
            <p:nvPr/>
          </p:nvSpPr>
          <p:spPr bwMode="auto">
            <a:xfrm>
              <a:off x="4857752" y="4286256"/>
              <a:ext cx="2171700" cy="357190"/>
            </a:xfrm>
            <a:prstGeom prst="rightArrowCallout">
              <a:avLst>
                <a:gd name="adj1" fmla="val 25000"/>
                <a:gd name="adj2" fmla="val 25000"/>
                <a:gd name="adj3" fmla="val 158332"/>
                <a:gd name="adj4" fmla="val 6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s-MX" altLang="es-MX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9649" name="9 CuadroTexto"/>
            <p:cNvSpPr txBox="1">
              <a:spLocks noChangeArrowheads="1"/>
            </p:cNvSpPr>
            <p:nvPr/>
          </p:nvSpPr>
          <p:spPr bwMode="auto">
            <a:xfrm>
              <a:off x="4929190" y="4356564"/>
              <a:ext cx="13573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s-ES" altLang="es-MX" sz="800" b="1">
                  <a:solidFill>
                    <a:schemeClr val="tx1"/>
                  </a:solidFill>
                  <a:latin typeface="Arial" panose="020B0604020202020204" pitchFamily="34" charset="0"/>
                </a:rPr>
                <a:t>NEUROSENSORIAL</a:t>
              </a:r>
            </a:p>
          </p:txBody>
        </p:sp>
      </p:grpSp>
      <p:grpSp>
        <p:nvGrpSpPr>
          <p:cNvPr id="69639" name="Grupo 2"/>
          <p:cNvGrpSpPr>
            <a:grpSpLocks/>
          </p:cNvGrpSpPr>
          <p:nvPr/>
        </p:nvGrpSpPr>
        <p:grpSpPr bwMode="auto">
          <a:xfrm>
            <a:off x="3233738" y="1957388"/>
            <a:ext cx="1257300" cy="342900"/>
            <a:chOff x="4979199" y="2562225"/>
            <a:chExt cx="1257300" cy="342900"/>
          </a:xfrm>
        </p:grpSpPr>
        <p:sp>
          <p:nvSpPr>
            <p:cNvPr id="69646" name="AutoShape 4"/>
            <p:cNvSpPr>
              <a:spLocks noChangeArrowheads="1"/>
            </p:cNvSpPr>
            <p:nvPr/>
          </p:nvSpPr>
          <p:spPr bwMode="auto">
            <a:xfrm>
              <a:off x="4979199" y="2562225"/>
              <a:ext cx="1257300" cy="342900"/>
            </a:xfrm>
            <a:prstGeom prst="upArrowCallout">
              <a:avLst>
                <a:gd name="adj1" fmla="val 91667"/>
                <a:gd name="adj2" fmla="val 91667"/>
                <a:gd name="adj3" fmla="val 16667"/>
                <a:gd name="adj4" fmla="val 6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s-MX" altLang="es-MX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69647" name="12 CuadroTexto"/>
            <p:cNvSpPr txBox="1">
              <a:spLocks noChangeArrowheads="1"/>
            </p:cNvSpPr>
            <p:nvPr/>
          </p:nvSpPr>
          <p:spPr bwMode="auto">
            <a:xfrm>
              <a:off x="5214938" y="2643188"/>
              <a:ext cx="928687" cy="2619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es-ES" altLang="es-MX" sz="1100" b="1">
                  <a:solidFill>
                    <a:schemeClr val="tx1"/>
                  </a:solidFill>
                  <a:latin typeface="Arial" panose="020B0604020202020204" pitchFamily="34" charset="0"/>
                </a:rPr>
                <a:t>NORMAL</a:t>
              </a:r>
            </a:p>
          </p:txBody>
        </p:sp>
      </p:grpSp>
      <p:grpSp>
        <p:nvGrpSpPr>
          <p:cNvPr id="69640" name="Grupo 3"/>
          <p:cNvGrpSpPr>
            <a:grpSpLocks/>
          </p:cNvGrpSpPr>
          <p:nvPr/>
        </p:nvGrpSpPr>
        <p:grpSpPr bwMode="auto">
          <a:xfrm>
            <a:off x="3233738" y="2671763"/>
            <a:ext cx="1257300" cy="342900"/>
            <a:chOff x="5143500" y="3071813"/>
            <a:chExt cx="1257300" cy="342900"/>
          </a:xfrm>
        </p:grpSpPr>
        <p:sp>
          <p:nvSpPr>
            <p:cNvPr id="69644" name="AutoShape 3"/>
            <p:cNvSpPr>
              <a:spLocks noChangeArrowheads="1"/>
            </p:cNvSpPr>
            <p:nvPr/>
          </p:nvSpPr>
          <p:spPr bwMode="auto">
            <a:xfrm>
              <a:off x="5143500" y="3071813"/>
              <a:ext cx="1257300" cy="342900"/>
            </a:xfrm>
            <a:prstGeom prst="downArrowCallout">
              <a:avLst>
                <a:gd name="adj1" fmla="val 91667"/>
                <a:gd name="adj2" fmla="val 91667"/>
                <a:gd name="adj3" fmla="val 16667"/>
                <a:gd name="adj4" fmla="val 66667"/>
              </a:avLst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lnSpc>
                  <a:spcPct val="90000"/>
                </a:lnSpc>
                <a:spcBef>
                  <a:spcPts val="1200"/>
                </a:spcBef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900">
                  <a:solidFill>
                    <a:srgbClr val="595959"/>
                  </a:solidFill>
                  <a:latin typeface="Corbel" panose="020B050302020402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700">
                  <a:solidFill>
                    <a:srgbClr val="595959"/>
                  </a:solidFill>
                  <a:latin typeface="Corbel" panose="020B050302020402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500">
                  <a:solidFill>
                    <a:srgbClr val="595959"/>
                  </a:solidFill>
                  <a:latin typeface="Corbel" panose="020B050302020402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250"/>
                </a:spcBef>
                <a:spcAft>
                  <a:spcPts val="250"/>
                </a:spcAft>
                <a:buClr>
                  <a:schemeClr val="accent1"/>
                </a:buClr>
                <a:buFont typeface="Wingdings 2" panose="05020102010507070707" pitchFamily="18" charset="2"/>
                <a:buChar char=""/>
                <a:defRPr sz="1300">
                  <a:solidFill>
                    <a:srgbClr val="595959"/>
                  </a:solidFill>
                  <a:latin typeface="Corbel" panose="020B05030202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endParaRPr lang="es-MX" altLang="es-MX" sz="1800">
                <a:solidFill>
                  <a:schemeClr val="tx1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4" name="13 CuadroTexto"/>
            <p:cNvSpPr txBox="1"/>
            <p:nvPr/>
          </p:nvSpPr>
          <p:spPr>
            <a:xfrm>
              <a:off x="5214937" y="3071813"/>
              <a:ext cx="1071563" cy="2619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s-ES" sz="1050" b="1" dirty="0">
                  <a:latin typeface="Arial" charset="0"/>
                </a:rPr>
                <a:t>HIPOACUSIA</a:t>
              </a:r>
            </a:p>
          </p:txBody>
        </p:sp>
      </p:grpSp>
      <p:sp>
        <p:nvSpPr>
          <p:cNvPr id="69641" name="14 Marcador de número de diapositiva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941306B2-3FEF-4494-B055-4E62A5A0A703}" type="slidenum">
              <a:rPr lang="es-ES" altLang="es-MX" sz="1800" smtClean="0">
                <a:solidFill>
                  <a:srgbClr val="FFFFFF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s-ES" altLang="es-MX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69643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743" y="105569"/>
            <a:ext cx="4010025" cy="438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3BC50A9-A1F6-5C8E-0EB8-EF8D32DFD12F}"/>
              </a:ext>
            </a:extLst>
          </p:cNvPr>
          <p:cNvSpPr txBox="1"/>
          <p:nvPr/>
        </p:nvSpPr>
        <p:spPr>
          <a:xfrm>
            <a:off x="68826" y="5348748"/>
            <a:ext cx="3490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Audición Normal -20 </a:t>
            </a:r>
            <a:r>
              <a:rPr lang="es-MX" dirty="0" err="1"/>
              <a:t>db</a:t>
            </a:r>
            <a:r>
              <a:rPr lang="es-MX" dirty="0"/>
              <a:t> a 25 dB</a:t>
            </a:r>
          </a:p>
          <a:p>
            <a:r>
              <a:rPr lang="es-MX" dirty="0"/>
              <a:t>Hipoacusia 26 dB a 120 </a:t>
            </a:r>
            <a:r>
              <a:rPr lang="es-MX" dirty="0" err="1"/>
              <a:t>db</a:t>
            </a:r>
            <a:endParaRPr lang="es-MX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D546403-1D04-DD63-5C05-3408BEB52538}"/>
              </a:ext>
            </a:extLst>
          </p:cNvPr>
          <p:cNvSpPr txBox="1"/>
          <p:nvPr/>
        </p:nvSpPr>
        <p:spPr>
          <a:xfrm>
            <a:off x="4759987" y="4635023"/>
            <a:ext cx="436526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- Hipoacusia conductiva Frecuencias afectadas 250 Hz a 1000 Hz</a:t>
            </a:r>
          </a:p>
          <a:p>
            <a:r>
              <a:rPr lang="es-MX" dirty="0"/>
              <a:t>- Hipoacusia Neurosensorial 2000 a 8000 Hz</a:t>
            </a:r>
          </a:p>
          <a:p>
            <a:r>
              <a:rPr lang="es-MX" dirty="0"/>
              <a:t>- Hipoacusia Mixta cualquier frecuencia graves + frecuencias agudas</a:t>
            </a:r>
          </a:p>
        </p:txBody>
      </p:sp>
    </p:spTree>
    <p:extLst>
      <p:ext uri="{BB962C8B-B14F-4D97-AF65-F5344CB8AC3E}">
        <p14:creationId xmlns:p14="http://schemas.microsoft.com/office/powerpoint/2010/main" val="110103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2960" y="286605"/>
            <a:ext cx="7543800" cy="669360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Diagnóstico Nosológico 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93470" y="1829041"/>
            <a:ext cx="2216730" cy="736282"/>
          </a:xfrm>
        </p:spPr>
        <p:txBody>
          <a:bodyPr/>
          <a:lstStyle/>
          <a:p>
            <a:pPr algn="ctr"/>
            <a:r>
              <a:rPr lang="es-MX" b="1" dirty="0">
                <a:solidFill>
                  <a:srgbClr val="009999"/>
                </a:solidFill>
              </a:rPr>
              <a:t>Hipoacusia conductiva</a:t>
            </a:r>
            <a:endParaRPr lang="en-US" b="1" dirty="0">
              <a:solidFill>
                <a:srgbClr val="009999"/>
              </a:solidFill>
            </a:endParaRP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393469" y="2582334"/>
            <a:ext cx="2238895" cy="3286760"/>
          </a:xfrm>
        </p:spPr>
        <p:txBody>
          <a:bodyPr/>
          <a:lstStyle/>
          <a:p>
            <a:r>
              <a:rPr lang="es-MX" dirty="0"/>
              <a:t>Caída del umbral en frecuencias graves  250, 500 y/o 1000 Hz. </a:t>
            </a:r>
            <a:endParaRPr lang="en-U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5674820" y="1846052"/>
            <a:ext cx="2691939" cy="736282"/>
          </a:xfrm>
        </p:spPr>
        <p:txBody>
          <a:bodyPr/>
          <a:lstStyle/>
          <a:p>
            <a:pPr algn="ctr"/>
            <a:r>
              <a:rPr lang="es-MX" b="1" dirty="0">
                <a:solidFill>
                  <a:srgbClr val="009999"/>
                </a:solidFill>
              </a:rPr>
              <a:t>HIPOACUSIA MIXTA</a:t>
            </a:r>
            <a:endParaRPr lang="en-US" b="1" dirty="0">
              <a:solidFill>
                <a:srgbClr val="009999"/>
              </a:solidFill>
            </a:endParaRP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5674820" y="2582334"/>
            <a:ext cx="2691940" cy="3286760"/>
          </a:xfrm>
        </p:spPr>
        <p:txBody>
          <a:bodyPr/>
          <a:lstStyle/>
          <a:p>
            <a:r>
              <a:rPr lang="es-MX" dirty="0" err="1"/>
              <a:t>Caida</a:t>
            </a:r>
            <a:r>
              <a:rPr lang="es-MX" dirty="0"/>
              <a:t> del umbral tanto en frecuencias graves, medias y agudas</a:t>
            </a:r>
            <a:endParaRPr lang="en-US" dirty="0"/>
          </a:p>
        </p:txBody>
      </p:sp>
      <p:sp>
        <p:nvSpPr>
          <p:cNvPr id="7" name="Marcador de texto 2"/>
          <p:cNvSpPr txBox="1">
            <a:spLocks/>
          </p:cNvSpPr>
          <p:nvPr/>
        </p:nvSpPr>
        <p:spPr>
          <a:xfrm>
            <a:off x="3006435" y="1863063"/>
            <a:ext cx="2161309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000" b="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8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1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b="1" dirty="0">
                <a:solidFill>
                  <a:srgbClr val="009999"/>
                </a:solidFill>
              </a:rPr>
              <a:t>Hipoacusia NEUROSENSORIAL</a:t>
            </a:r>
            <a:endParaRPr lang="en-US" b="1" dirty="0">
              <a:solidFill>
                <a:srgbClr val="009999"/>
              </a:solidFill>
            </a:endParaRPr>
          </a:p>
        </p:txBody>
      </p:sp>
      <p:sp>
        <p:nvSpPr>
          <p:cNvPr id="8" name="Marcador de contenido 3"/>
          <p:cNvSpPr txBox="1">
            <a:spLocks/>
          </p:cNvSpPr>
          <p:nvPr/>
        </p:nvSpPr>
        <p:spPr>
          <a:xfrm>
            <a:off x="2881752" y="2565323"/>
            <a:ext cx="2238895" cy="32867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dirty="0"/>
              <a:t>Caída del umbral en frecuencias medias y agudas  2000, 3000, 4000, 6000 y/o 8000 Hz.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5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1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363446"/>
              </p:ext>
            </p:extLst>
          </p:nvPr>
        </p:nvGraphicFramePr>
        <p:xfrm>
          <a:off x="1241260" y="671080"/>
          <a:ext cx="6072228" cy="5643587"/>
        </p:xfrm>
        <a:graphic>
          <a:graphicData uri="http://schemas.openxmlformats.org/drawingml/2006/table">
            <a:tbl>
              <a:tblPr/>
              <a:tblGrid>
                <a:gridCol w="337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37346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</a:tblGrid>
              <a:tr h="205198">
                <a:tc gridSpan="18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 b="1" dirty="0">
                          <a:latin typeface="Calibri"/>
                          <a:ea typeface="Times New Roman"/>
                          <a:cs typeface="Times New Roman"/>
                        </a:rPr>
                        <a:t>Frecuencia en Hz</a:t>
                      </a:r>
                      <a:endParaRPr lang="es-ES" sz="300" b="1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3014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250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500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1000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2000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3000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4000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6000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300">
                          <a:latin typeface="Arial"/>
                          <a:ea typeface="Times New Roman"/>
                          <a:cs typeface="Times New Roman"/>
                        </a:rPr>
                        <a:t>8000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3014">
                <a:tc rowSpan="27">
                  <a:txBody>
                    <a:bodyPr/>
                    <a:lstStyle/>
                    <a:p>
                      <a:pPr marL="71755" marR="71755" algn="ctr">
                        <a:spcAft>
                          <a:spcPts val="0"/>
                        </a:spcAft>
                      </a:pPr>
                      <a:r>
                        <a:rPr lang="es-MX" sz="300" b="1">
                          <a:latin typeface="Arial"/>
                          <a:ea typeface="Times New Roman"/>
                          <a:cs typeface="Times New Roman"/>
                        </a:rPr>
                        <a:t>Intensidad en dB</a:t>
                      </a:r>
                      <a:endParaRPr lang="es-ES" sz="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-20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-15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-10</a:t>
                      </a:r>
                      <a:endParaRPr lang="es-E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-5</a:t>
                      </a:r>
                      <a:endParaRPr lang="es-E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0</a:t>
                      </a:r>
                      <a:endParaRPr lang="es-E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92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s-ES"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>
                          <a:latin typeface="Arial"/>
                          <a:ea typeface="Times New Roman"/>
                          <a:cs typeface="Times New Roman"/>
                        </a:rPr>
                        <a:t>10</a:t>
                      </a:r>
                      <a:endParaRPr lang="es-ES" sz="9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15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20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25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5543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30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35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40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45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0592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50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55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60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65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70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750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75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80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85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90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95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22750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100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ES" sz="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800" dirty="0">
                          <a:latin typeface="Arial"/>
                          <a:ea typeface="Times New Roman"/>
                          <a:cs typeface="Times New Roman"/>
                        </a:rPr>
                        <a:t>105</a:t>
                      </a:r>
                      <a:endParaRPr lang="es-ES" sz="9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83014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MX" sz="700" dirty="0">
                          <a:latin typeface="Arial"/>
                          <a:ea typeface="Times New Roman"/>
                          <a:cs typeface="Times New Roman"/>
                        </a:rPr>
                        <a:t>110</a:t>
                      </a:r>
                      <a:endParaRPr lang="es-ES" sz="8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s-MX" sz="300" dirty="0">
                        <a:solidFill>
                          <a:srgbClr val="FFFFFF"/>
                        </a:solidFill>
                        <a:latin typeface="Arial"/>
                        <a:ea typeface="Times New Roman"/>
                        <a:cs typeface="Times New Roman"/>
                      </a:endParaRPr>
                    </a:p>
                  </a:txBody>
                  <a:tcPr marL="13951" marR="13951" marT="5580" marB="558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</a:tbl>
          </a:graphicData>
        </a:graphic>
      </p:graphicFrame>
      <p:sp>
        <p:nvSpPr>
          <p:cNvPr id="70659" name="Rectangle 6"/>
          <p:cNvSpPr>
            <a:spLocks noChangeArrowheads="1"/>
          </p:cNvSpPr>
          <p:nvPr/>
        </p:nvSpPr>
        <p:spPr bwMode="auto">
          <a:xfrm>
            <a:off x="0" y="0"/>
            <a:ext cx="757713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bIns="0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MX" altLang="es-MX" sz="12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Criterio de gravedad propuesto por el Bureau International d’audiophonologie. Corresponde con el señalado en Katz J.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MX" altLang="es-MX" sz="12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Handbook of clinical Audiology. </a:t>
            </a:r>
            <a:r>
              <a:rPr lang="en-US" altLang="es-MX" sz="12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Williams and Wilkins 1985.</a:t>
            </a:r>
            <a:endParaRPr lang="es-ES" altLang="es-MX" sz="1100">
              <a:solidFill>
                <a:schemeClr val="tx1"/>
              </a:solidFill>
              <a:latin typeface="Calibri" panose="020F050202020403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s-ES" altLang="es-MX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0660" name="Rectangle 7"/>
          <p:cNvSpPr>
            <a:spLocks noChangeArrowheads="1"/>
          </p:cNvSpPr>
          <p:nvPr/>
        </p:nvSpPr>
        <p:spPr bwMode="auto">
          <a:xfrm>
            <a:off x="0" y="428625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s-MX" altLang="es-MX" sz="1800">
              <a:solidFill>
                <a:schemeClr val="tx1"/>
              </a:solidFill>
              <a:latin typeface="Calibri" panose="020F0502020204030204" pitchFamily="34" charset="0"/>
            </a:endParaRPr>
          </a:p>
        </p:txBody>
      </p:sp>
      <p:sp>
        <p:nvSpPr>
          <p:cNvPr id="70661" name="9 CuadroTexto"/>
          <p:cNvSpPr txBox="1">
            <a:spLocks noChangeArrowheads="1"/>
          </p:cNvSpPr>
          <p:nvPr/>
        </p:nvSpPr>
        <p:spPr bwMode="auto">
          <a:xfrm>
            <a:off x="7858125" y="1857375"/>
            <a:ext cx="1000125" cy="307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ES" altLang="es-MX" sz="1400">
                <a:solidFill>
                  <a:schemeClr val="tx1"/>
                </a:solidFill>
                <a:latin typeface="Arial" panose="020B0604020202020204" pitchFamily="34" charset="0"/>
              </a:rPr>
              <a:t>NORMAL</a:t>
            </a:r>
          </a:p>
        </p:txBody>
      </p:sp>
      <p:sp>
        <p:nvSpPr>
          <p:cNvPr id="70662" name="10 CuadroTexto"/>
          <p:cNvSpPr txBox="1">
            <a:spLocks noChangeArrowheads="1"/>
          </p:cNvSpPr>
          <p:nvPr/>
        </p:nvSpPr>
        <p:spPr bwMode="auto">
          <a:xfrm>
            <a:off x="7858125" y="3071813"/>
            <a:ext cx="1000125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ES" altLang="es-MX" sz="1400" dirty="0">
                <a:solidFill>
                  <a:schemeClr val="tx1"/>
                </a:solidFill>
                <a:latin typeface="Arial" panose="020B0604020202020204" pitchFamily="34" charset="0"/>
              </a:rPr>
              <a:t>HIPOACUSIA LEVE</a:t>
            </a:r>
          </a:p>
        </p:txBody>
      </p:sp>
      <p:sp>
        <p:nvSpPr>
          <p:cNvPr id="70663" name="11 CuadroTexto"/>
          <p:cNvSpPr txBox="1">
            <a:spLocks noChangeArrowheads="1"/>
          </p:cNvSpPr>
          <p:nvPr/>
        </p:nvSpPr>
        <p:spPr bwMode="auto">
          <a:xfrm>
            <a:off x="125122" y="3809539"/>
            <a:ext cx="1285875" cy="73866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ES" altLang="es-MX" sz="1400" dirty="0">
                <a:solidFill>
                  <a:schemeClr val="tx1"/>
                </a:solidFill>
                <a:latin typeface="Arial" panose="020B0604020202020204" pitchFamily="34" charset="0"/>
              </a:rPr>
              <a:t>HIPOACUSIA MEDIA / MODERADA</a:t>
            </a:r>
          </a:p>
        </p:txBody>
      </p:sp>
      <p:sp>
        <p:nvSpPr>
          <p:cNvPr id="70664" name="12 CuadroTexto"/>
          <p:cNvSpPr txBox="1">
            <a:spLocks noChangeArrowheads="1"/>
          </p:cNvSpPr>
          <p:nvPr/>
        </p:nvSpPr>
        <p:spPr bwMode="auto">
          <a:xfrm>
            <a:off x="7425344" y="4929188"/>
            <a:ext cx="1787481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ES" altLang="es-MX" sz="1400" dirty="0">
                <a:solidFill>
                  <a:schemeClr val="tx1"/>
                </a:solidFill>
                <a:latin typeface="Arial" panose="020B0604020202020204" pitchFamily="34" charset="0"/>
              </a:rPr>
              <a:t>HIPOACUSIA GRAVE / SEVERA</a:t>
            </a:r>
          </a:p>
        </p:txBody>
      </p:sp>
      <p:sp>
        <p:nvSpPr>
          <p:cNvPr id="70665" name="13 CuadroTexto"/>
          <p:cNvSpPr txBox="1">
            <a:spLocks noChangeArrowheads="1"/>
          </p:cNvSpPr>
          <p:nvPr/>
        </p:nvSpPr>
        <p:spPr bwMode="auto">
          <a:xfrm>
            <a:off x="125121" y="5663700"/>
            <a:ext cx="1285875" cy="52322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s-ES" altLang="es-MX" sz="1400" dirty="0">
                <a:solidFill>
                  <a:schemeClr val="tx1"/>
                </a:solidFill>
                <a:latin typeface="Arial" panose="020B0604020202020204" pitchFamily="34" charset="0"/>
              </a:rPr>
              <a:t>HIPOACUSIA PROFUNDA</a:t>
            </a:r>
          </a:p>
        </p:txBody>
      </p:sp>
      <p:sp>
        <p:nvSpPr>
          <p:cNvPr id="70666" name="9 Marcador de número de diapositiva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00F3260A-5951-49DB-AD82-757EB23F0069}" type="slidenum">
              <a:rPr lang="es-ES" altLang="es-MX" sz="1800" smtClean="0">
                <a:solidFill>
                  <a:srgbClr val="FFFFFF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s-ES" altLang="es-MX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04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Título"/>
          <p:cNvSpPr>
            <a:spLocks noGrp="1"/>
          </p:cNvSpPr>
          <p:nvPr>
            <p:ph type="title"/>
          </p:nvPr>
        </p:nvSpPr>
        <p:spPr>
          <a:xfrm>
            <a:off x="822958" y="0"/>
            <a:ext cx="7543801" cy="1028700"/>
          </a:xfrm>
        </p:spPr>
        <p:txBody>
          <a:bodyPr>
            <a:normAutofit/>
          </a:bodyPr>
          <a:lstStyle/>
          <a:p>
            <a:pPr algn="ctr"/>
            <a:r>
              <a:rPr lang="es-MX" altLang="es-MX" sz="2800" b="1" dirty="0">
                <a:solidFill>
                  <a:srgbClr val="7030A0"/>
                </a:solidFill>
              </a:rPr>
              <a:t>Características </a:t>
            </a:r>
            <a:r>
              <a:rPr lang="es-MX" altLang="es-MX" sz="2800" b="1" dirty="0" err="1">
                <a:solidFill>
                  <a:srgbClr val="7030A0"/>
                </a:solidFill>
              </a:rPr>
              <a:t>audiométricas</a:t>
            </a:r>
            <a:r>
              <a:rPr lang="es-MX" altLang="es-MX" sz="2800" b="1" dirty="0">
                <a:solidFill>
                  <a:srgbClr val="7030A0"/>
                </a:solidFill>
              </a:rPr>
              <a:t> del Trauma Acústico crónico por exposición a ruido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  <a:defRPr/>
            </a:pPr>
            <a:r>
              <a:rPr lang="es-MX" sz="3600" dirty="0"/>
              <a:t> Afecta en etapas tempranas Frecuencias muy selectivas (3000 o 4000 Hz)</a:t>
            </a:r>
          </a:p>
          <a:p>
            <a:pPr algn="just">
              <a:buFont typeface="Wingdings" panose="05000000000000000000" pitchFamily="2" charset="2"/>
              <a:buChar char="ü"/>
              <a:defRPr/>
            </a:pPr>
            <a:r>
              <a:rPr lang="es-MX" sz="3600" dirty="0"/>
              <a:t> La lesión GENERALMENTE es bilateral </a:t>
            </a:r>
          </a:p>
          <a:p>
            <a:pPr algn="just">
              <a:buFont typeface="Wingdings" panose="05000000000000000000" pitchFamily="2" charset="2"/>
              <a:buChar char="ü"/>
              <a:defRPr/>
            </a:pPr>
            <a:r>
              <a:rPr lang="es-MX" sz="3600" dirty="0"/>
              <a:t> Lesión en espejo</a:t>
            </a:r>
          </a:p>
          <a:p>
            <a:pPr algn="just">
              <a:buFont typeface="Wingdings" panose="05000000000000000000" pitchFamily="2" charset="2"/>
              <a:buChar char="ü"/>
              <a:defRPr/>
            </a:pPr>
            <a:endParaRPr lang="es-MX" sz="3600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DF3B504-D852-48DF-BF57-D22D41852A0C}" type="slidenum">
              <a:rPr lang="es-ES" altLang="es-MX">
                <a:solidFill>
                  <a:srgbClr val="000000"/>
                </a:solidFill>
                <a:latin typeface="Arial Black" panose="020B0A04020102020204" pitchFamily="34" charset="0"/>
              </a:rPr>
              <a:pPr eaLnBrk="1" hangingPunct="1"/>
              <a:t>4</a:t>
            </a:fld>
            <a:endParaRPr lang="es-ES" altLang="es-MX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6268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s-MX" altLang="es-MX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5779" name="Object 1"/>
          <p:cNvGraphicFramePr>
            <a:graphicFrameLocks noChangeAspect="1"/>
          </p:cNvGraphicFramePr>
          <p:nvPr/>
        </p:nvGraphicFramePr>
        <p:xfrm>
          <a:off x="0" y="214313"/>
          <a:ext cx="8939213" cy="6142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4962525" imgH="3409950" progId="Excel.Chart.8">
                  <p:embed/>
                </p:oleObj>
              </mc:Choice>
              <mc:Fallback>
                <p:oleObj name="Gráfico" r:id="rId2" imgW="4962525" imgH="3409950" progId="Excel.Chart.8">
                  <p:embed/>
                  <p:pic>
                    <p:nvPicPr>
                      <p:cNvPr id="75779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14313"/>
                        <a:ext cx="8939213" cy="6142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s-MX" altLang="es-MX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5781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F40F9B13-1DC6-4576-8A84-05974ED9A588}" type="slidenum">
              <a:rPr lang="es-ES" altLang="es-MX" sz="1800" smtClean="0">
                <a:solidFill>
                  <a:srgbClr val="FFFFFF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s-ES" altLang="es-MX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310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s-MX" altLang="es-MX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6803" name="Object 1"/>
          <p:cNvGraphicFramePr>
            <a:graphicFrameLocks noChangeAspect="1"/>
          </p:cNvGraphicFramePr>
          <p:nvPr/>
        </p:nvGraphicFramePr>
        <p:xfrm>
          <a:off x="250825" y="74613"/>
          <a:ext cx="5473700" cy="3930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áfico" r:id="rId2" imgW="4962525" imgH="3409950" progId="Excel.Chart.8">
                  <p:embed/>
                </p:oleObj>
              </mc:Choice>
              <mc:Fallback>
                <p:oleObj name="Gráfico" r:id="rId2" imgW="4962525" imgH="3409950" progId="Excel.Chart.8">
                  <p:embed/>
                  <p:pic>
                    <p:nvPicPr>
                      <p:cNvPr id="76803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825" y="74613"/>
                        <a:ext cx="5473700" cy="3930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04" name="3 Marcador de número de diapositiva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anose="05020102010507070707" pitchFamily="18" charset="2"/>
              <a:buChar char=""/>
              <a:defRPr sz="1900">
                <a:solidFill>
                  <a:srgbClr val="595959"/>
                </a:solidFill>
                <a:latin typeface="Corbel" panose="020B050302020402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700">
                <a:solidFill>
                  <a:srgbClr val="595959"/>
                </a:solidFill>
                <a:latin typeface="Corbel" panose="020B050302020402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500">
                <a:solidFill>
                  <a:srgbClr val="595959"/>
                </a:solidFill>
                <a:latin typeface="Corbel" panose="020B050302020402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anose="05020102010507070707" pitchFamily="18" charset="2"/>
              <a:buChar char=""/>
              <a:defRPr sz="1300">
                <a:solidFill>
                  <a:srgbClr val="595959"/>
                </a:solidFill>
                <a:latin typeface="Corbel" panose="020B0503020204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fld id="{8270154A-681C-44FD-9699-CAE817FF4914}" type="slidenum">
              <a:rPr lang="es-ES" altLang="es-MX" sz="1800" smtClean="0">
                <a:solidFill>
                  <a:srgbClr val="FFFFFF"/>
                </a:solidFill>
                <a:latin typeface="Arial" panose="020B060402020202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s-ES" altLang="es-MX" sz="18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pic>
        <p:nvPicPr>
          <p:cNvPr id="76805" name="Imagen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3500438"/>
            <a:ext cx="5364162" cy="3221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5858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02B11C-58AB-47D5-874F-D19B6D10D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9" y="289487"/>
            <a:ext cx="3139513" cy="3139513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49F1D4A-02CD-41C0-924B-2FE2DD06CABC}"/>
              </a:ext>
            </a:extLst>
          </p:cNvPr>
          <p:cNvSpPr txBox="1"/>
          <p:nvPr/>
        </p:nvSpPr>
        <p:spPr>
          <a:xfrm>
            <a:off x="1914416" y="4515730"/>
            <a:ext cx="539957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solidFill>
                  <a:srgbClr val="009999"/>
                </a:solidFill>
              </a:rPr>
              <a:t>DRA. ERIKA RODRIGUEZ LOPEZ</a:t>
            </a:r>
          </a:p>
          <a:p>
            <a:pPr algn="ctr"/>
            <a:r>
              <a:rPr lang="es-MX" b="1" dirty="0">
                <a:solidFill>
                  <a:srgbClr val="009999"/>
                </a:solidFill>
              </a:rPr>
              <a:t>GERENTE JR. </a:t>
            </a:r>
            <a:r>
              <a:rPr lang="es-MX" b="1">
                <a:solidFill>
                  <a:srgbClr val="009999"/>
                </a:solidFill>
              </a:rPr>
              <a:t>DE </a:t>
            </a:r>
            <a:r>
              <a:rPr lang="es-MX" b="1" dirty="0">
                <a:solidFill>
                  <a:srgbClr val="009999"/>
                </a:solidFill>
              </a:rPr>
              <a:t>SALUD OCUPACIONAL Y ERGONOMIA</a:t>
            </a:r>
          </a:p>
          <a:p>
            <a:pPr algn="ctr"/>
            <a:r>
              <a:rPr lang="es-MX" b="1" dirty="0">
                <a:solidFill>
                  <a:srgbClr val="7030A0"/>
                </a:solidFill>
              </a:rPr>
              <a:t>ADMINISTRACION MÉDICA INDUSTRIAL SA DE CV</a:t>
            </a:r>
          </a:p>
          <a:p>
            <a:pPr algn="ctr"/>
            <a:r>
              <a:rPr lang="es-MX" b="1" dirty="0">
                <a:solidFill>
                  <a:srgbClr val="7030A0"/>
                </a:solidFill>
              </a:rPr>
              <a:t>TEL. (442) 2255267</a:t>
            </a:r>
          </a:p>
          <a:p>
            <a:pPr algn="ctr"/>
            <a:r>
              <a:rPr lang="es-MX" b="1" u="sng" dirty="0">
                <a:solidFill>
                  <a:schemeClr val="tx2">
                    <a:lumMod val="75000"/>
                  </a:schemeClr>
                </a:solidFill>
              </a:rPr>
              <a:t>erodriguez@medicaindustrial.com</a:t>
            </a:r>
          </a:p>
          <a:p>
            <a:pPr algn="ctr"/>
            <a:endParaRPr lang="es-MX" b="1" dirty="0"/>
          </a:p>
        </p:txBody>
      </p:sp>
      <p:sp>
        <p:nvSpPr>
          <p:cNvPr id="2" name="Rectángulo 1"/>
          <p:cNvSpPr/>
          <p:nvPr/>
        </p:nvSpPr>
        <p:spPr>
          <a:xfrm>
            <a:off x="2328204" y="1678817"/>
            <a:ext cx="4572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MX" sz="4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Gracias!</a:t>
            </a:r>
            <a:br>
              <a:rPr lang="es-MX" sz="4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016898368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trospección">
  <a:themeElements>
    <a:clrScheme name="Personalizado 8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000000"/>
      </a:accent1>
      <a:accent2>
        <a:srgbClr val="009999"/>
      </a:accent2>
      <a:accent3>
        <a:srgbClr val="5D007E"/>
      </a:accent3>
      <a:accent4>
        <a:srgbClr val="009999"/>
      </a:accent4>
      <a:accent5>
        <a:srgbClr val="5D007E"/>
      </a:accent5>
      <a:accent6>
        <a:srgbClr val="009999"/>
      </a:accent6>
      <a:hlink>
        <a:srgbClr val="464646"/>
      </a:hlink>
      <a:folHlink>
        <a:srgbClr val="FFFFFF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TM02892315[[fn=Whisp]]</Template>
  <TotalTime>4933</TotalTime>
  <Words>306</Words>
  <Application>Microsoft Office PowerPoint</Application>
  <PresentationFormat>Presentación en pantalla (4:3)</PresentationFormat>
  <Paragraphs>112</Paragraphs>
  <Slides>7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8" baseType="lpstr">
      <vt:lpstr>Arial</vt:lpstr>
      <vt:lpstr>Arial Black</vt:lpstr>
      <vt:lpstr>Calibri</vt:lpstr>
      <vt:lpstr>Calibri Light</vt:lpstr>
      <vt:lpstr>Myriad Pro</vt:lpstr>
      <vt:lpstr>Times New Roman</vt:lpstr>
      <vt:lpstr>Wingdings</vt:lpstr>
      <vt:lpstr>Wingdings 2</vt:lpstr>
      <vt:lpstr>HDOfficeLightV0</vt:lpstr>
      <vt:lpstr>Retrospección</vt:lpstr>
      <vt:lpstr>Gráfico</vt:lpstr>
      <vt:lpstr>Presentación de PowerPoint</vt:lpstr>
      <vt:lpstr>Diagnóstico Nosológico </vt:lpstr>
      <vt:lpstr>Presentación de PowerPoint</vt:lpstr>
      <vt:lpstr>Características audiométricas del Trauma Acústico crónico por exposición a ruido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Leticia</dc:creator>
  <cp:lastModifiedBy>AMI SALUD RESPONSABLE</cp:lastModifiedBy>
  <cp:revision>123</cp:revision>
  <cp:lastPrinted>2018-03-22T17:52:04Z</cp:lastPrinted>
  <dcterms:created xsi:type="dcterms:W3CDTF">2016-11-15T20:20:03Z</dcterms:created>
  <dcterms:modified xsi:type="dcterms:W3CDTF">2026-03-23T20:55:20Z</dcterms:modified>
</cp:coreProperties>
</file>